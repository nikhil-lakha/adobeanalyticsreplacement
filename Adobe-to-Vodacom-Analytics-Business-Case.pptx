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50" d="100"/>
          <a:sy n="50" d="100"/>
        </p:scale>
        <p:origin x="1260"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Lead with the commercial tension: approximately R250k per month. Let the chart animate. Then explain that AWS is not only a cost move—it creates a reusable behavioural data asset with direct access and flexible reporting.</a:t>
            </a:r>
          </a:p>
          <a:p>
            <a:endParaRPr/>
          </a:p>
          <a:p>
            <a:r>
              <a:t>[Sources]</a:t>
            </a:r>
          </a:p>
          <a:p>
            <a:r>
              <a:t>- User-provided “Pasted markdown.md”, 20 Aug 2026.</a:t>
            </a:r>
          </a:p>
          <a:p>
            <a:r>
              <a:t>- User-confirmed Adobe Analytics baseline: approximately R250,000 per month.</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production architecture. The base design uses Kinesis Data Firehose without Kinesis Data Streams because Phase 1 does not require independent real-time consumers. Firehose buffers, optionally transforms and delivers events to the raw S3 zone; Glue transforms them into curated Parquet datasets and maintains the Data Catalog for Athena and downstream analytics.</a:t>
            </a:r>
          </a:p>
          <a:p>
            <a:endParaRPr/>
          </a:p>
          <a:p>
            <a:r>
              <a:t>[Sources]</a:t>
            </a:r>
          </a:p>
          <a:p>
            <a:r>
              <a:t>- User-provided “Digital Analytics Data Ingestion Architecture.png”, 24 Aug 2026.</a:t>
            </a:r>
          </a:p>
          <a:p>
            <a:r>
              <a:t>[/Sources]</a:t>
            </a:r>
          </a:p>
          <a:p>
            <a:endParaRPr/>
          </a:p>
          <a:p>
            <a:r>
              <a:t>[Sources]</a:t>
            </a:r>
          </a:p>
          <a:p>
            <a:r>
              <a:t>- User-provided “Pasted markdown.md”, 20 Aug 2026.</a:t>
            </a:r>
          </a:p>
          <a:p>
            <a:r>
              <a:t>- User-confirmed Adobe Analytics baseline: approximately R250,000 per month.</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transparent. The new model increases control and reuse, but the team must own engineering, operations, governance and capability parity. Recommend a controlled pilot—not a big-bang replacement.</a:t>
            </a:r>
          </a:p>
          <a:p>
            <a:endParaRPr/>
          </a:p>
          <a:p>
            <a:r>
              <a:t>[Sources]</a:t>
            </a:r>
          </a:p>
          <a:p>
            <a:r>
              <a:t>- User-provided “Pasted markdown.md”, 20 Aug 2026.</a:t>
            </a:r>
          </a:p>
          <a:p>
            <a:r>
              <a:t>- User-confirmed Adobe Analytics baseline: approximately R250,000 per month.</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the AWS amounts as business-case hurdles, not forecasts. Base should demonstrate roughly a 90% reduction; stress should remain at least 50% below Adobe. Final approval needs a signed workload model.</a:t>
            </a:r>
          </a:p>
          <a:p>
            <a:endParaRPr/>
          </a:p>
          <a:p>
            <a:r>
              <a:t>[Sources]</a:t>
            </a:r>
          </a:p>
          <a:p>
            <a:r>
              <a:t>- User-provided “Pasted markdown.md”, 20 Aug 2026.</a:t>
            </a:r>
          </a:p>
          <a:p>
            <a:r>
              <a:t>- User-confirmed Adobe Analytics baseline: approximately R250,000 per month.</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migration remains reversible until the evidence is strong. Pilot one journey, run Adobe and AWS in parallel, reconcile key metrics, then scale journey by journey. Adobe exits only after sign-off.</a:t>
            </a:r>
          </a:p>
          <a:p>
            <a:endParaRPr/>
          </a:p>
          <a:p>
            <a:r>
              <a:t>[Sources]</a:t>
            </a:r>
          </a:p>
          <a:p>
            <a:r>
              <a:t>- User-provided “Pasted markdown.md”, 20 Aug 2026.</a:t>
            </a:r>
          </a:p>
          <a:p>
            <a:r>
              <a:t>- User-confirmed Adobe Analytics baseline: approximately R250,000 per month.</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62FCDEB-2921-EA01-294B-205749B783CF}"/>
              </a:ext>
            </a:extLst>
          </p:cNvPr>
          <p:cNvSpPr txBox="1"/>
          <p:nvPr userDrawn="1">
            <p:extLst>
              <p:ext uri="{1162E1C5-73C7-4A58-AE30-91384D911F3F}">
                <p184:classification xmlns:p184="http://schemas.microsoft.com/office/powerpoint/2018/4/main" val="ftr"/>
              </p:ext>
            </p:extLst>
          </p:nvPr>
        </p:nvSpPr>
        <p:spPr>
          <a:xfrm>
            <a:off x="63500" y="6687820"/>
            <a:ext cx="454025" cy="106680"/>
          </a:xfrm>
          <a:prstGeom prst="rect">
            <a:avLst/>
          </a:prstGeom>
        </p:spPr>
        <p:txBody>
          <a:bodyPr horzOverflow="overflow" lIns="0" tIns="0" rIns="0" bIns="0">
            <a:spAutoFit/>
          </a:bodyPr>
          <a:lstStyle/>
          <a:p>
            <a:pPr algn="l"/>
            <a:r>
              <a:rPr lang="en-ZA" sz="700">
                <a:solidFill>
                  <a:srgbClr val="000000">
                    <a:alpha val="50000"/>
                  </a:srgbClr>
                </a:solidFill>
                <a:latin typeface="Aptos" panose="020B0004020202020204" pitchFamily="34" charset="0"/>
              </a:rPr>
              <a:t>C2 General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B0C"/>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4F6C5C66-A30A-4899-A2E5-BE8D4882D164}"/>
              </a:ext>
            </a:extLst>
          </p:cNvPr>
          <p:cNvSpPr>
            <a:spLocks noGrp="1"/>
          </p:cNvSpPr>
          <p:nvPr/>
        </p:nvSpPr>
        <p:spPr>
          <a:xfrm>
            <a:off x="0" y="0"/>
            <a:ext cx="171450" cy="6858000"/>
          </a:xfrm>
          <a:prstGeom prst="rect">
            <a:avLst/>
          </a:prstGeom>
          <a:solidFill>
            <a:srgbClr val="E60000"/>
          </a:solidFill>
          <a:ln w="0">
            <a:noFill/>
            <a:prstDash val="solid"/>
          </a:ln>
        </p:spPr>
        <p:txBody>
          <a:bodyPr/>
          <a:lstStyle/>
          <a:p>
            <a:endParaRPr lang="en-ZA"/>
          </a:p>
        </p:txBody>
      </p:sp>
      <p:sp>
        <p:nvSpPr>
          <p:cNvPr id="2" name="Rectangle 1">
            <a:extLst>
              <a:ext uri="{FF2B5EF4-FFF2-40B4-BE49-F238E27FC236}">
                <a16:creationId xmlns:a16="http://schemas.microsoft.com/office/drawing/2014/main" id="{03C4E251-7F66-482F-8687-0D2FB4480B65}"/>
              </a:ext>
            </a:extLst>
          </p:cNvPr>
          <p:cNvSpPr>
            <a:spLocks noGrp="1"/>
          </p:cNvSpPr>
          <p:nvPr/>
        </p:nvSpPr>
        <p:spPr>
          <a:xfrm>
            <a:off x="361950" y="361950"/>
            <a:ext cx="11239500" cy="19050"/>
          </a:xfrm>
          <a:prstGeom prst="rect">
            <a:avLst/>
          </a:prstGeom>
          <a:solidFill>
            <a:srgbClr val="292929"/>
          </a:solidFill>
          <a:ln w="0">
            <a:noFill/>
            <a:prstDash val="solid"/>
          </a:ln>
        </p:spPr>
        <p:txBody>
          <a:bodyPr/>
          <a:lstStyle/>
          <a:p>
            <a:endParaRPr lang="en-ZA"/>
          </a:p>
        </p:txBody>
      </p:sp>
      <p:sp>
        <p:nvSpPr>
          <p:cNvPr id="3" name="Rectangle: Rounded Corners 2">
            <a:extLst>
              <a:ext uri="{FF2B5EF4-FFF2-40B4-BE49-F238E27FC236}">
                <a16:creationId xmlns:a16="http://schemas.microsoft.com/office/drawing/2014/main" id="{39D4188C-74D5-4CF2-89FD-ACAA32487797}"/>
              </a:ext>
            </a:extLst>
          </p:cNvPr>
          <p:cNvSpPr>
            <a:spLocks noGrp="1"/>
          </p:cNvSpPr>
          <p:nvPr/>
        </p:nvSpPr>
        <p:spPr>
          <a:xfrm>
            <a:off x="628650" y="552450"/>
            <a:ext cx="1428750" cy="285750"/>
          </a:xfrm>
          <a:prstGeom prst="roundRect">
            <a:avLst>
              <a:gd name="adj" fmla="val 40000"/>
            </a:avLst>
          </a:prstGeom>
          <a:solidFill>
            <a:srgbClr val="E60000"/>
          </a:solidFill>
          <a:ln w="0">
            <a:noFill/>
            <a:prstDash val="solid"/>
          </a:ln>
        </p:spPr>
        <p:txBody>
          <a:bodyPr/>
          <a:lstStyle/>
          <a:p>
            <a:endParaRPr lang="en-ZA"/>
          </a:p>
        </p:txBody>
      </p:sp>
      <p:sp>
        <p:nvSpPr>
          <p:cNvPr id="4" name="Rectangle 3">
            <a:extLst>
              <a:ext uri="{FF2B5EF4-FFF2-40B4-BE49-F238E27FC236}">
                <a16:creationId xmlns:a16="http://schemas.microsoft.com/office/drawing/2014/main" id="{890CC962-34B3-4A46-A600-8088FE874479}"/>
              </a:ext>
            </a:extLst>
          </p:cNvPr>
          <p:cNvSpPr>
            <a:spLocks noGrp="1"/>
          </p:cNvSpPr>
          <p:nvPr/>
        </p:nvSpPr>
        <p:spPr>
          <a:xfrm>
            <a:off x="628650" y="552450"/>
            <a:ext cx="1428750" cy="285750"/>
          </a:xfrm>
          <a:prstGeom prst="rect">
            <a:avLst/>
          </a:prstGeom>
          <a:noFill/>
          <a:ln w="0">
            <a:noFill/>
            <a:prstDash val="solid"/>
          </a:ln>
        </p:spPr>
        <p:txBody>
          <a:bodyPr anchor="ctr"/>
          <a:lstStyle/>
          <a:p>
            <a:pPr algn="ctr">
              <a:defRPr sz="975" b="1">
                <a:solidFill>
                  <a:srgbClr val="FFFFFF"/>
                </a:solidFill>
              </a:defRPr>
            </a:pPr>
            <a:r>
              <a:rPr sz="975" b="1">
                <a:solidFill>
                  <a:srgbClr val="FFFFFF"/>
                </a:solidFill>
              </a:rPr>
              <a:t>THE DECISION</a:t>
            </a:r>
          </a:p>
        </p:txBody>
      </p:sp>
      <p:sp>
        <p:nvSpPr>
          <p:cNvPr id="5" name="Rectangle 4">
            <a:extLst>
              <a:ext uri="{FF2B5EF4-FFF2-40B4-BE49-F238E27FC236}">
                <a16:creationId xmlns:a16="http://schemas.microsoft.com/office/drawing/2014/main" id="{558C0AE7-FC89-46F7-BADC-9DF9528E5FA5}"/>
              </a:ext>
            </a:extLst>
          </p:cNvPr>
          <p:cNvSpPr>
            <a:spLocks noGrp="1"/>
          </p:cNvSpPr>
          <p:nvPr/>
        </p:nvSpPr>
        <p:spPr>
          <a:xfrm>
            <a:off x="628650" y="990600"/>
            <a:ext cx="5095875" cy="1428750"/>
          </a:xfrm>
          <a:prstGeom prst="rect">
            <a:avLst/>
          </a:prstGeom>
          <a:noFill/>
          <a:ln w="0">
            <a:noFill/>
            <a:prstDash val="solid"/>
          </a:ln>
        </p:spPr>
        <p:txBody>
          <a:bodyPr anchor="ctr"/>
          <a:lstStyle/>
          <a:p>
            <a:pPr algn="l">
              <a:defRPr sz="3225" b="1">
                <a:solidFill>
                  <a:srgbClr val="FFFFFF"/>
                </a:solidFill>
              </a:defRPr>
            </a:pPr>
            <a:r>
              <a:rPr sz="3225" b="1">
                <a:solidFill>
                  <a:srgbClr val="FFFFFF"/>
                </a:solidFill>
              </a:rPr>
              <a:t>We pay for access.</a:t>
            </a:r>
          </a:p>
          <a:p>
            <a:pPr algn="l">
              <a:defRPr sz="3225" b="1">
                <a:solidFill>
                  <a:srgbClr val="FFFFFF"/>
                </a:solidFill>
              </a:defRPr>
            </a:pPr>
            <a:r>
              <a:rPr sz="3225" b="1">
                <a:solidFill>
                  <a:srgbClr val="FFFFFF"/>
                </a:solidFill>
              </a:rPr>
              <a:t>AWS lets us own the capability.</a:t>
            </a:r>
          </a:p>
        </p:txBody>
      </p:sp>
      <p:sp>
        <p:nvSpPr>
          <p:cNvPr id="6" name="Rectangle 5">
            <a:extLst>
              <a:ext uri="{FF2B5EF4-FFF2-40B4-BE49-F238E27FC236}">
                <a16:creationId xmlns:a16="http://schemas.microsoft.com/office/drawing/2014/main" id="{49C03017-619C-4C34-BC4D-1BAE1ABB0198}"/>
              </a:ext>
            </a:extLst>
          </p:cNvPr>
          <p:cNvSpPr>
            <a:spLocks noGrp="1"/>
          </p:cNvSpPr>
          <p:nvPr/>
        </p:nvSpPr>
        <p:spPr>
          <a:xfrm>
            <a:off x="628650" y="2714625"/>
            <a:ext cx="2857500" cy="714375"/>
          </a:xfrm>
          <a:prstGeom prst="rect">
            <a:avLst/>
          </a:prstGeom>
          <a:noFill/>
          <a:ln w="0">
            <a:noFill/>
            <a:prstDash val="solid"/>
          </a:ln>
        </p:spPr>
        <p:txBody>
          <a:bodyPr anchor="ctr"/>
          <a:lstStyle/>
          <a:p>
            <a:pPr algn="l">
              <a:defRPr sz="4350" b="1">
                <a:solidFill>
                  <a:srgbClr val="E60000"/>
                </a:solidFill>
              </a:defRPr>
            </a:pPr>
            <a:r>
              <a:rPr sz="4350" b="1">
                <a:solidFill>
                  <a:srgbClr val="E60000"/>
                </a:solidFill>
              </a:rPr>
              <a:t>~R250k</a:t>
            </a:r>
          </a:p>
        </p:txBody>
      </p:sp>
      <p:sp>
        <p:nvSpPr>
          <p:cNvPr id="7" name="Rectangle 6">
            <a:extLst>
              <a:ext uri="{FF2B5EF4-FFF2-40B4-BE49-F238E27FC236}">
                <a16:creationId xmlns:a16="http://schemas.microsoft.com/office/drawing/2014/main" id="{AC173BC2-6C65-4266-9BF0-344CD6F2734B}"/>
              </a:ext>
            </a:extLst>
          </p:cNvPr>
          <p:cNvSpPr>
            <a:spLocks noGrp="1"/>
          </p:cNvSpPr>
          <p:nvPr/>
        </p:nvSpPr>
        <p:spPr>
          <a:xfrm>
            <a:off x="666750" y="3390900"/>
            <a:ext cx="1809750" cy="266700"/>
          </a:xfrm>
          <a:prstGeom prst="rect">
            <a:avLst/>
          </a:prstGeom>
          <a:noFill/>
          <a:ln w="0">
            <a:noFill/>
            <a:prstDash val="solid"/>
          </a:ln>
        </p:spPr>
        <p:txBody>
          <a:bodyPr anchor="ctr"/>
          <a:lstStyle/>
          <a:p>
            <a:pPr algn="l">
              <a:defRPr sz="1275" b="1">
                <a:solidFill>
                  <a:srgbClr val="B7B4B2"/>
                </a:solidFill>
              </a:defRPr>
            </a:pPr>
            <a:r>
              <a:rPr sz="1275" b="1">
                <a:solidFill>
                  <a:srgbClr val="B7B4B2"/>
                </a:solidFill>
              </a:rPr>
              <a:t>PER MONTH</a:t>
            </a:r>
          </a:p>
        </p:txBody>
      </p:sp>
      <p:sp>
        <p:nvSpPr>
          <p:cNvPr id="8" name="Rectangle 7">
            <a:extLst>
              <a:ext uri="{FF2B5EF4-FFF2-40B4-BE49-F238E27FC236}">
                <a16:creationId xmlns:a16="http://schemas.microsoft.com/office/drawing/2014/main" id="{24421BF1-72F4-41CC-9D94-972B2EA82026}"/>
              </a:ext>
            </a:extLst>
          </p:cNvPr>
          <p:cNvSpPr>
            <a:spLocks noGrp="1"/>
          </p:cNvSpPr>
          <p:nvPr/>
        </p:nvSpPr>
        <p:spPr>
          <a:xfrm>
            <a:off x="647700" y="3943350"/>
            <a:ext cx="333375" cy="247650"/>
          </a:xfrm>
          <a:prstGeom prst="rect">
            <a:avLst/>
          </a:prstGeom>
          <a:noFill/>
          <a:ln w="0">
            <a:noFill/>
            <a:prstDash val="solid"/>
          </a:ln>
        </p:spPr>
        <p:txBody>
          <a:bodyPr anchor="ctr"/>
          <a:lstStyle/>
          <a:p>
            <a:pPr algn="l">
              <a:defRPr sz="1125" b="1">
                <a:solidFill>
                  <a:srgbClr val="E60000"/>
                </a:solidFill>
              </a:defRPr>
            </a:pPr>
            <a:r>
              <a:rPr sz="1125" b="1">
                <a:solidFill>
                  <a:srgbClr val="E60000"/>
                </a:solidFill>
              </a:rPr>
              <a:t>01</a:t>
            </a:r>
          </a:p>
        </p:txBody>
      </p:sp>
      <p:sp>
        <p:nvSpPr>
          <p:cNvPr id="9" name="Rectangle 8">
            <a:extLst>
              <a:ext uri="{FF2B5EF4-FFF2-40B4-BE49-F238E27FC236}">
                <a16:creationId xmlns:a16="http://schemas.microsoft.com/office/drawing/2014/main" id="{43EBC688-ED8C-4DA4-9394-11AB98F091B9}"/>
              </a:ext>
            </a:extLst>
          </p:cNvPr>
          <p:cNvSpPr>
            <a:spLocks noGrp="1"/>
          </p:cNvSpPr>
          <p:nvPr/>
        </p:nvSpPr>
        <p:spPr>
          <a:xfrm>
            <a:off x="1104900" y="3943350"/>
            <a:ext cx="3714750" cy="247650"/>
          </a:xfrm>
          <a:prstGeom prst="rect">
            <a:avLst/>
          </a:prstGeom>
          <a:noFill/>
          <a:ln w="0">
            <a:noFill/>
            <a:prstDash val="solid"/>
          </a:ln>
        </p:spPr>
        <p:txBody>
          <a:bodyPr anchor="ctr"/>
          <a:lstStyle/>
          <a:p>
            <a:pPr algn="l">
              <a:defRPr sz="1425" b="1">
                <a:solidFill>
                  <a:srgbClr val="FFFFFF"/>
                </a:solidFill>
              </a:defRPr>
            </a:pPr>
            <a:r>
              <a:rPr sz="1425" b="1">
                <a:solidFill>
                  <a:srgbClr val="FFFFFF"/>
                </a:solidFill>
              </a:rPr>
              <a:t>High recurring platform cost</a:t>
            </a:r>
          </a:p>
        </p:txBody>
      </p:sp>
      <p:sp>
        <p:nvSpPr>
          <p:cNvPr id="10" name="Rectangle 9">
            <a:extLst>
              <a:ext uri="{FF2B5EF4-FFF2-40B4-BE49-F238E27FC236}">
                <a16:creationId xmlns:a16="http://schemas.microsoft.com/office/drawing/2014/main" id="{9D4BAEEB-DFA3-40A2-AD24-91685525058C}"/>
              </a:ext>
            </a:extLst>
          </p:cNvPr>
          <p:cNvSpPr>
            <a:spLocks noGrp="1"/>
          </p:cNvSpPr>
          <p:nvPr/>
        </p:nvSpPr>
        <p:spPr>
          <a:xfrm>
            <a:off x="647700" y="4305300"/>
            <a:ext cx="4000500" cy="9525"/>
          </a:xfrm>
          <a:prstGeom prst="rect">
            <a:avLst/>
          </a:prstGeom>
          <a:solidFill>
            <a:srgbClr val="323232"/>
          </a:solidFill>
          <a:ln w="0">
            <a:noFill/>
            <a:prstDash val="solid"/>
          </a:ln>
        </p:spPr>
        <p:txBody>
          <a:bodyPr/>
          <a:lstStyle/>
          <a:p>
            <a:endParaRPr lang="en-ZA"/>
          </a:p>
        </p:txBody>
      </p:sp>
      <p:sp>
        <p:nvSpPr>
          <p:cNvPr id="11" name="Rectangle 10">
            <a:extLst>
              <a:ext uri="{FF2B5EF4-FFF2-40B4-BE49-F238E27FC236}">
                <a16:creationId xmlns:a16="http://schemas.microsoft.com/office/drawing/2014/main" id="{D5C0D87D-3F02-42CB-8796-815897E03206}"/>
              </a:ext>
            </a:extLst>
          </p:cNvPr>
          <p:cNvSpPr>
            <a:spLocks noGrp="1"/>
          </p:cNvSpPr>
          <p:nvPr/>
        </p:nvSpPr>
        <p:spPr>
          <a:xfrm>
            <a:off x="647700" y="4486275"/>
            <a:ext cx="333375" cy="247650"/>
          </a:xfrm>
          <a:prstGeom prst="rect">
            <a:avLst/>
          </a:prstGeom>
          <a:noFill/>
          <a:ln w="0">
            <a:noFill/>
            <a:prstDash val="solid"/>
          </a:ln>
        </p:spPr>
        <p:txBody>
          <a:bodyPr anchor="ctr"/>
          <a:lstStyle/>
          <a:p>
            <a:pPr algn="l">
              <a:defRPr sz="1125" b="1">
                <a:solidFill>
                  <a:srgbClr val="E60000"/>
                </a:solidFill>
              </a:defRPr>
            </a:pPr>
            <a:r>
              <a:rPr sz="1125" b="1">
                <a:solidFill>
                  <a:srgbClr val="E60000"/>
                </a:solidFill>
              </a:rPr>
              <a:t>02</a:t>
            </a:r>
          </a:p>
        </p:txBody>
      </p:sp>
      <p:sp>
        <p:nvSpPr>
          <p:cNvPr id="12" name="Rectangle 11">
            <a:extLst>
              <a:ext uri="{FF2B5EF4-FFF2-40B4-BE49-F238E27FC236}">
                <a16:creationId xmlns:a16="http://schemas.microsoft.com/office/drawing/2014/main" id="{5F1D9A09-6FDF-4103-84C8-78C162370AFC}"/>
              </a:ext>
            </a:extLst>
          </p:cNvPr>
          <p:cNvSpPr>
            <a:spLocks noGrp="1"/>
          </p:cNvSpPr>
          <p:nvPr/>
        </p:nvSpPr>
        <p:spPr>
          <a:xfrm>
            <a:off x="1104900" y="4486275"/>
            <a:ext cx="3714750" cy="247650"/>
          </a:xfrm>
          <a:prstGeom prst="rect">
            <a:avLst/>
          </a:prstGeom>
          <a:noFill/>
          <a:ln w="0">
            <a:noFill/>
            <a:prstDash val="solid"/>
          </a:ln>
        </p:spPr>
        <p:txBody>
          <a:bodyPr anchor="ctr"/>
          <a:lstStyle/>
          <a:p>
            <a:pPr algn="l">
              <a:defRPr sz="1425" b="1">
                <a:solidFill>
                  <a:srgbClr val="FFFFFF"/>
                </a:solidFill>
              </a:defRPr>
            </a:pPr>
            <a:r>
              <a:rPr sz="1425" b="1">
                <a:solidFill>
                  <a:srgbClr val="FFFFFF"/>
                </a:solidFill>
              </a:rPr>
              <a:t>Limited dashboard flexibility</a:t>
            </a:r>
          </a:p>
        </p:txBody>
      </p:sp>
      <p:sp>
        <p:nvSpPr>
          <p:cNvPr id="13" name="Rectangle 12">
            <a:extLst>
              <a:ext uri="{FF2B5EF4-FFF2-40B4-BE49-F238E27FC236}">
                <a16:creationId xmlns:a16="http://schemas.microsoft.com/office/drawing/2014/main" id="{0A2AFD35-4910-4CEC-850C-A48896C65578}"/>
              </a:ext>
            </a:extLst>
          </p:cNvPr>
          <p:cNvSpPr>
            <a:spLocks noGrp="1"/>
          </p:cNvSpPr>
          <p:nvPr/>
        </p:nvSpPr>
        <p:spPr>
          <a:xfrm>
            <a:off x="647700" y="4848225"/>
            <a:ext cx="4000500" cy="9525"/>
          </a:xfrm>
          <a:prstGeom prst="rect">
            <a:avLst/>
          </a:prstGeom>
          <a:solidFill>
            <a:srgbClr val="323232"/>
          </a:solidFill>
          <a:ln w="0">
            <a:noFill/>
            <a:prstDash val="solid"/>
          </a:ln>
        </p:spPr>
        <p:txBody>
          <a:bodyPr/>
          <a:lstStyle/>
          <a:p>
            <a:endParaRPr lang="en-ZA"/>
          </a:p>
        </p:txBody>
      </p:sp>
      <p:sp>
        <p:nvSpPr>
          <p:cNvPr id="14" name="Rectangle 13">
            <a:extLst>
              <a:ext uri="{FF2B5EF4-FFF2-40B4-BE49-F238E27FC236}">
                <a16:creationId xmlns:a16="http://schemas.microsoft.com/office/drawing/2014/main" id="{B93C9E6B-9E74-405F-89B2-9549EFE17897}"/>
              </a:ext>
            </a:extLst>
          </p:cNvPr>
          <p:cNvSpPr>
            <a:spLocks noGrp="1"/>
          </p:cNvSpPr>
          <p:nvPr/>
        </p:nvSpPr>
        <p:spPr>
          <a:xfrm>
            <a:off x="647700" y="5029200"/>
            <a:ext cx="333375" cy="247650"/>
          </a:xfrm>
          <a:prstGeom prst="rect">
            <a:avLst/>
          </a:prstGeom>
          <a:noFill/>
          <a:ln w="0">
            <a:noFill/>
            <a:prstDash val="solid"/>
          </a:ln>
        </p:spPr>
        <p:txBody>
          <a:bodyPr anchor="ctr"/>
          <a:lstStyle/>
          <a:p>
            <a:pPr algn="l">
              <a:defRPr sz="1125" b="1">
                <a:solidFill>
                  <a:srgbClr val="E60000"/>
                </a:solidFill>
              </a:defRPr>
            </a:pPr>
            <a:r>
              <a:rPr sz="1125" b="1">
                <a:solidFill>
                  <a:srgbClr val="E60000"/>
                </a:solidFill>
              </a:rPr>
              <a:t>03</a:t>
            </a:r>
          </a:p>
        </p:txBody>
      </p:sp>
      <p:sp>
        <p:nvSpPr>
          <p:cNvPr id="15" name="Rectangle 14">
            <a:extLst>
              <a:ext uri="{FF2B5EF4-FFF2-40B4-BE49-F238E27FC236}">
                <a16:creationId xmlns:a16="http://schemas.microsoft.com/office/drawing/2014/main" id="{A3A1470D-CC12-4CC2-AA27-D5096D312E63}"/>
              </a:ext>
            </a:extLst>
          </p:cNvPr>
          <p:cNvSpPr>
            <a:spLocks noGrp="1"/>
          </p:cNvSpPr>
          <p:nvPr/>
        </p:nvSpPr>
        <p:spPr>
          <a:xfrm>
            <a:off x="1104900" y="5029200"/>
            <a:ext cx="3714750" cy="247650"/>
          </a:xfrm>
          <a:prstGeom prst="rect">
            <a:avLst/>
          </a:prstGeom>
          <a:noFill/>
          <a:ln w="0">
            <a:noFill/>
            <a:prstDash val="solid"/>
          </a:ln>
        </p:spPr>
        <p:txBody>
          <a:bodyPr anchor="ctr"/>
          <a:lstStyle/>
          <a:p>
            <a:pPr algn="l">
              <a:defRPr sz="1425" b="1">
                <a:solidFill>
                  <a:srgbClr val="FFFFFF"/>
                </a:solidFill>
              </a:defRPr>
            </a:pPr>
            <a:r>
              <a:rPr sz="1425" b="1">
                <a:solidFill>
                  <a:srgbClr val="FFFFFF"/>
                </a:solidFill>
              </a:rPr>
              <a:t>Restricted SQL + Python access</a:t>
            </a:r>
          </a:p>
        </p:txBody>
      </p:sp>
      <p:sp>
        <p:nvSpPr>
          <p:cNvPr id="16" name="Rectangle 15">
            <a:extLst>
              <a:ext uri="{FF2B5EF4-FFF2-40B4-BE49-F238E27FC236}">
                <a16:creationId xmlns:a16="http://schemas.microsoft.com/office/drawing/2014/main" id="{327961CA-4A62-4708-858F-B3AC65F0C17A}"/>
              </a:ext>
            </a:extLst>
          </p:cNvPr>
          <p:cNvSpPr>
            <a:spLocks noGrp="1"/>
          </p:cNvSpPr>
          <p:nvPr/>
        </p:nvSpPr>
        <p:spPr>
          <a:xfrm>
            <a:off x="647700" y="5391150"/>
            <a:ext cx="4000500" cy="9525"/>
          </a:xfrm>
          <a:prstGeom prst="rect">
            <a:avLst/>
          </a:prstGeom>
          <a:solidFill>
            <a:srgbClr val="323232"/>
          </a:solidFill>
          <a:ln w="0">
            <a:noFill/>
            <a:prstDash val="solid"/>
          </a:ln>
        </p:spPr>
        <p:txBody>
          <a:bodyPr/>
          <a:lstStyle/>
          <a:p>
            <a:endParaRPr lang="en-ZA"/>
          </a:p>
        </p:txBody>
      </p:sp>
      <p:pic>
        <p:nvPicPr>
          <p:cNvPr id="38" name="Picture 37"/>
          <p:cNvPicPr>
            <a:picLocks noChangeAspect="1"/>
          </p:cNvPicPr>
          <p:nvPr/>
        </p:nvPicPr>
        <p:blipFill>
          <a:blip r:embed="rId3"/>
          <a:stretch/>
        </p:blipFill>
        <p:spPr>
          <a:xfrm>
            <a:off x="5953125" y="1050131"/>
            <a:ext cx="5429250" cy="4071938"/>
          </a:xfrm>
          <a:prstGeom prst="rect">
            <a:avLst/>
          </a:prstGeom>
        </p:spPr>
      </p:pic>
      <p:sp>
        <p:nvSpPr>
          <p:cNvPr id="18" name="Rectangle 17">
            <a:extLst>
              <a:ext uri="{FF2B5EF4-FFF2-40B4-BE49-F238E27FC236}">
                <a16:creationId xmlns:a16="http://schemas.microsoft.com/office/drawing/2014/main" id="{64215A68-5EB4-47CD-8F13-971BDC65D845}"/>
              </a:ext>
            </a:extLst>
          </p:cNvPr>
          <p:cNvSpPr>
            <a:spLocks noGrp="1"/>
          </p:cNvSpPr>
          <p:nvPr/>
        </p:nvSpPr>
        <p:spPr>
          <a:xfrm>
            <a:off x="6191250" y="5362575"/>
            <a:ext cx="1428750" cy="238125"/>
          </a:xfrm>
          <a:prstGeom prst="rect">
            <a:avLst/>
          </a:prstGeom>
          <a:noFill/>
          <a:ln w="0">
            <a:noFill/>
            <a:prstDash val="solid"/>
          </a:ln>
        </p:spPr>
        <p:txBody>
          <a:bodyPr anchor="ctr"/>
          <a:lstStyle/>
          <a:p>
            <a:pPr algn="l">
              <a:defRPr sz="1050" b="1">
                <a:solidFill>
                  <a:srgbClr val="E60000"/>
                </a:solidFill>
              </a:defRPr>
            </a:pPr>
            <a:r>
              <a:rPr sz="1050" b="1">
                <a:solidFill>
                  <a:srgbClr val="E60000"/>
                </a:solidFill>
              </a:rPr>
              <a:t>THE UNLOCK</a:t>
            </a:r>
          </a:p>
        </p:txBody>
      </p:sp>
      <p:sp>
        <p:nvSpPr>
          <p:cNvPr id="19" name="Rectangle 18">
            <a:extLst>
              <a:ext uri="{FF2B5EF4-FFF2-40B4-BE49-F238E27FC236}">
                <a16:creationId xmlns:a16="http://schemas.microsoft.com/office/drawing/2014/main" id="{BB84628F-16F2-43DA-A9F4-D0DE53C5B5BB}"/>
              </a:ext>
            </a:extLst>
          </p:cNvPr>
          <p:cNvSpPr>
            <a:spLocks noGrp="1"/>
          </p:cNvSpPr>
          <p:nvPr/>
        </p:nvSpPr>
        <p:spPr>
          <a:xfrm>
            <a:off x="6191250" y="5629275"/>
            <a:ext cx="5095875" cy="381000"/>
          </a:xfrm>
          <a:prstGeom prst="rect">
            <a:avLst/>
          </a:prstGeom>
          <a:noFill/>
          <a:ln w="0">
            <a:noFill/>
            <a:prstDash val="solid"/>
          </a:ln>
        </p:spPr>
        <p:txBody>
          <a:bodyPr anchor="ctr"/>
          <a:lstStyle/>
          <a:p>
            <a:pPr algn="l">
              <a:defRPr sz="1500" b="1">
                <a:solidFill>
                  <a:srgbClr val="FFFFFF"/>
                </a:solidFill>
              </a:defRPr>
            </a:pPr>
            <a:r>
              <a:rPr sz="1500" b="1">
                <a:solidFill>
                  <a:srgbClr val="FFFFFF"/>
                </a:solidFill>
              </a:rPr>
              <a:t>Direct querying • flexible reporting • reusable behavioural data</a:t>
            </a:r>
          </a:p>
        </p:txBody>
      </p:sp>
      <p:sp>
        <p:nvSpPr>
          <p:cNvPr id="20" name="Rectangle 19">
            <a:extLst>
              <a:ext uri="{FF2B5EF4-FFF2-40B4-BE49-F238E27FC236}">
                <a16:creationId xmlns:a16="http://schemas.microsoft.com/office/drawing/2014/main" id="{E96ED96D-E5D5-43E8-8D38-90608A4519E3}"/>
              </a:ext>
            </a:extLst>
          </p:cNvPr>
          <p:cNvSpPr>
            <a:spLocks noGrp="1"/>
          </p:cNvSpPr>
          <p:nvPr/>
        </p:nvSpPr>
        <p:spPr>
          <a:xfrm>
            <a:off x="628650" y="6419850"/>
            <a:ext cx="5334000" cy="171450"/>
          </a:xfrm>
          <a:prstGeom prst="rect">
            <a:avLst/>
          </a:prstGeom>
          <a:noFill/>
          <a:ln w="0">
            <a:noFill/>
            <a:prstDash val="solid"/>
          </a:ln>
        </p:spPr>
        <p:txBody>
          <a:bodyPr anchor="ctr"/>
          <a:lstStyle/>
          <a:p>
            <a:pPr algn="l">
              <a:defRPr sz="825" b="1">
                <a:solidFill>
                  <a:srgbClr val="777777"/>
                </a:solidFill>
              </a:defRPr>
            </a:pPr>
            <a:r>
              <a:rPr sz="825" b="1">
                <a:solidFill>
                  <a:srgbClr val="777777"/>
                </a:solidFill>
              </a:rPr>
              <a:t>VODACOM FINANCIAL SERVICES  •  DIGITAL ANALYTICS</a:t>
            </a:r>
          </a:p>
        </p:txBody>
      </p:sp>
      <p:sp>
        <p:nvSpPr>
          <p:cNvPr id="21" name="Rectangle 20">
            <a:extLst>
              <a:ext uri="{FF2B5EF4-FFF2-40B4-BE49-F238E27FC236}">
                <a16:creationId xmlns:a16="http://schemas.microsoft.com/office/drawing/2014/main" id="{E7518435-1EC8-47F1-A0AA-1C8A7042E0BE}"/>
              </a:ext>
            </a:extLst>
          </p:cNvPr>
          <p:cNvSpPr>
            <a:spLocks noGrp="1"/>
          </p:cNvSpPr>
          <p:nvPr/>
        </p:nvSpPr>
        <p:spPr>
          <a:xfrm>
            <a:off x="11096625" y="6419850"/>
            <a:ext cx="457200" cy="171450"/>
          </a:xfrm>
          <a:prstGeom prst="rect">
            <a:avLst/>
          </a:prstGeom>
          <a:noFill/>
          <a:ln w="0">
            <a:noFill/>
            <a:prstDash val="solid"/>
          </a:ln>
        </p:spPr>
        <p:txBody>
          <a:bodyPr anchor="ctr"/>
          <a:lstStyle/>
          <a:p>
            <a:pPr algn="r">
              <a:defRPr sz="825" b="1">
                <a:solidFill>
                  <a:srgbClr val="777777"/>
                </a:solidFill>
              </a:defRPr>
            </a:pPr>
            <a:r>
              <a:rPr sz="825" b="1">
                <a:solidFill>
                  <a:srgbClr val="777777"/>
                </a:solidFill>
              </a:rPr>
              <a:t>01</a:t>
            </a:r>
          </a:p>
        </p:txBody>
      </p:sp>
    </p:spTree>
    <p:extLst>
      <p:ext uri="{BB962C8B-B14F-4D97-AF65-F5344CB8AC3E}">
        <p14:creationId xmlns:p14="http://schemas.microsoft.com/office/powerpoint/2010/main" val="322204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8" name="Rectangle 87">
            <a:extLst>
              <a:ext uri="{FF2B5EF4-FFF2-40B4-BE49-F238E27FC236}">
                <a16:creationId xmlns:a16="http://schemas.microsoft.com/office/drawing/2014/main" id="{EE7E127D-ABC5-452D-8BDE-972EA39CAE4C}"/>
              </a:ext>
            </a:extLst>
          </p:cNvPr>
          <p:cNvSpPr>
            <a:spLocks noGrp="1"/>
          </p:cNvSpPr>
          <p:nvPr/>
        </p:nvSpPr>
        <p:spPr>
          <a:xfrm>
            <a:off x="1695450" y="190500"/>
            <a:ext cx="8801100" cy="419100"/>
          </a:xfrm>
          <a:prstGeom prst="rect">
            <a:avLst/>
          </a:prstGeom>
          <a:noFill/>
          <a:ln w="0">
            <a:noFill/>
            <a:prstDash val="solid"/>
          </a:ln>
        </p:spPr>
        <p:txBody>
          <a:bodyPr anchor="ctr"/>
          <a:lstStyle/>
          <a:p>
            <a:pPr algn="ctr">
              <a:defRPr sz="2325" b="1">
                <a:solidFill>
                  <a:srgbClr val="111111"/>
                </a:solidFill>
              </a:defRPr>
            </a:pPr>
            <a:r>
              <a:rPr sz="2325" b="1">
                <a:solidFill>
                  <a:srgbClr val="111111"/>
                </a:solidFill>
              </a:rPr>
              <a:t>Digital Analytics Data Ingestion Architecture (Production)</a:t>
            </a:r>
          </a:p>
        </p:txBody>
      </p:sp>
      <p:sp>
        <p:nvSpPr>
          <p:cNvPr id="2" name="Rectangle 1">
            <a:extLst>
              <a:ext uri="{FF2B5EF4-FFF2-40B4-BE49-F238E27FC236}">
                <a16:creationId xmlns:a16="http://schemas.microsoft.com/office/drawing/2014/main" id="{F38388A5-E4B1-4145-BB4E-4E74CFAF47AE}"/>
              </a:ext>
            </a:extLst>
          </p:cNvPr>
          <p:cNvSpPr>
            <a:spLocks noGrp="1"/>
          </p:cNvSpPr>
          <p:nvPr/>
        </p:nvSpPr>
        <p:spPr>
          <a:xfrm>
            <a:off x="1285875" y="666750"/>
            <a:ext cx="9620250" cy="276225"/>
          </a:xfrm>
          <a:prstGeom prst="rect">
            <a:avLst/>
          </a:prstGeom>
          <a:noFill/>
          <a:ln w="0">
            <a:noFill/>
            <a:prstDash val="solid"/>
          </a:ln>
        </p:spPr>
        <p:txBody>
          <a:bodyPr anchor="ctr"/>
          <a:lstStyle/>
          <a:p>
            <a:pPr algn="ctr">
              <a:defRPr sz="1350" b="0">
                <a:solidFill>
                  <a:srgbClr val="555555"/>
                </a:solidFill>
              </a:defRPr>
            </a:pPr>
            <a:r>
              <a:rPr sz="1350" b="0">
                <a:solidFill>
                  <a:srgbClr val="555555"/>
                </a:solidFill>
              </a:rPr>
              <a:t>Tealium  →  API Gateway (WAF)  →  Firehose  →  S3 (Raw)  →  Glue (ETL &amp; Catalog)  →  S3 (Curated)  →  Analytics</a:t>
            </a:r>
          </a:p>
        </p:txBody>
      </p:sp>
      <p:sp>
        <p:nvSpPr>
          <p:cNvPr id="3" name="Arrow: Right 2">
            <a:extLst>
              <a:ext uri="{FF2B5EF4-FFF2-40B4-BE49-F238E27FC236}">
                <a16:creationId xmlns:a16="http://schemas.microsoft.com/office/drawing/2014/main" id="{E806E03B-60B0-4BE5-AD0D-149490E0CE13}"/>
              </a:ext>
            </a:extLst>
          </p:cNvPr>
          <p:cNvSpPr>
            <a:spLocks noGrp="1"/>
          </p:cNvSpPr>
          <p:nvPr/>
        </p:nvSpPr>
        <p:spPr>
          <a:xfrm>
            <a:off x="1485900" y="2838450"/>
            <a:ext cx="266700" cy="171450"/>
          </a:xfrm>
          <a:prstGeom prst="rightArrow">
            <a:avLst/>
          </a:prstGeom>
          <a:solidFill>
            <a:srgbClr val="111111"/>
          </a:solidFill>
          <a:ln w="0">
            <a:noFill/>
            <a:prstDash val="solid"/>
          </a:ln>
        </p:spPr>
        <p:txBody>
          <a:bodyPr/>
          <a:lstStyle/>
          <a:p>
            <a:endParaRPr lang="en-ZA"/>
          </a:p>
        </p:txBody>
      </p:sp>
      <p:sp>
        <p:nvSpPr>
          <p:cNvPr id="4" name="Arrow: Right 3">
            <a:extLst>
              <a:ext uri="{FF2B5EF4-FFF2-40B4-BE49-F238E27FC236}">
                <a16:creationId xmlns:a16="http://schemas.microsoft.com/office/drawing/2014/main" id="{8488A080-2BCC-47AF-A2EF-B0097EC98380}"/>
              </a:ext>
            </a:extLst>
          </p:cNvPr>
          <p:cNvSpPr>
            <a:spLocks noGrp="1"/>
          </p:cNvSpPr>
          <p:nvPr/>
        </p:nvSpPr>
        <p:spPr>
          <a:xfrm>
            <a:off x="2857500" y="2838450"/>
            <a:ext cx="266700" cy="171450"/>
          </a:xfrm>
          <a:prstGeom prst="rightArrow">
            <a:avLst/>
          </a:prstGeom>
          <a:solidFill>
            <a:srgbClr val="111111"/>
          </a:solidFill>
          <a:ln w="0">
            <a:noFill/>
            <a:prstDash val="solid"/>
          </a:ln>
        </p:spPr>
        <p:txBody>
          <a:bodyPr/>
          <a:lstStyle/>
          <a:p>
            <a:endParaRPr lang="en-ZA"/>
          </a:p>
        </p:txBody>
      </p:sp>
      <p:sp>
        <p:nvSpPr>
          <p:cNvPr id="5" name="Arrow: Right 4">
            <a:extLst>
              <a:ext uri="{FF2B5EF4-FFF2-40B4-BE49-F238E27FC236}">
                <a16:creationId xmlns:a16="http://schemas.microsoft.com/office/drawing/2014/main" id="{71F085B3-559C-4E19-B5E0-F0F023FCD07A}"/>
              </a:ext>
            </a:extLst>
          </p:cNvPr>
          <p:cNvSpPr>
            <a:spLocks noGrp="1"/>
          </p:cNvSpPr>
          <p:nvPr/>
        </p:nvSpPr>
        <p:spPr>
          <a:xfrm>
            <a:off x="4229100" y="2838450"/>
            <a:ext cx="266700" cy="171450"/>
          </a:xfrm>
          <a:prstGeom prst="rightArrow">
            <a:avLst/>
          </a:prstGeom>
          <a:solidFill>
            <a:srgbClr val="111111"/>
          </a:solidFill>
          <a:ln w="0">
            <a:noFill/>
            <a:prstDash val="solid"/>
          </a:ln>
        </p:spPr>
        <p:txBody>
          <a:bodyPr/>
          <a:lstStyle/>
          <a:p>
            <a:endParaRPr lang="en-ZA"/>
          </a:p>
        </p:txBody>
      </p:sp>
      <p:sp>
        <p:nvSpPr>
          <p:cNvPr id="6" name="Arrow: Right 5">
            <a:extLst>
              <a:ext uri="{FF2B5EF4-FFF2-40B4-BE49-F238E27FC236}">
                <a16:creationId xmlns:a16="http://schemas.microsoft.com/office/drawing/2014/main" id="{D5654347-42DF-4412-96B9-77F0D728EE12}"/>
              </a:ext>
            </a:extLst>
          </p:cNvPr>
          <p:cNvSpPr>
            <a:spLocks noGrp="1"/>
          </p:cNvSpPr>
          <p:nvPr/>
        </p:nvSpPr>
        <p:spPr>
          <a:xfrm>
            <a:off x="5810250" y="2838450"/>
            <a:ext cx="266700" cy="171450"/>
          </a:xfrm>
          <a:prstGeom prst="rightArrow">
            <a:avLst/>
          </a:prstGeom>
          <a:solidFill>
            <a:srgbClr val="111111"/>
          </a:solidFill>
          <a:ln w="0">
            <a:noFill/>
            <a:prstDash val="solid"/>
          </a:ln>
        </p:spPr>
        <p:txBody>
          <a:bodyPr/>
          <a:lstStyle/>
          <a:p>
            <a:endParaRPr lang="en-ZA"/>
          </a:p>
        </p:txBody>
      </p:sp>
      <p:sp>
        <p:nvSpPr>
          <p:cNvPr id="7" name="Arrow: Right 6">
            <a:extLst>
              <a:ext uri="{FF2B5EF4-FFF2-40B4-BE49-F238E27FC236}">
                <a16:creationId xmlns:a16="http://schemas.microsoft.com/office/drawing/2014/main" id="{8BA261CB-1118-4812-9611-5A6AA50CA51F}"/>
              </a:ext>
            </a:extLst>
          </p:cNvPr>
          <p:cNvSpPr>
            <a:spLocks noGrp="1"/>
          </p:cNvSpPr>
          <p:nvPr/>
        </p:nvSpPr>
        <p:spPr>
          <a:xfrm>
            <a:off x="7277100" y="2838450"/>
            <a:ext cx="266700" cy="171450"/>
          </a:xfrm>
          <a:prstGeom prst="rightArrow">
            <a:avLst/>
          </a:prstGeom>
          <a:solidFill>
            <a:srgbClr val="111111"/>
          </a:solidFill>
          <a:ln w="0">
            <a:noFill/>
            <a:prstDash val="solid"/>
          </a:ln>
        </p:spPr>
        <p:txBody>
          <a:bodyPr/>
          <a:lstStyle/>
          <a:p>
            <a:endParaRPr lang="en-ZA"/>
          </a:p>
        </p:txBody>
      </p:sp>
      <p:sp>
        <p:nvSpPr>
          <p:cNvPr id="8" name="Arrow: Right 7">
            <a:extLst>
              <a:ext uri="{FF2B5EF4-FFF2-40B4-BE49-F238E27FC236}">
                <a16:creationId xmlns:a16="http://schemas.microsoft.com/office/drawing/2014/main" id="{000EEB52-F5E2-45B6-BECF-D84096A72A9A}"/>
              </a:ext>
            </a:extLst>
          </p:cNvPr>
          <p:cNvSpPr>
            <a:spLocks noGrp="1"/>
          </p:cNvSpPr>
          <p:nvPr/>
        </p:nvSpPr>
        <p:spPr>
          <a:xfrm>
            <a:off x="8877300" y="2838450"/>
            <a:ext cx="266700" cy="171450"/>
          </a:xfrm>
          <a:prstGeom prst="rightArrow">
            <a:avLst/>
          </a:prstGeom>
          <a:solidFill>
            <a:srgbClr val="111111"/>
          </a:solidFill>
          <a:ln w="0">
            <a:noFill/>
            <a:prstDash val="solid"/>
          </a:ln>
        </p:spPr>
        <p:txBody>
          <a:bodyPr/>
          <a:lstStyle/>
          <a:p>
            <a:endParaRPr lang="en-ZA"/>
          </a:p>
        </p:txBody>
      </p:sp>
      <p:sp>
        <p:nvSpPr>
          <p:cNvPr id="9" name="Arrow: Right 8">
            <a:extLst>
              <a:ext uri="{FF2B5EF4-FFF2-40B4-BE49-F238E27FC236}">
                <a16:creationId xmlns:a16="http://schemas.microsoft.com/office/drawing/2014/main" id="{FEF878DD-60D6-4225-AFF3-E639FDA5CDD6}"/>
              </a:ext>
            </a:extLst>
          </p:cNvPr>
          <p:cNvSpPr>
            <a:spLocks noGrp="1"/>
          </p:cNvSpPr>
          <p:nvPr/>
        </p:nvSpPr>
        <p:spPr>
          <a:xfrm>
            <a:off x="10363200" y="2838450"/>
            <a:ext cx="266700" cy="171450"/>
          </a:xfrm>
          <a:prstGeom prst="rightArrow">
            <a:avLst/>
          </a:prstGeom>
          <a:solidFill>
            <a:srgbClr val="111111"/>
          </a:solidFill>
          <a:ln w="0">
            <a:noFill/>
            <a:prstDash val="solid"/>
          </a:ln>
        </p:spPr>
        <p:txBody>
          <a:bodyPr/>
          <a:lstStyle/>
          <a:p>
            <a:endParaRPr lang="en-ZA"/>
          </a:p>
        </p:txBody>
      </p:sp>
      <p:sp>
        <p:nvSpPr>
          <p:cNvPr id="10" name="Rectangle: Rounded Corners 9">
            <a:extLst>
              <a:ext uri="{FF2B5EF4-FFF2-40B4-BE49-F238E27FC236}">
                <a16:creationId xmlns:a16="http://schemas.microsoft.com/office/drawing/2014/main" id="{56403FA0-1A50-40E4-90AA-49CBFF2A8DD0}"/>
              </a:ext>
            </a:extLst>
          </p:cNvPr>
          <p:cNvSpPr>
            <a:spLocks noGrp="1"/>
          </p:cNvSpPr>
          <p:nvPr/>
        </p:nvSpPr>
        <p:spPr>
          <a:xfrm>
            <a:off x="171450" y="1257300"/>
            <a:ext cx="1314450" cy="3476625"/>
          </a:xfrm>
          <a:prstGeom prst="roundRect">
            <a:avLst>
              <a:gd name="adj" fmla="val 8696"/>
            </a:avLst>
          </a:prstGeom>
          <a:solidFill>
            <a:srgbClr val="F2F7EA"/>
          </a:solidFill>
          <a:ln w="14288">
            <a:solidFill>
              <a:srgbClr val="A6C879"/>
            </a:solidFill>
            <a:prstDash val="solid"/>
          </a:ln>
        </p:spPr>
        <p:txBody>
          <a:bodyPr/>
          <a:lstStyle/>
          <a:p>
            <a:endParaRPr lang="en-ZA"/>
          </a:p>
        </p:txBody>
      </p:sp>
      <p:sp>
        <p:nvSpPr>
          <p:cNvPr id="11" name="Rectangle 10">
            <a:extLst>
              <a:ext uri="{FF2B5EF4-FFF2-40B4-BE49-F238E27FC236}">
                <a16:creationId xmlns:a16="http://schemas.microsoft.com/office/drawing/2014/main" id="{AC081B08-6FE6-4388-BC30-61D4FE0EB3FD}"/>
              </a:ext>
            </a:extLst>
          </p:cNvPr>
          <p:cNvSpPr>
            <a:spLocks noGrp="1"/>
          </p:cNvSpPr>
          <p:nvPr/>
        </p:nvSpPr>
        <p:spPr>
          <a:xfrm>
            <a:off x="238125" y="1323975"/>
            <a:ext cx="1181100" cy="333375"/>
          </a:xfrm>
          <a:prstGeom prst="rect">
            <a:avLst/>
          </a:prstGeom>
          <a:noFill/>
          <a:ln w="0">
            <a:noFill/>
            <a:prstDash val="solid"/>
          </a:ln>
        </p:spPr>
        <p:txBody>
          <a:bodyPr anchor="ctr"/>
          <a:lstStyle/>
          <a:p>
            <a:pPr algn="ctr">
              <a:defRPr sz="900" b="1">
                <a:solidFill>
                  <a:srgbClr val="355D2C"/>
                </a:solidFill>
              </a:defRPr>
            </a:pPr>
            <a:r>
              <a:rPr sz="900" b="1">
                <a:solidFill>
                  <a:srgbClr val="355D2C"/>
                </a:solidFill>
              </a:rPr>
              <a:t>1. Data Sources</a:t>
            </a:r>
          </a:p>
        </p:txBody>
      </p:sp>
      <p:sp>
        <p:nvSpPr>
          <p:cNvPr id="12" name="Rectangle: Rounded Corners 11">
            <a:extLst>
              <a:ext uri="{FF2B5EF4-FFF2-40B4-BE49-F238E27FC236}">
                <a16:creationId xmlns:a16="http://schemas.microsoft.com/office/drawing/2014/main" id="{A150A7A1-47DB-45BD-BF86-C196CB105484}"/>
              </a:ext>
            </a:extLst>
          </p:cNvPr>
          <p:cNvSpPr>
            <a:spLocks noGrp="1"/>
          </p:cNvSpPr>
          <p:nvPr/>
        </p:nvSpPr>
        <p:spPr>
          <a:xfrm>
            <a:off x="1752600" y="1257300"/>
            <a:ext cx="1104900" cy="3476625"/>
          </a:xfrm>
          <a:prstGeom prst="roundRect">
            <a:avLst>
              <a:gd name="adj" fmla="val 10345"/>
            </a:avLst>
          </a:prstGeom>
          <a:solidFill>
            <a:srgbClr val="EAF4F9"/>
          </a:solidFill>
          <a:ln w="14288">
            <a:solidFill>
              <a:srgbClr val="75AEC9"/>
            </a:solidFill>
            <a:prstDash val="solid"/>
          </a:ln>
        </p:spPr>
        <p:txBody>
          <a:bodyPr/>
          <a:lstStyle/>
          <a:p>
            <a:endParaRPr lang="en-ZA"/>
          </a:p>
        </p:txBody>
      </p:sp>
      <p:sp>
        <p:nvSpPr>
          <p:cNvPr id="13" name="Rectangle 12">
            <a:extLst>
              <a:ext uri="{FF2B5EF4-FFF2-40B4-BE49-F238E27FC236}">
                <a16:creationId xmlns:a16="http://schemas.microsoft.com/office/drawing/2014/main" id="{54F013FC-5271-4B6B-B660-D5B3951232D6}"/>
              </a:ext>
            </a:extLst>
          </p:cNvPr>
          <p:cNvSpPr>
            <a:spLocks noGrp="1"/>
          </p:cNvSpPr>
          <p:nvPr/>
        </p:nvSpPr>
        <p:spPr>
          <a:xfrm>
            <a:off x="1819275" y="1323975"/>
            <a:ext cx="971550" cy="333375"/>
          </a:xfrm>
          <a:prstGeom prst="rect">
            <a:avLst/>
          </a:prstGeom>
          <a:noFill/>
          <a:ln w="0">
            <a:noFill/>
            <a:prstDash val="solid"/>
          </a:ln>
        </p:spPr>
        <p:txBody>
          <a:bodyPr anchor="ctr"/>
          <a:lstStyle/>
          <a:p>
            <a:pPr algn="ctr">
              <a:defRPr sz="900" b="1">
                <a:solidFill>
                  <a:srgbClr val="26769F"/>
                </a:solidFill>
              </a:defRPr>
            </a:pPr>
            <a:r>
              <a:rPr sz="900" b="1">
                <a:solidFill>
                  <a:srgbClr val="26769F"/>
                </a:solidFill>
              </a:rPr>
              <a:t>2. Tealium</a:t>
            </a:r>
          </a:p>
        </p:txBody>
      </p:sp>
      <p:sp>
        <p:nvSpPr>
          <p:cNvPr id="14" name="Rectangle: Rounded Corners 13">
            <a:extLst>
              <a:ext uri="{FF2B5EF4-FFF2-40B4-BE49-F238E27FC236}">
                <a16:creationId xmlns:a16="http://schemas.microsoft.com/office/drawing/2014/main" id="{632325E5-396D-43C0-B3E6-16E2C7F962A2}"/>
              </a:ext>
            </a:extLst>
          </p:cNvPr>
          <p:cNvSpPr>
            <a:spLocks noGrp="1"/>
          </p:cNvSpPr>
          <p:nvPr/>
        </p:nvSpPr>
        <p:spPr>
          <a:xfrm>
            <a:off x="3124200" y="1257300"/>
            <a:ext cx="1104900" cy="3476625"/>
          </a:xfrm>
          <a:prstGeom prst="roundRect">
            <a:avLst>
              <a:gd name="adj" fmla="val 10345"/>
            </a:avLst>
          </a:prstGeom>
          <a:solidFill>
            <a:srgbClr val="F4ECFA"/>
          </a:solidFill>
          <a:ln w="14288">
            <a:solidFill>
              <a:srgbClr val="A783D2"/>
            </a:solidFill>
            <a:prstDash val="solid"/>
          </a:ln>
        </p:spPr>
        <p:txBody>
          <a:bodyPr/>
          <a:lstStyle/>
          <a:p>
            <a:endParaRPr lang="en-ZA"/>
          </a:p>
        </p:txBody>
      </p:sp>
      <p:sp>
        <p:nvSpPr>
          <p:cNvPr id="15" name="Rectangle 14">
            <a:extLst>
              <a:ext uri="{FF2B5EF4-FFF2-40B4-BE49-F238E27FC236}">
                <a16:creationId xmlns:a16="http://schemas.microsoft.com/office/drawing/2014/main" id="{0D231182-885C-454C-9218-38C3EBC5EAAA}"/>
              </a:ext>
            </a:extLst>
          </p:cNvPr>
          <p:cNvSpPr>
            <a:spLocks noGrp="1"/>
          </p:cNvSpPr>
          <p:nvPr/>
        </p:nvSpPr>
        <p:spPr>
          <a:xfrm>
            <a:off x="3190875" y="1323975"/>
            <a:ext cx="971550" cy="333375"/>
          </a:xfrm>
          <a:prstGeom prst="rect">
            <a:avLst/>
          </a:prstGeom>
          <a:noFill/>
          <a:ln w="0">
            <a:noFill/>
            <a:prstDash val="solid"/>
          </a:ln>
        </p:spPr>
        <p:txBody>
          <a:bodyPr anchor="ctr"/>
          <a:lstStyle/>
          <a:p>
            <a:pPr algn="ctr">
              <a:defRPr sz="900" b="1">
                <a:solidFill>
                  <a:srgbClr val="6F48A3"/>
                </a:solidFill>
              </a:defRPr>
            </a:pPr>
            <a:r>
              <a:rPr sz="900" b="1">
                <a:solidFill>
                  <a:srgbClr val="6F48A3"/>
                </a:solidFill>
              </a:rPr>
              <a:t>3. Security &amp; Edge</a:t>
            </a:r>
          </a:p>
        </p:txBody>
      </p:sp>
      <p:sp>
        <p:nvSpPr>
          <p:cNvPr id="16" name="Rectangle: Rounded Corners 15">
            <a:extLst>
              <a:ext uri="{FF2B5EF4-FFF2-40B4-BE49-F238E27FC236}">
                <a16:creationId xmlns:a16="http://schemas.microsoft.com/office/drawing/2014/main" id="{8B7EF791-F458-49FC-95F3-3AEA85CA935B}"/>
              </a:ext>
            </a:extLst>
          </p:cNvPr>
          <p:cNvSpPr>
            <a:spLocks noGrp="1"/>
          </p:cNvSpPr>
          <p:nvPr/>
        </p:nvSpPr>
        <p:spPr>
          <a:xfrm>
            <a:off x="4495800" y="1257300"/>
            <a:ext cx="1314450" cy="3476625"/>
          </a:xfrm>
          <a:prstGeom prst="roundRect">
            <a:avLst>
              <a:gd name="adj" fmla="val 8696"/>
            </a:avLst>
          </a:prstGeom>
          <a:solidFill>
            <a:srgbClr val="FFF5E6"/>
          </a:solidFill>
          <a:ln w="14288">
            <a:solidFill>
              <a:srgbClr val="E4B34F"/>
            </a:solidFill>
            <a:prstDash val="solid"/>
          </a:ln>
        </p:spPr>
        <p:txBody>
          <a:bodyPr/>
          <a:lstStyle/>
          <a:p>
            <a:endParaRPr lang="en-ZA"/>
          </a:p>
        </p:txBody>
      </p:sp>
      <p:sp>
        <p:nvSpPr>
          <p:cNvPr id="17" name="Rectangle 16">
            <a:extLst>
              <a:ext uri="{FF2B5EF4-FFF2-40B4-BE49-F238E27FC236}">
                <a16:creationId xmlns:a16="http://schemas.microsoft.com/office/drawing/2014/main" id="{06C1F7F8-8E09-4D7D-AD90-1BD755CE9237}"/>
              </a:ext>
            </a:extLst>
          </p:cNvPr>
          <p:cNvSpPr>
            <a:spLocks noGrp="1"/>
          </p:cNvSpPr>
          <p:nvPr/>
        </p:nvSpPr>
        <p:spPr>
          <a:xfrm>
            <a:off x="4562475" y="1323975"/>
            <a:ext cx="1181100" cy="333375"/>
          </a:xfrm>
          <a:prstGeom prst="rect">
            <a:avLst/>
          </a:prstGeom>
          <a:noFill/>
          <a:ln w="0">
            <a:noFill/>
            <a:prstDash val="solid"/>
          </a:ln>
        </p:spPr>
        <p:txBody>
          <a:bodyPr anchor="ctr"/>
          <a:lstStyle/>
          <a:p>
            <a:pPr algn="ctr">
              <a:defRPr sz="900" b="1">
                <a:solidFill>
                  <a:srgbClr val="A36100"/>
                </a:solidFill>
              </a:defRPr>
            </a:pPr>
            <a:r>
              <a:rPr sz="900" b="1">
                <a:solidFill>
                  <a:srgbClr val="A36100"/>
                </a:solidFill>
              </a:rPr>
              <a:t>4. AWS Ingestion Pipeline</a:t>
            </a:r>
          </a:p>
        </p:txBody>
      </p:sp>
      <p:sp>
        <p:nvSpPr>
          <p:cNvPr id="18" name="Rectangle: Rounded Corners 17">
            <a:extLst>
              <a:ext uri="{FF2B5EF4-FFF2-40B4-BE49-F238E27FC236}">
                <a16:creationId xmlns:a16="http://schemas.microsoft.com/office/drawing/2014/main" id="{12B853A1-7591-4D91-A502-EF9155D5E91F}"/>
              </a:ext>
            </a:extLst>
          </p:cNvPr>
          <p:cNvSpPr>
            <a:spLocks noGrp="1"/>
          </p:cNvSpPr>
          <p:nvPr/>
        </p:nvSpPr>
        <p:spPr>
          <a:xfrm>
            <a:off x="6076950" y="1257300"/>
            <a:ext cx="1200150" cy="3476625"/>
          </a:xfrm>
          <a:prstGeom prst="roundRect">
            <a:avLst>
              <a:gd name="adj" fmla="val 9524"/>
            </a:avLst>
          </a:prstGeom>
          <a:solidFill>
            <a:srgbClr val="EFF8EB"/>
          </a:solidFill>
          <a:ln w="14288">
            <a:solidFill>
              <a:srgbClr val="A8CA90"/>
            </a:solidFill>
            <a:prstDash val="solid"/>
          </a:ln>
        </p:spPr>
        <p:txBody>
          <a:bodyPr/>
          <a:lstStyle/>
          <a:p>
            <a:endParaRPr lang="en-ZA"/>
          </a:p>
        </p:txBody>
      </p:sp>
      <p:sp>
        <p:nvSpPr>
          <p:cNvPr id="19" name="Rectangle 18">
            <a:extLst>
              <a:ext uri="{FF2B5EF4-FFF2-40B4-BE49-F238E27FC236}">
                <a16:creationId xmlns:a16="http://schemas.microsoft.com/office/drawing/2014/main" id="{CD1B6C6E-A621-4307-A10C-F89567EC1E66}"/>
              </a:ext>
            </a:extLst>
          </p:cNvPr>
          <p:cNvSpPr>
            <a:spLocks noGrp="1"/>
          </p:cNvSpPr>
          <p:nvPr/>
        </p:nvSpPr>
        <p:spPr>
          <a:xfrm>
            <a:off x="6143625" y="1323975"/>
            <a:ext cx="1066800" cy="333375"/>
          </a:xfrm>
          <a:prstGeom prst="rect">
            <a:avLst/>
          </a:prstGeom>
          <a:noFill/>
          <a:ln w="0">
            <a:noFill/>
            <a:prstDash val="solid"/>
          </a:ln>
        </p:spPr>
        <p:txBody>
          <a:bodyPr anchor="ctr"/>
          <a:lstStyle/>
          <a:p>
            <a:pPr algn="ctr">
              <a:defRPr sz="900" b="1">
                <a:solidFill>
                  <a:srgbClr val="357135"/>
                </a:solidFill>
              </a:defRPr>
            </a:pPr>
            <a:r>
              <a:rPr sz="900" b="1">
                <a:solidFill>
                  <a:srgbClr val="357135"/>
                </a:solidFill>
              </a:rPr>
              <a:t>5. Amazon S3</a:t>
            </a:r>
          </a:p>
          <a:p>
            <a:pPr algn="ctr">
              <a:defRPr sz="900" b="1">
                <a:solidFill>
                  <a:srgbClr val="357135"/>
                </a:solidFill>
              </a:defRPr>
            </a:pPr>
            <a:r>
              <a:rPr sz="900" b="1">
                <a:solidFill>
                  <a:srgbClr val="357135"/>
                </a:solidFill>
              </a:rPr>
              <a:t>(Raw Zone)</a:t>
            </a:r>
          </a:p>
        </p:txBody>
      </p:sp>
      <p:sp>
        <p:nvSpPr>
          <p:cNvPr id="20" name="Rectangle: Rounded Corners 19">
            <a:extLst>
              <a:ext uri="{FF2B5EF4-FFF2-40B4-BE49-F238E27FC236}">
                <a16:creationId xmlns:a16="http://schemas.microsoft.com/office/drawing/2014/main" id="{5BD3D850-DEFF-499C-B38E-5CFA9A8DCC29}"/>
              </a:ext>
            </a:extLst>
          </p:cNvPr>
          <p:cNvSpPr>
            <a:spLocks noGrp="1"/>
          </p:cNvSpPr>
          <p:nvPr/>
        </p:nvSpPr>
        <p:spPr>
          <a:xfrm>
            <a:off x="7543800" y="1257300"/>
            <a:ext cx="1333500" cy="3476625"/>
          </a:xfrm>
          <a:prstGeom prst="roundRect">
            <a:avLst>
              <a:gd name="adj" fmla="val 8571"/>
            </a:avLst>
          </a:prstGeom>
          <a:solidFill>
            <a:srgbClr val="F4F0FB"/>
          </a:solidFill>
          <a:ln w="14288">
            <a:solidFill>
              <a:srgbClr val="ACA0DB"/>
            </a:solidFill>
            <a:prstDash val="solid"/>
          </a:ln>
        </p:spPr>
        <p:txBody>
          <a:bodyPr/>
          <a:lstStyle/>
          <a:p>
            <a:endParaRPr lang="en-ZA"/>
          </a:p>
        </p:txBody>
      </p:sp>
      <p:sp>
        <p:nvSpPr>
          <p:cNvPr id="21" name="Rectangle 20">
            <a:extLst>
              <a:ext uri="{FF2B5EF4-FFF2-40B4-BE49-F238E27FC236}">
                <a16:creationId xmlns:a16="http://schemas.microsoft.com/office/drawing/2014/main" id="{E66DA108-6862-4569-92BE-29C3C2E92798}"/>
              </a:ext>
            </a:extLst>
          </p:cNvPr>
          <p:cNvSpPr>
            <a:spLocks noGrp="1"/>
          </p:cNvSpPr>
          <p:nvPr/>
        </p:nvSpPr>
        <p:spPr>
          <a:xfrm>
            <a:off x="7610475" y="1323975"/>
            <a:ext cx="1200150" cy="333375"/>
          </a:xfrm>
          <a:prstGeom prst="rect">
            <a:avLst/>
          </a:prstGeom>
          <a:noFill/>
          <a:ln w="0">
            <a:noFill/>
            <a:prstDash val="solid"/>
          </a:ln>
        </p:spPr>
        <p:txBody>
          <a:bodyPr anchor="ctr"/>
          <a:lstStyle/>
          <a:p>
            <a:pPr algn="ctr">
              <a:defRPr sz="900" b="1">
                <a:solidFill>
                  <a:srgbClr val="7064B7"/>
                </a:solidFill>
              </a:defRPr>
            </a:pPr>
            <a:r>
              <a:rPr sz="900" b="1">
                <a:solidFill>
                  <a:srgbClr val="7064B7"/>
                </a:solidFill>
              </a:rPr>
              <a:t>6. AWS Glue</a:t>
            </a:r>
          </a:p>
          <a:p>
            <a:pPr algn="ctr">
              <a:defRPr sz="900" b="1">
                <a:solidFill>
                  <a:srgbClr val="7064B7"/>
                </a:solidFill>
              </a:defRPr>
            </a:pPr>
            <a:r>
              <a:rPr sz="900" b="1">
                <a:solidFill>
                  <a:srgbClr val="7064B7"/>
                </a:solidFill>
              </a:rPr>
              <a:t>(ETL &amp; Catalog)</a:t>
            </a:r>
          </a:p>
        </p:txBody>
      </p:sp>
      <p:sp>
        <p:nvSpPr>
          <p:cNvPr id="22" name="Rectangle: Rounded Corners 21">
            <a:extLst>
              <a:ext uri="{FF2B5EF4-FFF2-40B4-BE49-F238E27FC236}">
                <a16:creationId xmlns:a16="http://schemas.microsoft.com/office/drawing/2014/main" id="{828F4A9A-A145-46BC-8FB2-131FEAF60AEF}"/>
              </a:ext>
            </a:extLst>
          </p:cNvPr>
          <p:cNvSpPr>
            <a:spLocks noGrp="1"/>
          </p:cNvSpPr>
          <p:nvPr/>
        </p:nvSpPr>
        <p:spPr>
          <a:xfrm>
            <a:off x="9144000" y="1257300"/>
            <a:ext cx="1219200" cy="3476625"/>
          </a:xfrm>
          <a:prstGeom prst="roundRect">
            <a:avLst>
              <a:gd name="adj" fmla="val 9375"/>
            </a:avLst>
          </a:prstGeom>
          <a:solidFill>
            <a:srgbClr val="EFF8EB"/>
          </a:solidFill>
          <a:ln w="14288">
            <a:solidFill>
              <a:srgbClr val="A8CA90"/>
            </a:solidFill>
            <a:prstDash val="solid"/>
          </a:ln>
        </p:spPr>
        <p:txBody>
          <a:bodyPr/>
          <a:lstStyle/>
          <a:p>
            <a:endParaRPr lang="en-ZA"/>
          </a:p>
        </p:txBody>
      </p:sp>
      <p:sp>
        <p:nvSpPr>
          <p:cNvPr id="23" name="Rectangle 22">
            <a:extLst>
              <a:ext uri="{FF2B5EF4-FFF2-40B4-BE49-F238E27FC236}">
                <a16:creationId xmlns:a16="http://schemas.microsoft.com/office/drawing/2014/main" id="{77B0202A-A61B-4226-8AA3-18B6D07AA1EE}"/>
              </a:ext>
            </a:extLst>
          </p:cNvPr>
          <p:cNvSpPr>
            <a:spLocks noGrp="1"/>
          </p:cNvSpPr>
          <p:nvPr/>
        </p:nvSpPr>
        <p:spPr>
          <a:xfrm>
            <a:off x="9210675" y="1323975"/>
            <a:ext cx="1085850" cy="333375"/>
          </a:xfrm>
          <a:prstGeom prst="rect">
            <a:avLst/>
          </a:prstGeom>
          <a:noFill/>
          <a:ln w="0">
            <a:noFill/>
            <a:prstDash val="solid"/>
          </a:ln>
        </p:spPr>
        <p:txBody>
          <a:bodyPr anchor="ctr"/>
          <a:lstStyle/>
          <a:p>
            <a:pPr algn="ctr">
              <a:defRPr sz="900" b="1">
                <a:solidFill>
                  <a:srgbClr val="357135"/>
                </a:solidFill>
              </a:defRPr>
            </a:pPr>
            <a:r>
              <a:rPr sz="900" b="1">
                <a:solidFill>
                  <a:srgbClr val="357135"/>
                </a:solidFill>
              </a:rPr>
              <a:t>7. Amazon S3</a:t>
            </a:r>
          </a:p>
          <a:p>
            <a:pPr algn="ctr">
              <a:defRPr sz="900" b="1">
                <a:solidFill>
                  <a:srgbClr val="357135"/>
                </a:solidFill>
              </a:defRPr>
            </a:pPr>
            <a:r>
              <a:rPr sz="900" b="1">
                <a:solidFill>
                  <a:srgbClr val="357135"/>
                </a:solidFill>
              </a:rPr>
              <a:t>(Curated Zone)</a:t>
            </a:r>
          </a:p>
        </p:txBody>
      </p:sp>
      <p:sp>
        <p:nvSpPr>
          <p:cNvPr id="24" name="Rectangle: Rounded Corners 23">
            <a:extLst>
              <a:ext uri="{FF2B5EF4-FFF2-40B4-BE49-F238E27FC236}">
                <a16:creationId xmlns:a16="http://schemas.microsoft.com/office/drawing/2014/main" id="{FEF49655-A175-40EA-8D9A-3C07DD9AABE9}"/>
              </a:ext>
            </a:extLst>
          </p:cNvPr>
          <p:cNvSpPr>
            <a:spLocks noGrp="1"/>
          </p:cNvSpPr>
          <p:nvPr/>
        </p:nvSpPr>
        <p:spPr>
          <a:xfrm>
            <a:off x="10629900" y="1257300"/>
            <a:ext cx="1390650" cy="3476625"/>
          </a:xfrm>
          <a:prstGeom prst="roundRect">
            <a:avLst>
              <a:gd name="adj" fmla="val 8219"/>
            </a:avLst>
          </a:prstGeom>
          <a:solidFill>
            <a:srgbClr val="FFF0F1"/>
          </a:solidFill>
          <a:ln w="14288">
            <a:solidFill>
              <a:srgbClr val="E8A0A7"/>
            </a:solidFill>
            <a:prstDash val="solid"/>
          </a:ln>
        </p:spPr>
        <p:txBody>
          <a:bodyPr/>
          <a:lstStyle/>
          <a:p>
            <a:endParaRPr lang="en-ZA"/>
          </a:p>
        </p:txBody>
      </p:sp>
      <p:sp>
        <p:nvSpPr>
          <p:cNvPr id="25" name="Rectangle 24">
            <a:extLst>
              <a:ext uri="{FF2B5EF4-FFF2-40B4-BE49-F238E27FC236}">
                <a16:creationId xmlns:a16="http://schemas.microsoft.com/office/drawing/2014/main" id="{32E4E560-006C-441C-B9BA-6FD1049968C1}"/>
              </a:ext>
            </a:extLst>
          </p:cNvPr>
          <p:cNvSpPr>
            <a:spLocks noGrp="1"/>
          </p:cNvSpPr>
          <p:nvPr/>
        </p:nvSpPr>
        <p:spPr>
          <a:xfrm>
            <a:off x="10696575" y="1323975"/>
            <a:ext cx="1257300" cy="333375"/>
          </a:xfrm>
          <a:prstGeom prst="rect">
            <a:avLst/>
          </a:prstGeom>
          <a:noFill/>
          <a:ln w="0">
            <a:noFill/>
            <a:prstDash val="solid"/>
          </a:ln>
        </p:spPr>
        <p:txBody>
          <a:bodyPr anchor="ctr"/>
          <a:lstStyle/>
          <a:p>
            <a:pPr algn="ctr">
              <a:defRPr sz="900" b="1">
                <a:solidFill>
                  <a:srgbClr val="A32D38"/>
                </a:solidFill>
              </a:defRPr>
            </a:pPr>
            <a:r>
              <a:rPr sz="900" b="1" dirty="0">
                <a:solidFill>
                  <a:srgbClr val="A32D38"/>
                </a:solidFill>
              </a:rPr>
              <a:t>8. Analytics</a:t>
            </a:r>
            <a:r>
              <a:rPr lang="en-ZA" sz="900" b="1" dirty="0">
                <a:solidFill>
                  <a:srgbClr val="A32D38"/>
                </a:solidFill>
              </a:rPr>
              <a:t> &amp;</a:t>
            </a:r>
          </a:p>
          <a:p>
            <a:pPr algn="ctr">
              <a:defRPr sz="900" b="1">
                <a:solidFill>
                  <a:srgbClr val="A32D38"/>
                </a:solidFill>
              </a:defRPr>
            </a:pPr>
            <a:r>
              <a:rPr lang="en-ZA" sz="900" b="1" dirty="0">
                <a:solidFill>
                  <a:srgbClr val="A32D38"/>
                </a:solidFill>
              </a:rPr>
              <a:t>Visualisation</a:t>
            </a:r>
          </a:p>
        </p:txBody>
      </p:sp>
      <p:sp>
        <p:nvSpPr>
          <p:cNvPr id="26" name="Rectangle: Rounded Corners 25">
            <a:extLst>
              <a:ext uri="{FF2B5EF4-FFF2-40B4-BE49-F238E27FC236}">
                <a16:creationId xmlns:a16="http://schemas.microsoft.com/office/drawing/2014/main" id="{DA482D88-6943-423B-8B0B-941709465CB4}"/>
              </a:ext>
            </a:extLst>
          </p:cNvPr>
          <p:cNvSpPr>
            <a:spLocks noGrp="1"/>
          </p:cNvSpPr>
          <p:nvPr/>
        </p:nvSpPr>
        <p:spPr>
          <a:xfrm>
            <a:off x="276225" y="1752600"/>
            <a:ext cx="1104900" cy="781050"/>
          </a:xfrm>
          <a:prstGeom prst="roundRect">
            <a:avLst>
              <a:gd name="adj" fmla="val 14634"/>
            </a:avLst>
          </a:prstGeom>
          <a:solidFill>
            <a:srgbClr val="FFFFFF"/>
          </a:solidFill>
          <a:ln w="9525">
            <a:solidFill>
              <a:srgbClr val="C9C9C9"/>
            </a:solidFill>
            <a:prstDash val="solid"/>
          </a:ln>
        </p:spPr>
        <p:txBody>
          <a:bodyPr/>
          <a:lstStyle/>
          <a:p>
            <a:endParaRPr lang="en-ZA"/>
          </a:p>
        </p:txBody>
      </p:sp>
      <p:sp>
        <p:nvSpPr>
          <p:cNvPr id="27" name="Rectangle 26">
            <a:extLst>
              <a:ext uri="{FF2B5EF4-FFF2-40B4-BE49-F238E27FC236}">
                <a16:creationId xmlns:a16="http://schemas.microsoft.com/office/drawing/2014/main" id="{DD122ABA-066A-412B-8672-5EB9DF149D5D}"/>
              </a:ext>
            </a:extLst>
          </p:cNvPr>
          <p:cNvSpPr>
            <a:spLocks noGrp="1"/>
          </p:cNvSpPr>
          <p:nvPr/>
        </p:nvSpPr>
        <p:spPr>
          <a:xfrm>
            <a:off x="361950" y="1905000"/>
            <a:ext cx="247650" cy="381000"/>
          </a:xfrm>
          <a:prstGeom prst="rect">
            <a:avLst/>
          </a:prstGeom>
          <a:noFill/>
          <a:ln w="0">
            <a:noFill/>
            <a:prstDash val="solid"/>
          </a:ln>
        </p:spPr>
        <p:txBody>
          <a:bodyPr anchor="ctr"/>
          <a:lstStyle/>
          <a:p>
            <a:pPr algn="ctr">
              <a:defRPr sz="1350" b="1">
                <a:solidFill>
                  <a:srgbClr val="171719"/>
                </a:solidFill>
              </a:defRPr>
            </a:pPr>
            <a:r>
              <a:rPr sz="1350" b="1">
                <a:solidFill>
                  <a:srgbClr val="171719"/>
                </a:solidFill>
              </a:rPr>
              <a:t>◎</a:t>
            </a:r>
          </a:p>
        </p:txBody>
      </p:sp>
      <p:sp>
        <p:nvSpPr>
          <p:cNvPr id="28" name="Rectangle 27">
            <a:extLst>
              <a:ext uri="{FF2B5EF4-FFF2-40B4-BE49-F238E27FC236}">
                <a16:creationId xmlns:a16="http://schemas.microsoft.com/office/drawing/2014/main" id="{687369C9-D55E-400D-A6CC-09B9CC8B3A96}"/>
              </a:ext>
            </a:extLst>
          </p:cNvPr>
          <p:cNvSpPr>
            <a:spLocks noGrp="1"/>
          </p:cNvSpPr>
          <p:nvPr/>
        </p:nvSpPr>
        <p:spPr>
          <a:xfrm>
            <a:off x="638175" y="1905000"/>
            <a:ext cx="666750" cy="419100"/>
          </a:xfrm>
          <a:prstGeom prst="rect">
            <a:avLst/>
          </a:prstGeom>
          <a:noFill/>
          <a:ln w="0">
            <a:noFill/>
            <a:prstDash val="solid"/>
          </a:ln>
        </p:spPr>
        <p:txBody>
          <a:bodyPr anchor="ctr"/>
          <a:lstStyle/>
          <a:p>
            <a:pPr algn="ctr">
              <a:defRPr sz="675" b="1">
                <a:solidFill>
                  <a:srgbClr val="171719"/>
                </a:solidFill>
              </a:defRPr>
            </a:pPr>
            <a:r>
              <a:rPr sz="675" b="1">
                <a:solidFill>
                  <a:srgbClr val="171719"/>
                </a:solidFill>
              </a:rPr>
              <a:t>Vodapay</a:t>
            </a:r>
          </a:p>
          <a:p>
            <a:pPr algn="ctr">
              <a:defRPr sz="675" b="1">
                <a:solidFill>
                  <a:srgbClr val="171719"/>
                </a:solidFill>
              </a:defRPr>
            </a:pPr>
            <a:r>
              <a:rPr sz="675" b="1">
                <a:solidFill>
                  <a:srgbClr val="171719"/>
                </a:solidFill>
              </a:rPr>
              <a:t>WebView</a:t>
            </a:r>
          </a:p>
        </p:txBody>
      </p:sp>
      <p:sp>
        <p:nvSpPr>
          <p:cNvPr id="29" name="Rectangle: Rounded Corners 28">
            <a:extLst>
              <a:ext uri="{FF2B5EF4-FFF2-40B4-BE49-F238E27FC236}">
                <a16:creationId xmlns:a16="http://schemas.microsoft.com/office/drawing/2014/main" id="{C68A5DC2-055D-4884-8898-DBB5DC255C54}"/>
              </a:ext>
            </a:extLst>
          </p:cNvPr>
          <p:cNvSpPr>
            <a:spLocks noGrp="1"/>
          </p:cNvSpPr>
          <p:nvPr/>
        </p:nvSpPr>
        <p:spPr>
          <a:xfrm>
            <a:off x="276225" y="2686050"/>
            <a:ext cx="1104900" cy="781050"/>
          </a:xfrm>
          <a:prstGeom prst="roundRect">
            <a:avLst>
              <a:gd name="adj" fmla="val 14634"/>
            </a:avLst>
          </a:prstGeom>
          <a:solidFill>
            <a:srgbClr val="FFFFFF"/>
          </a:solidFill>
          <a:ln w="9525">
            <a:solidFill>
              <a:srgbClr val="C9C9C9"/>
            </a:solidFill>
            <a:prstDash val="solid"/>
          </a:ln>
        </p:spPr>
        <p:txBody>
          <a:bodyPr/>
          <a:lstStyle/>
          <a:p>
            <a:endParaRPr lang="en-ZA"/>
          </a:p>
        </p:txBody>
      </p:sp>
      <p:sp>
        <p:nvSpPr>
          <p:cNvPr id="30" name="Rectangle 29">
            <a:extLst>
              <a:ext uri="{FF2B5EF4-FFF2-40B4-BE49-F238E27FC236}">
                <a16:creationId xmlns:a16="http://schemas.microsoft.com/office/drawing/2014/main" id="{54E76353-99F2-4446-B342-BE8EE9BE12FC}"/>
              </a:ext>
            </a:extLst>
          </p:cNvPr>
          <p:cNvSpPr>
            <a:spLocks noGrp="1"/>
          </p:cNvSpPr>
          <p:nvPr/>
        </p:nvSpPr>
        <p:spPr>
          <a:xfrm>
            <a:off x="361950" y="2838450"/>
            <a:ext cx="247650" cy="381000"/>
          </a:xfrm>
          <a:prstGeom prst="rect">
            <a:avLst/>
          </a:prstGeom>
          <a:noFill/>
          <a:ln w="0">
            <a:noFill/>
            <a:prstDash val="solid"/>
          </a:ln>
        </p:spPr>
        <p:txBody>
          <a:bodyPr anchor="ctr"/>
          <a:lstStyle/>
          <a:p>
            <a:pPr algn="ctr">
              <a:defRPr sz="1350" b="1">
                <a:solidFill>
                  <a:srgbClr val="171719"/>
                </a:solidFill>
              </a:defRPr>
            </a:pPr>
            <a:r>
              <a:rPr sz="1350" b="1">
                <a:solidFill>
                  <a:srgbClr val="171719"/>
                </a:solidFill>
              </a:rPr>
              <a:t>▣</a:t>
            </a:r>
          </a:p>
        </p:txBody>
      </p:sp>
      <p:sp>
        <p:nvSpPr>
          <p:cNvPr id="31" name="Rectangle 30">
            <a:extLst>
              <a:ext uri="{FF2B5EF4-FFF2-40B4-BE49-F238E27FC236}">
                <a16:creationId xmlns:a16="http://schemas.microsoft.com/office/drawing/2014/main" id="{05C13C31-3D9A-4B43-95B3-FD760CE73F8D}"/>
              </a:ext>
            </a:extLst>
          </p:cNvPr>
          <p:cNvSpPr>
            <a:spLocks noGrp="1"/>
          </p:cNvSpPr>
          <p:nvPr/>
        </p:nvSpPr>
        <p:spPr>
          <a:xfrm>
            <a:off x="638175" y="2838450"/>
            <a:ext cx="666750" cy="419100"/>
          </a:xfrm>
          <a:prstGeom prst="rect">
            <a:avLst/>
          </a:prstGeom>
          <a:noFill/>
          <a:ln w="0">
            <a:noFill/>
            <a:prstDash val="solid"/>
          </a:ln>
        </p:spPr>
        <p:txBody>
          <a:bodyPr anchor="ctr"/>
          <a:lstStyle/>
          <a:p>
            <a:pPr algn="ctr">
              <a:defRPr sz="675" b="1">
                <a:solidFill>
                  <a:srgbClr val="171719"/>
                </a:solidFill>
              </a:defRPr>
            </a:pPr>
            <a:r>
              <a:rPr sz="675" b="1">
                <a:solidFill>
                  <a:srgbClr val="171719"/>
                </a:solidFill>
              </a:rPr>
              <a:t>Vodapay</a:t>
            </a:r>
          </a:p>
          <a:p>
            <a:pPr algn="ctr">
              <a:defRPr sz="675" b="1">
                <a:solidFill>
                  <a:srgbClr val="171719"/>
                </a:solidFill>
              </a:defRPr>
            </a:pPr>
            <a:r>
              <a:rPr sz="675" b="1">
                <a:solidFill>
                  <a:srgbClr val="171719"/>
                </a:solidFill>
              </a:rPr>
              <a:t>Native App</a:t>
            </a:r>
          </a:p>
        </p:txBody>
      </p:sp>
      <p:sp>
        <p:nvSpPr>
          <p:cNvPr id="32" name="Rectangle: Rounded Corners 31">
            <a:extLst>
              <a:ext uri="{FF2B5EF4-FFF2-40B4-BE49-F238E27FC236}">
                <a16:creationId xmlns:a16="http://schemas.microsoft.com/office/drawing/2014/main" id="{F42B7B16-6E22-495C-A296-6EBE4F2200EC}"/>
              </a:ext>
            </a:extLst>
          </p:cNvPr>
          <p:cNvSpPr>
            <a:spLocks noGrp="1"/>
          </p:cNvSpPr>
          <p:nvPr/>
        </p:nvSpPr>
        <p:spPr>
          <a:xfrm>
            <a:off x="276225" y="3619500"/>
            <a:ext cx="1104900" cy="781050"/>
          </a:xfrm>
          <a:prstGeom prst="roundRect">
            <a:avLst>
              <a:gd name="adj" fmla="val 14634"/>
            </a:avLst>
          </a:prstGeom>
          <a:solidFill>
            <a:srgbClr val="FFFFFF"/>
          </a:solidFill>
          <a:ln w="9525">
            <a:solidFill>
              <a:srgbClr val="C9C9C9"/>
            </a:solidFill>
            <a:prstDash val="solid"/>
          </a:ln>
        </p:spPr>
        <p:txBody>
          <a:bodyPr/>
          <a:lstStyle/>
          <a:p>
            <a:endParaRPr lang="en-ZA"/>
          </a:p>
        </p:txBody>
      </p:sp>
      <p:sp>
        <p:nvSpPr>
          <p:cNvPr id="33" name="Rectangle 32">
            <a:extLst>
              <a:ext uri="{FF2B5EF4-FFF2-40B4-BE49-F238E27FC236}">
                <a16:creationId xmlns:a16="http://schemas.microsoft.com/office/drawing/2014/main" id="{465B18D1-029E-4F46-9DC5-5EA6D3B6C5FC}"/>
              </a:ext>
            </a:extLst>
          </p:cNvPr>
          <p:cNvSpPr>
            <a:spLocks noGrp="1"/>
          </p:cNvSpPr>
          <p:nvPr/>
        </p:nvSpPr>
        <p:spPr>
          <a:xfrm>
            <a:off x="361950" y="3771900"/>
            <a:ext cx="247650" cy="381000"/>
          </a:xfrm>
          <a:prstGeom prst="rect">
            <a:avLst/>
          </a:prstGeom>
          <a:noFill/>
          <a:ln w="0">
            <a:noFill/>
            <a:prstDash val="solid"/>
          </a:ln>
        </p:spPr>
        <p:txBody>
          <a:bodyPr anchor="ctr"/>
          <a:lstStyle/>
          <a:p>
            <a:pPr algn="ctr">
              <a:defRPr sz="1350" b="1">
                <a:solidFill>
                  <a:srgbClr val="171719"/>
                </a:solidFill>
              </a:defRPr>
            </a:pPr>
            <a:r>
              <a:rPr sz="1350" b="1">
                <a:solidFill>
                  <a:srgbClr val="171719"/>
                </a:solidFill>
              </a:rPr>
              <a:t>●</a:t>
            </a:r>
          </a:p>
        </p:txBody>
      </p:sp>
      <p:sp>
        <p:nvSpPr>
          <p:cNvPr id="34" name="Rectangle 33">
            <a:extLst>
              <a:ext uri="{FF2B5EF4-FFF2-40B4-BE49-F238E27FC236}">
                <a16:creationId xmlns:a16="http://schemas.microsoft.com/office/drawing/2014/main" id="{B85D82E9-FC52-44E3-8606-C591F890FE30}"/>
              </a:ext>
            </a:extLst>
          </p:cNvPr>
          <p:cNvSpPr>
            <a:spLocks noGrp="1"/>
          </p:cNvSpPr>
          <p:nvPr/>
        </p:nvSpPr>
        <p:spPr>
          <a:xfrm>
            <a:off x="638175" y="3771900"/>
            <a:ext cx="666750" cy="419100"/>
          </a:xfrm>
          <a:prstGeom prst="rect">
            <a:avLst/>
          </a:prstGeom>
          <a:noFill/>
          <a:ln w="0">
            <a:noFill/>
            <a:prstDash val="solid"/>
          </a:ln>
        </p:spPr>
        <p:txBody>
          <a:bodyPr anchor="ctr"/>
          <a:lstStyle/>
          <a:p>
            <a:pPr algn="ctr">
              <a:defRPr sz="675" b="1">
                <a:solidFill>
                  <a:srgbClr val="171719"/>
                </a:solidFill>
              </a:defRPr>
            </a:pPr>
            <a:r>
              <a:rPr sz="675" b="1">
                <a:solidFill>
                  <a:srgbClr val="171719"/>
                </a:solidFill>
              </a:rPr>
              <a:t>Other Future</a:t>
            </a:r>
          </a:p>
          <a:p>
            <a:pPr algn="ctr">
              <a:defRPr sz="675" b="1">
                <a:solidFill>
                  <a:srgbClr val="171719"/>
                </a:solidFill>
              </a:defRPr>
            </a:pPr>
            <a:r>
              <a:rPr sz="675" b="1">
                <a:solidFill>
                  <a:srgbClr val="171719"/>
                </a:solidFill>
              </a:rPr>
              <a:t>Digital Channels</a:t>
            </a:r>
          </a:p>
        </p:txBody>
      </p:sp>
      <p:sp>
        <p:nvSpPr>
          <p:cNvPr id="35" name="Rectangle: Rounded Corners 34">
            <a:extLst>
              <a:ext uri="{FF2B5EF4-FFF2-40B4-BE49-F238E27FC236}">
                <a16:creationId xmlns:a16="http://schemas.microsoft.com/office/drawing/2014/main" id="{FE40B30B-8C23-489A-84DA-4F4E18A5353F}"/>
              </a:ext>
            </a:extLst>
          </p:cNvPr>
          <p:cNvSpPr>
            <a:spLocks noGrp="1"/>
          </p:cNvSpPr>
          <p:nvPr/>
        </p:nvSpPr>
        <p:spPr>
          <a:xfrm>
            <a:off x="1847850" y="1752600"/>
            <a:ext cx="914400" cy="1133475"/>
          </a:xfrm>
          <a:prstGeom prst="roundRect">
            <a:avLst>
              <a:gd name="adj" fmla="val 12500"/>
            </a:avLst>
          </a:prstGeom>
          <a:solidFill>
            <a:srgbClr val="FFFFFF"/>
          </a:solidFill>
          <a:ln w="9525">
            <a:solidFill>
              <a:srgbClr val="C9C9C9"/>
            </a:solidFill>
            <a:prstDash val="solid"/>
          </a:ln>
        </p:spPr>
        <p:txBody>
          <a:bodyPr/>
          <a:lstStyle/>
          <a:p>
            <a:endParaRPr lang="en-ZA"/>
          </a:p>
        </p:txBody>
      </p:sp>
      <p:pic>
        <p:nvPicPr>
          <p:cNvPr id="123" name="Picture 122"/>
          <p:cNvPicPr>
            <a:picLocks noChangeAspect="1"/>
          </p:cNvPicPr>
          <p:nvPr/>
        </p:nvPicPr>
        <p:blipFill>
          <a:blip r:embed="rId3"/>
          <a:stretch/>
        </p:blipFill>
        <p:spPr>
          <a:xfrm>
            <a:off x="2026754" y="1828800"/>
            <a:ext cx="556591" cy="609600"/>
          </a:xfrm>
          <a:prstGeom prst="rect">
            <a:avLst/>
          </a:prstGeom>
        </p:spPr>
      </p:pic>
      <p:sp>
        <p:nvSpPr>
          <p:cNvPr id="38" name="Rectangle: Rounded Corners 37">
            <a:extLst>
              <a:ext uri="{FF2B5EF4-FFF2-40B4-BE49-F238E27FC236}">
                <a16:creationId xmlns:a16="http://schemas.microsoft.com/office/drawing/2014/main" id="{7AA3CCFA-DB46-46FD-89FD-761763617BED}"/>
              </a:ext>
            </a:extLst>
          </p:cNvPr>
          <p:cNvSpPr>
            <a:spLocks noGrp="1"/>
          </p:cNvSpPr>
          <p:nvPr/>
        </p:nvSpPr>
        <p:spPr>
          <a:xfrm>
            <a:off x="1847850" y="3009900"/>
            <a:ext cx="914400" cy="981075"/>
          </a:xfrm>
          <a:prstGeom prst="roundRect">
            <a:avLst>
              <a:gd name="adj" fmla="val 12500"/>
            </a:avLst>
          </a:prstGeom>
          <a:solidFill>
            <a:srgbClr val="FFFFFF"/>
          </a:solidFill>
          <a:ln w="9525">
            <a:solidFill>
              <a:srgbClr val="C9C9C9"/>
            </a:solidFill>
            <a:prstDash val="solid"/>
          </a:ln>
        </p:spPr>
        <p:txBody>
          <a:bodyPr/>
          <a:lstStyle/>
          <a:p>
            <a:endParaRPr lang="en-ZA"/>
          </a:p>
        </p:txBody>
      </p:sp>
      <p:sp>
        <p:nvSpPr>
          <p:cNvPr id="39" name="Rectangle 38">
            <a:extLst>
              <a:ext uri="{FF2B5EF4-FFF2-40B4-BE49-F238E27FC236}">
                <a16:creationId xmlns:a16="http://schemas.microsoft.com/office/drawing/2014/main" id="{77F81135-7915-4382-9F73-48B32DD76A60}"/>
              </a:ext>
            </a:extLst>
          </p:cNvPr>
          <p:cNvSpPr>
            <a:spLocks noGrp="1"/>
          </p:cNvSpPr>
          <p:nvPr/>
        </p:nvSpPr>
        <p:spPr>
          <a:xfrm>
            <a:off x="1914525" y="3105150"/>
            <a:ext cx="781050" cy="200025"/>
          </a:xfrm>
          <a:prstGeom prst="rect">
            <a:avLst/>
          </a:prstGeom>
          <a:noFill/>
          <a:ln w="0">
            <a:noFill/>
            <a:prstDash val="solid"/>
          </a:ln>
        </p:spPr>
        <p:txBody>
          <a:bodyPr anchor="ctr"/>
          <a:lstStyle/>
          <a:p>
            <a:pPr algn="ctr">
              <a:defRPr sz="675" b="1">
                <a:solidFill>
                  <a:srgbClr val="171719"/>
                </a:solidFill>
              </a:defRPr>
            </a:pPr>
            <a:r>
              <a:rPr sz="675" b="1">
                <a:solidFill>
                  <a:srgbClr val="171719"/>
                </a:solidFill>
              </a:rPr>
              <a:t>Client-Side Collection</a:t>
            </a:r>
          </a:p>
        </p:txBody>
      </p:sp>
      <p:sp>
        <p:nvSpPr>
          <p:cNvPr id="40" name="Rectangle 39">
            <a:extLst>
              <a:ext uri="{FF2B5EF4-FFF2-40B4-BE49-F238E27FC236}">
                <a16:creationId xmlns:a16="http://schemas.microsoft.com/office/drawing/2014/main" id="{F1B84022-7840-490C-A890-48886C19A38B}"/>
              </a:ext>
            </a:extLst>
          </p:cNvPr>
          <p:cNvSpPr>
            <a:spLocks noGrp="1"/>
          </p:cNvSpPr>
          <p:nvPr/>
        </p:nvSpPr>
        <p:spPr>
          <a:xfrm>
            <a:off x="1914525" y="3371850"/>
            <a:ext cx="781050" cy="476250"/>
          </a:xfrm>
          <a:prstGeom prst="rect">
            <a:avLst/>
          </a:prstGeom>
          <a:noFill/>
          <a:ln w="0">
            <a:noFill/>
            <a:prstDash val="solid"/>
          </a:ln>
        </p:spPr>
        <p:txBody>
          <a:bodyPr anchor="ctr"/>
          <a:lstStyle/>
          <a:p>
            <a:pPr algn="ctr">
              <a:defRPr sz="525" b="0">
                <a:solidFill>
                  <a:srgbClr val="444444"/>
                </a:solidFill>
              </a:defRPr>
            </a:pPr>
            <a:r>
              <a:rPr sz="525" b="0">
                <a:solidFill>
                  <a:srgbClr val="444444"/>
                </a:solidFill>
              </a:rPr>
              <a:t>Views • clicks • forms</a:t>
            </a:r>
          </a:p>
          <a:p>
            <a:pPr algn="ctr">
              <a:defRPr sz="525" b="0">
                <a:solidFill>
                  <a:srgbClr val="444444"/>
                </a:solidFill>
              </a:defRPr>
            </a:pPr>
            <a:r>
              <a:rPr sz="525" b="0">
                <a:solidFill>
                  <a:srgbClr val="444444"/>
                </a:solidFill>
              </a:rPr>
              <a:t>journeys • attributes</a:t>
            </a:r>
          </a:p>
          <a:p>
            <a:pPr algn="ctr">
              <a:defRPr sz="525" b="0">
                <a:solidFill>
                  <a:srgbClr val="444444"/>
                </a:solidFill>
              </a:defRPr>
            </a:pPr>
            <a:r>
              <a:rPr sz="525" b="0">
                <a:solidFill>
                  <a:srgbClr val="444444"/>
                </a:solidFill>
              </a:rPr>
              <a:t>custom events</a:t>
            </a:r>
          </a:p>
          <a:p>
            <a:pPr algn="ctr">
              <a:defRPr sz="525" b="0">
                <a:solidFill>
                  <a:srgbClr val="444444"/>
                </a:solidFill>
              </a:defRPr>
            </a:pPr>
            <a:r>
              <a:rPr sz="525" b="0">
                <a:solidFill>
                  <a:srgbClr val="444444"/>
                </a:solidFill>
              </a:rPr>
              <a:t>device / user / OS</a:t>
            </a:r>
          </a:p>
        </p:txBody>
      </p:sp>
      <p:sp>
        <p:nvSpPr>
          <p:cNvPr id="41" name="Rectangle: Rounded Corners 40">
            <a:extLst>
              <a:ext uri="{FF2B5EF4-FFF2-40B4-BE49-F238E27FC236}">
                <a16:creationId xmlns:a16="http://schemas.microsoft.com/office/drawing/2014/main" id="{9E02606C-FFD3-4940-85D4-88127976DCDD}"/>
              </a:ext>
            </a:extLst>
          </p:cNvPr>
          <p:cNvSpPr>
            <a:spLocks noGrp="1"/>
          </p:cNvSpPr>
          <p:nvPr/>
        </p:nvSpPr>
        <p:spPr>
          <a:xfrm>
            <a:off x="1847850" y="4105275"/>
            <a:ext cx="914400" cy="514350"/>
          </a:xfrm>
          <a:prstGeom prst="roundRect">
            <a:avLst>
              <a:gd name="adj" fmla="val 22222"/>
            </a:avLst>
          </a:prstGeom>
          <a:solidFill>
            <a:srgbClr val="FFFFFF"/>
          </a:solidFill>
          <a:ln w="9525">
            <a:solidFill>
              <a:srgbClr val="C9C9C9"/>
            </a:solidFill>
            <a:prstDash val="solid"/>
          </a:ln>
        </p:spPr>
        <p:txBody>
          <a:bodyPr/>
          <a:lstStyle/>
          <a:p>
            <a:endParaRPr lang="en-ZA"/>
          </a:p>
        </p:txBody>
      </p:sp>
      <p:sp>
        <p:nvSpPr>
          <p:cNvPr id="42" name="Rectangle 41">
            <a:extLst>
              <a:ext uri="{FF2B5EF4-FFF2-40B4-BE49-F238E27FC236}">
                <a16:creationId xmlns:a16="http://schemas.microsoft.com/office/drawing/2014/main" id="{AC11A15B-176B-4730-AF75-9D4A420AA4CC}"/>
              </a:ext>
            </a:extLst>
          </p:cNvPr>
          <p:cNvSpPr>
            <a:spLocks noGrp="1"/>
          </p:cNvSpPr>
          <p:nvPr/>
        </p:nvSpPr>
        <p:spPr>
          <a:xfrm>
            <a:off x="1885949" y="4186237"/>
            <a:ext cx="838200" cy="142876"/>
          </a:xfrm>
          <a:prstGeom prst="rect">
            <a:avLst/>
          </a:prstGeom>
          <a:noFill/>
          <a:ln w="0">
            <a:noFill/>
            <a:prstDash val="solid"/>
          </a:ln>
        </p:spPr>
        <p:txBody>
          <a:bodyPr anchor="ctr"/>
          <a:lstStyle/>
          <a:p>
            <a:pPr algn="ctr">
              <a:defRPr sz="750" b="1">
                <a:solidFill>
                  <a:srgbClr val="171719"/>
                </a:solidFill>
              </a:defRPr>
            </a:pPr>
            <a:r>
              <a:rPr sz="700" b="1" dirty="0">
                <a:solidFill>
                  <a:srgbClr val="171719"/>
                </a:solidFill>
              </a:rPr>
              <a:t>&lt;/&gt;  Tealium Tag</a:t>
            </a:r>
          </a:p>
          <a:p>
            <a:pPr algn="ctr">
              <a:defRPr sz="750" b="1">
                <a:solidFill>
                  <a:srgbClr val="171719"/>
                </a:solidFill>
              </a:defRPr>
            </a:pPr>
            <a:r>
              <a:rPr sz="700" b="1" dirty="0">
                <a:solidFill>
                  <a:srgbClr val="171719"/>
                </a:solidFill>
              </a:rPr>
              <a:t>(JavaScript)</a:t>
            </a:r>
          </a:p>
        </p:txBody>
      </p:sp>
      <p:sp>
        <p:nvSpPr>
          <p:cNvPr id="43" name="Rectangle 42">
            <a:extLst>
              <a:ext uri="{FF2B5EF4-FFF2-40B4-BE49-F238E27FC236}">
                <a16:creationId xmlns:a16="http://schemas.microsoft.com/office/drawing/2014/main" id="{40ABB616-B438-4A1E-90E4-1D9816132029}"/>
              </a:ext>
            </a:extLst>
          </p:cNvPr>
          <p:cNvSpPr>
            <a:spLocks noGrp="1"/>
          </p:cNvSpPr>
          <p:nvPr/>
        </p:nvSpPr>
        <p:spPr>
          <a:xfrm>
            <a:off x="1914525" y="4448175"/>
            <a:ext cx="781050" cy="123825"/>
          </a:xfrm>
          <a:prstGeom prst="rect">
            <a:avLst/>
          </a:prstGeom>
          <a:noFill/>
          <a:ln w="0">
            <a:noFill/>
            <a:prstDash val="solid"/>
          </a:ln>
        </p:spPr>
        <p:txBody>
          <a:bodyPr anchor="ctr"/>
          <a:lstStyle/>
          <a:p>
            <a:pPr algn="ctr">
              <a:defRPr sz="525" b="0">
                <a:solidFill>
                  <a:srgbClr val="555555"/>
                </a:solidFill>
              </a:defRPr>
            </a:pPr>
            <a:r>
              <a:rPr sz="525" b="0">
                <a:solidFill>
                  <a:srgbClr val="555555"/>
                </a:solidFill>
              </a:rPr>
              <a:t>Sends events to endpoint</a:t>
            </a:r>
          </a:p>
        </p:txBody>
      </p:sp>
      <p:sp>
        <p:nvSpPr>
          <p:cNvPr id="44" name="Rectangle: Rounded Corners 43">
            <a:extLst>
              <a:ext uri="{FF2B5EF4-FFF2-40B4-BE49-F238E27FC236}">
                <a16:creationId xmlns:a16="http://schemas.microsoft.com/office/drawing/2014/main" id="{B647C4E0-E710-4AD9-8D33-BCB031EBE7B9}"/>
              </a:ext>
            </a:extLst>
          </p:cNvPr>
          <p:cNvSpPr>
            <a:spLocks noGrp="1"/>
          </p:cNvSpPr>
          <p:nvPr/>
        </p:nvSpPr>
        <p:spPr>
          <a:xfrm>
            <a:off x="3219450" y="1752600"/>
            <a:ext cx="914400" cy="1704975"/>
          </a:xfrm>
          <a:prstGeom prst="roundRect">
            <a:avLst>
              <a:gd name="adj" fmla="val 12500"/>
            </a:avLst>
          </a:prstGeom>
          <a:solidFill>
            <a:srgbClr val="FFFFFF"/>
          </a:solidFill>
          <a:ln w="9525">
            <a:solidFill>
              <a:srgbClr val="C9C9C9"/>
            </a:solidFill>
            <a:prstDash val="solid"/>
          </a:ln>
        </p:spPr>
        <p:txBody>
          <a:bodyPr/>
          <a:lstStyle/>
          <a:p>
            <a:endParaRPr lang="en-ZA"/>
          </a:p>
        </p:txBody>
      </p:sp>
      <p:pic>
        <p:nvPicPr>
          <p:cNvPr id="132" name="Picture 131"/>
          <p:cNvPicPr>
            <a:picLocks noChangeAspect="1"/>
          </p:cNvPicPr>
          <p:nvPr/>
        </p:nvPicPr>
        <p:blipFill>
          <a:blip r:embed="rId4"/>
          <a:stretch/>
        </p:blipFill>
        <p:spPr>
          <a:xfrm>
            <a:off x="3429000" y="1819275"/>
            <a:ext cx="495300" cy="495300"/>
          </a:xfrm>
          <a:prstGeom prst="rect">
            <a:avLst/>
          </a:prstGeom>
        </p:spPr>
      </p:pic>
      <p:sp>
        <p:nvSpPr>
          <p:cNvPr id="46" name="Rectangle 45">
            <a:extLst>
              <a:ext uri="{FF2B5EF4-FFF2-40B4-BE49-F238E27FC236}">
                <a16:creationId xmlns:a16="http://schemas.microsoft.com/office/drawing/2014/main" id="{875637EA-C016-4A45-AC85-250BF046B9A5}"/>
              </a:ext>
            </a:extLst>
          </p:cNvPr>
          <p:cNvSpPr>
            <a:spLocks noGrp="1"/>
          </p:cNvSpPr>
          <p:nvPr/>
        </p:nvSpPr>
        <p:spPr>
          <a:xfrm>
            <a:off x="3295650" y="2343150"/>
            <a:ext cx="762000" cy="200025"/>
          </a:xfrm>
          <a:prstGeom prst="rect">
            <a:avLst/>
          </a:prstGeom>
          <a:noFill/>
          <a:ln w="0">
            <a:noFill/>
            <a:prstDash val="solid"/>
          </a:ln>
        </p:spPr>
        <p:txBody>
          <a:bodyPr anchor="ctr"/>
          <a:lstStyle/>
          <a:p>
            <a:pPr algn="ctr">
              <a:defRPr sz="825" b="1">
                <a:solidFill>
                  <a:srgbClr val="171719"/>
                </a:solidFill>
              </a:defRPr>
            </a:pPr>
            <a:r>
              <a:rPr sz="825" b="1">
                <a:solidFill>
                  <a:srgbClr val="171719"/>
                </a:solidFill>
              </a:rPr>
              <a:t>AWS WAF</a:t>
            </a:r>
          </a:p>
        </p:txBody>
      </p:sp>
      <p:sp>
        <p:nvSpPr>
          <p:cNvPr id="47" name="Rectangle 46">
            <a:extLst>
              <a:ext uri="{FF2B5EF4-FFF2-40B4-BE49-F238E27FC236}">
                <a16:creationId xmlns:a16="http://schemas.microsoft.com/office/drawing/2014/main" id="{4E8B1FBB-EC4C-483B-965D-6A9AC426D3FE}"/>
              </a:ext>
            </a:extLst>
          </p:cNvPr>
          <p:cNvSpPr>
            <a:spLocks noGrp="1"/>
          </p:cNvSpPr>
          <p:nvPr/>
        </p:nvSpPr>
        <p:spPr>
          <a:xfrm>
            <a:off x="3295650" y="2628900"/>
            <a:ext cx="762000" cy="685800"/>
          </a:xfrm>
          <a:prstGeom prst="rect">
            <a:avLst/>
          </a:prstGeom>
          <a:noFill/>
          <a:ln w="0">
            <a:noFill/>
            <a:prstDash val="solid"/>
          </a:ln>
        </p:spPr>
        <p:txBody>
          <a:bodyPr anchor="ctr"/>
          <a:lstStyle/>
          <a:p>
            <a:pPr algn="ctr">
              <a:defRPr sz="600" b="0">
                <a:solidFill>
                  <a:srgbClr val="444444"/>
                </a:solidFill>
              </a:defRPr>
            </a:pPr>
            <a:r>
              <a:rPr sz="600" b="0">
                <a:solidFill>
                  <a:srgbClr val="444444"/>
                </a:solidFill>
              </a:rPr>
              <a:t>Protects ingestion endpoint</a:t>
            </a:r>
          </a:p>
          <a:p>
            <a:pPr algn="ctr">
              <a:defRPr sz="600" b="0">
                <a:solidFill>
                  <a:srgbClr val="444444"/>
                </a:solidFill>
              </a:defRPr>
            </a:pPr>
            <a:r>
              <a:rPr sz="600" b="0">
                <a:solidFill>
                  <a:srgbClr val="444444"/>
                </a:solidFill>
              </a:rPr>
              <a:t>• filters malicious requests</a:t>
            </a:r>
          </a:p>
          <a:p>
            <a:pPr algn="ctr">
              <a:defRPr sz="600" b="0">
                <a:solidFill>
                  <a:srgbClr val="444444"/>
                </a:solidFill>
              </a:defRPr>
            </a:pPr>
            <a:r>
              <a:rPr sz="600" b="0">
                <a:solidFill>
                  <a:srgbClr val="444444"/>
                </a:solidFill>
              </a:rPr>
              <a:t>• rate limiting</a:t>
            </a:r>
          </a:p>
          <a:p>
            <a:pPr algn="ctr">
              <a:defRPr sz="600" b="0">
                <a:solidFill>
                  <a:srgbClr val="444444"/>
                </a:solidFill>
              </a:defRPr>
            </a:pPr>
            <a:r>
              <a:rPr sz="600" b="0">
                <a:solidFill>
                  <a:srgbClr val="444444"/>
                </a:solidFill>
              </a:rPr>
              <a:t>• IP reputation + geo rules</a:t>
            </a:r>
          </a:p>
          <a:p>
            <a:pPr algn="ctr">
              <a:defRPr sz="600" b="0">
                <a:solidFill>
                  <a:srgbClr val="444444"/>
                </a:solidFill>
              </a:defRPr>
            </a:pPr>
            <a:r>
              <a:rPr sz="600" b="0">
                <a:solidFill>
                  <a:srgbClr val="444444"/>
                </a:solidFill>
              </a:rPr>
              <a:t>• bot control</a:t>
            </a:r>
          </a:p>
        </p:txBody>
      </p:sp>
      <p:sp>
        <p:nvSpPr>
          <p:cNvPr id="48" name="Rectangle: Rounded Corners 47">
            <a:extLst>
              <a:ext uri="{FF2B5EF4-FFF2-40B4-BE49-F238E27FC236}">
                <a16:creationId xmlns:a16="http://schemas.microsoft.com/office/drawing/2014/main" id="{498BA2FC-1674-481A-8F30-AB345F8267AB}"/>
              </a:ext>
            </a:extLst>
          </p:cNvPr>
          <p:cNvSpPr>
            <a:spLocks noGrp="1"/>
          </p:cNvSpPr>
          <p:nvPr/>
        </p:nvSpPr>
        <p:spPr>
          <a:xfrm>
            <a:off x="3219450" y="3571875"/>
            <a:ext cx="914400" cy="1047750"/>
          </a:xfrm>
          <a:prstGeom prst="roundRect">
            <a:avLst>
              <a:gd name="adj" fmla="val 12500"/>
            </a:avLst>
          </a:prstGeom>
          <a:solidFill>
            <a:srgbClr val="FFFFFF"/>
          </a:solidFill>
          <a:ln w="9525">
            <a:solidFill>
              <a:srgbClr val="C9C9C9"/>
            </a:solidFill>
            <a:prstDash val="solid"/>
          </a:ln>
        </p:spPr>
        <p:txBody>
          <a:bodyPr/>
          <a:lstStyle/>
          <a:p>
            <a:endParaRPr lang="en-ZA"/>
          </a:p>
        </p:txBody>
      </p:sp>
      <p:pic>
        <p:nvPicPr>
          <p:cNvPr id="136" name="Picture 135"/>
          <p:cNvPicPr>
            <a:picLocks noChangeAspect="1"/>
          </p:cNvPicPr>
          <p:nvPr/>
        </p:nvPicPr>
        <p:blipFill>
          <a:blip r:embed="rId5"/>
          <a:stretch/>
        </p:blipFill>
        <p:spPr>
          <a:xfrm>
            <a:off x="3486150" y="3629025"/>
            <a:ext cx="381000" cy="381000"/>
          </a:xfrm>
          <a:prstGeom prst="rect">
            <a:avLst/>
          </a:prstGeom>
        </p:spPr>
      </p:pic>
      <p:sp>
        <p:nvSpPr>
          <p:cNvPr id="50" name="Rectangle 49">
            <a:extLst>
              <a:ext uri="{FF2B5EF4-FFF2-40B4-BE49-F238E27FC236}">
                <a16:creationId xmlns:a16="http://schemas.microsoft.com/office/drawing/2014/main" id="{908FE38C-04A2-4DC7-B896-379CA6A14631}"/>
              </a:ext>
            </a:extLst>
          </p:cNvPr>
          <p:cNvSpPr>
            <a:spLocks noGrp="1"/>
          </p:cNvSpPr>
          <p:nvPr/>
        </p:nvSpPr>
        <p:spPr>
          <a:xfrm>
            <a:off x="3295650" y="4029075"/>
            <a:ext cx="762000" cy="190500"/>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API Gateway</a:t>
            </a:r>
          </a:p>
        </p:txBody>
      </p:sp>
      <p:sp>
        <p:nvSpPr>
          <p:cNvPr id="51" name="Rectangle 50">
            <a:extLst>
              <a:ext uri="{FF2B5EF4-FFF2-40B4-BE49-F238E27FC236}">
                <a16:creationId xmlns:a16="http://schemas.microsoft.com/office/drawing/2014/main" id="{10627B1E-F519-4430-89C8-F3BE4F45121C}"/>
              </a:ext>
            </a:extLst>
          </p:cNvPr>
          <p:cNvSpPr>
            <a:spLocks noGrp="1"/>
          </p:cNvSpPr>
          <p:nvPr/>
        </p:nvSpPr>
        <p:spPr>
          <a:xfrm>
            <a:off x="3295650" y="4257675"/>
            <a:ext cx="762000" cy="295275"/>
          </a:xfrm>
          <a:prstGeom prst="rect">
            <a:avLst/>
          </a:prstGeom>
          <a:noFill/>
          <a:ln w="0">
            <a:noFill/>
            <a:prstDash val="solid"/>
          </a:ln>
        </p:spPr>
        <p:txBody>
          <a:bodyPr anchor="ctr"/>
          <a:lstStyle/>
          <a:p>
            <a:pPr algn="ctr">
              <a:defRPr sz="600" b="0">
                <a:solidFill>
                  <a:srgbClr val="444444"/>
                </a:solidFill>
              </a:defRPr>
            </a:pPr>
            <a:r>
              <a:rPr sz="600" b="0">
                <a:solidFill>
                  <a:srgbClr val="444444"/>
                </a:solidFill>
              </a:rPr>
              <a:t>HTTPS • validation</a:t>
            </a:r>
          </a:p>
          <a:p>
            <a:pPr algn="ctr">
              <a:defRPr sz="600" b="0">
                <a:solidFill>
                  <a:srgbClr val="444444"/>
                </a:solidFill>
              </a:defRPr>
            </a:pPr>
            <a:r>
              <a:rPr sz="600" b="0">
                <a:solidFill>
                  <a:srgbClr val="444444"/>
                </a:solidFill>
              </a:rPr>
              <a:t>throttling • auth</a:t>
            </a:r>
          </a:p>
          <a:p>
            <a:pPr algn="ctr">
              <a:defRPr sz="600" b="0">
                <a:solidFill>
                  <a:srgbClr val="444444"/>
                </a:solidFill>
              </a:defRPr>
            </a:pPr>
            <a:r>
              <a:rPr sz="600" b="0">
                <a:solidFill>
                  <a:srgbClr val="444444"/>
                </a:solidFill>
              </a:rPr>
              <a:t>monitoring + logging</a:t>
            </a:r>
          </a:p>
        </p:txBody>
      </p:sp>
      <p:sp>
        <p:nvSpPr>
          <p:cNvPr id="53" name="Rectangle: Rounded Corners 52">
            <a:extLst>
              <a:ext uri="{FF2B5EF4-FFF2-40B4-BE49-F238E27FC236}">
                <a16:creationId xmlns:a16="http://schemas.microsoft.com/office/drawing/2014/main" id="{1547A0A5-7307-4908-8567-2158A22CF3DB}"/>
              </a:ext>
            </a:extLst>
          </p:cNvPr>
          <p:cNvSpPr>
            <a:spLocks noGrp="1"/>
          </p:cNvSpPr>
          <p:nvPr/>
        </p:nvSpPr>
        <p:spPr>
          <a:xfrm>
            <a:off x="4638675" y="2081212"/>
            <a:ext cx="1028700" cy="1857375"/>
          </a:xfrm>
          <a:prstGeom prst="roundRect">
            <a:avLst>
              <a:gd name="adj" fmla="val 11111"/>
            </a:avLst>
          </a:prstGeom>
          <a:solidFill>
            <a:srgbClr val="FFFFFF"/>
          </a:solidFill>
          <a:ln w="9525">
            <a:solidFill>
              <a:srgbClr val="E4B34F"/>
            </a:solidFill>
            <a:prstDash val="solid"/>
          </a:ln>
        </p:spPr>
        <p:txBody>
          <a:bodyPr/>
          <a:lstStyle/>
          <a:p>
            <a:endParaRPr lang="en-ZA"/>
          </a:p>
        </p:txBody>
      </p:sp>
      <p:pic>
        <p:nvPicPr>
          <p:cNvPr id="141" name="Picture 140"/>
          <p:cNvPicPr>
            <a:picLocks noChangeAspect="1"/>
          </p:cNvPicPr>
          <p:nvPr/>
        </p:nvPicPr>
        <p:blipFill>
          <a:blip r:embed="rId6"/>
          <a:stretch/>
        </p:blipFill>
        <p:spPr>
          <a:xfrm>
            <a:off x="4819650" y="2214562"/>
            <a:ext cx="666750" cy="666750"/>
          </a:xfrm>
          <a:prstGeom prst="rect">
            <a:avLst/>
          </a:prstGeom>
        </p:spPr>
      </p:pic>
      <p:sp>
        <p:nvSpPr>
          <p:cNvPr id="55" name="Rectangle 54">
            <a:extLst>
              <a:ext uri="{FF2B5EF4-FFF2-40B4-BE49-F238E27FC236}">
                <a16:creationId xmlns:a16="http://schemas.microsoft.com/office/drawing/2014/main" id="{7DDA66C5-329D-4088-BF39-D1D4DFCFF391}"/>
              </a:ext>
            </a:extLst>
          </p:cNvPr>
          <p:cNvSpPr>
            <a:spLocks noGrp="1"/>
          </p:cNvSpPr>
          <p:nvPr/>
        </p:nvSpPr>
        <p:spPr>
          <a:xfrm>
            <a:off x="4714875" y="2909887"/>
            <a:ext cx="876300" cy="228600"/>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Kinesis Data Firehose</a:t>
            </a:r>
          </a:p>
        </p:txBody>
      </p:sp>
      <p:sp>
        <p:nvSpPr>
          <p:cNvPr id="56" name="Rectangle 55">
            <a:extLst>
              <a:ext uri="{FF2B5EF4-FFF2-40B4-BE49-F238E27FC236}">
                <a16:creationId xmlns:a16="http://schemas.microsoft.com/office/drawing/2014/main" id="{C1C9198B-1A23-469E-8889-B5B853D890F2}"/>
              </a:ext>
            </a:extLst>
          </p:cNvPr>
          <p:cNvSpPr>
            <a:spLocks noGrp="1"/>
          </p:cNvSpPr>
          <p:nvPr/>
        </p:nvSpPr>
        <p:spPr>
          <a:xfrm>
            <a:off x="4724400" y="3195637"/>
            <a:ext cx="857250" cy="533400"/>
          </a:xfrm>
          <a:prstGeom prst="rect">
            <a:avLst/>
          </a:prstGeom>
          <a:noFill/>
          <a:ln w="0">
            <a:noFill/>
            <a:prstDash val="solid"/>
          </a:ln>
        </p:spPr>
        <p:txBody>
          <a:bodyPr anchor="ctr"/>
          <a:lstStyle/>
          <a:p>
            <a:pPr algn="ctr">
              <a:defRPr sz="600" b="0">
                <a:solidFill>
                  <a:srgbClr val="444444"/>
                </a:solidFill>
              </a:defRPr>
            </a:pPr>
            <a:r>
              <a:rPr sz="600" b="0" dirty="0">
                <a:solidFill>
                  <a:srgbClr val="444444"/>
                </a:solidFill>
              </a:rPr>
              <a:t>Receives events from API Gateway</a:t>
            </a:r>
          </a:p>
          <a:p>
            <a:pPr algn="ctr">
              <a:defRPr sz="600" b="0">
                <a:solidFill>
                  <a:srgbClr val="444444"/>
                </a:solidFill>
              </a:defRPr>
            </a:pPr>
            <a:r>
              <a:rPr sz="600" b="0" dirty="0">
                <a:solidFill>
                  <a:srgbClr val="444444"/>
                </a:solidFill>
              </a:rPr>
              <a:t>Buffers, batches + compresses</a:t>
            </a:r>
          </a:p>
          <a:p>
            <a:pPr algn="ctr">
              <a:defRPr sz="600" b="0">
                <a:solidFill>
                  <a:srgbClr val="444444"/>
                </a:solidFill>
              </a:defRPr>
            </a:pPr>
            <a:r>
              <a:rPr sz="600" b="0" dirty="0">
                <a:solidFill>
                  <a:srgbClr val="444444"/>
                </a:solidFill>
              </a:rPr>
              <a:t>Delivers to S3</a:t>
            </a:r>
          </a:p>
        </p:txBody>
      </p:sp>
      <p:sp>
        <p:nvSpPr>
          <p:cNvPr id="57" name="Rectangle: Rounded Corners 56">
            <a:extLst>
              <a:ext uri="{FF2B5EF4-FFF2-40B4-BE49-F238E27FC236}">
                <a16:creationId xmlns:a16="http://schemas.microsoft.com/office/drawing/2014/main" id="{0F4A0772-BF86-4A8E-AB7E-236297B07320}"/>
              </a:ext>
            </a:extLst>
          </p:cNvPr>
          <p:cNvSpPr>
            <a:spLocks noGrp="1"/>
          </p:cNvSpPr>
          <p:nvPr/>
        </p:nvSpPr>
        <p:spPr>
          <a:xfrm>
            <a:off x="6172200" y="1752600"/>
            <a:ext cx="1009650" cy="2876550"/>
          </a:xfrm>
          <a:prstGeom prst="roundRect">
            <a:avLst>
              <a:gd name="adj" fmla="val 11321"/>
            </a:avLst>
          </a:prstGeom>
          <a:solidFill>
            <a:srgbClr val="FFFFFF"/>
          </a:solidFill>
          <a:ln w="9525">
            <a:solidFill>
              <a:srgbClr val="C9C9C9"/>
            </a:solidFill>
            <a:prstDash val="solid"/>
          </a:ln>
        </p:spPr>
        <p:txBody>
          <a:bodyPr/>
          <a:lstStyle/>
          <a:p>
            <a:endParaRPr lang="en-ZA"/>
          </a:p>
        </p:txBody>
      </p:sp>
      <p:pic>
        <p:nvPicPr>
          <p:cNvPr id="145" name="Picture 144"/>
          <p:cNvPicPr>
            <a:picLocks noChangeAspect="1"/>
          </p:cNvPicPr>
          <p:nvPr/>
        </p:nvPicPr>
        <p:blipFill>
          <a:blip r:embed="rId7"/>
          <a:stretch/>
        </p:blipFill>
        <p:spPr>
          <a:xfrm>
            <a:off x="6419850" y="1838325"/>
            <a:ext cx="514350" cy="514350"/>
          </a:xfrm>
          <a:prstGeom prst="rect">
            <a:avLst/>
          </a:prstGeom>
        </p:spPr>
      </p:pic>
      <p:sp>
        <p:nvSpPr>
          <p:cNvPr id="59" name="Rectangle 58">
            <a:extLst>
              <a:ext uri="{FF2B5EF4-FFF2-40B4-BE49-F238E27FC236}">
                <a16:creationId xmlns:a16="http://schemas.microsoft.com/office/drawing/2014/main" id="{CB80D0AC-2095-4FFC-ABB2-66028CC4030A}"/>
              </a:ext>
            </a:extLst>
          </p:cNvPr>
          <p:cNvSpPr>
            <a:spLocks noGrp="1"/>
          </p:cNvSpPr>
          <p:nvPr/>
        </p:nvSpPr>
        <p:spPr>
          <a:xfrm>
            <a:off x="6238875" y="2409825"/>
            <a:ext cx="876300" cy="295275"/>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S3 Raw Bucket</a:t>
            </a:r>
          </a:p>
          <a:p>
            <a:pPr algn="ctr">
              <a:defRPr sz="750" b="1">
                <a:solidFill>
                  <a:srgbClr val="171719"/>
                </a:solidFill>
              </a:defRPr>
            </a:pPr>
            <a:r>
              <a:rPr sz="750" b="1">
                <a:solidFill>
                  <a:srgbClr val="171719"/>
                </a:solidFill>
              </a:rPr>
              <a:t>(Landing Zone)</a:t>
            </a:r>
          </a:p>
        </p:txBody>
      </p:sp>
      <p:sp>
        <p:nvSpPr>
          <p:cNvPr id="60" name="Rectangle 59">
            <a:extLst>
              <a:ext uri="{FF2B5EF4-FFF2-40B4-BE49-F238E27FC236}">
                <a16:creationId xmlns:a16="http://schemas.microsoft.com/office/drawing/2014/main" id="{91705066-CFA7-4EE3-9519-18B3B15CE61F}"/>
              </a:ext>
            </a:extLst>
          </p:cNvPr>
          <p:cNvSpPr>
            <a:spLocks noGrp="1"/>
          </p:cNvSpPr>
          <p:nvPr/>
        </p:nvSpPr>
        <p:spPr>
          <a:xfrm>
            <a:off x="6238875" y="2857500"/>
            <a:ext cx="876300" cy="485775"/>
          </a:xfrm>
          <a:prstGeom prst="rect">
            <a:avLst/>
          </a:prstGeom>
          <a:noFill/>
          <a:ln w="0">
            <a:noFill/>
            <a:prstDash val="solid"/>
          </a:ln>
        </p:spPr>
        <p:txBody>
          <a:bodyPr anchor="ctr"/>
          <a:lstStyle/>
          <a:p>
            <a:pPr algn="ctr">
              <a:defRPr sz="600" b="0">
                <a:solidFill>
                  <a:srgbClr val="444444"/>
                </a:solidFill>
              </a:defRPr>
            </a:pPr>
            <a:r>
              <a:rPr sz="600" b="0" dirty="0">
                <a:solidFill>
                  <a:srgbClr val="444444"/>
                </a:solidFill>
              </a:rPr>
              <a:t>• Original events received</a:t>
            </a:r>
          </a:p>
          <a:p>
            <a:pPr algn="ctr">
              <a:defRPr sz="600" b="0">
                <a:solidFill>
                  <a:srgbClr val="444444"/>
                </a:solidFill>
              </a:defRPr>
            </a:pPr>
            <a:r>
              <a:rPr sz="600" b="0" dirty="0">
                <a:solidFill>
                  <a:srgbClr val="444444"/>
                </a:solidFill>
              </a:rPr>
              <a:t>• Partitioned by date/hour</a:t>
            </a:r>
          </a:p>
        </p:txBody>
      </p:sp>
      <p:sp>
        <p:nvSpPr>
          <p:cNvPr id="61" name="Rectangle 60">
            <a:extLst>
              <a:ext uri="{FF2B5EF4-FFF2-40B4-BE49-F238E27FC236}">
                <a16:creationId xmlns:a16="http://schemas.microsoft.com/office/drawing/2014/main" id="{DCA61A71-DE45-4B9A-BA5B-9CFA8C1304BD}"/>
              </a:ext>
            </a:extLst>
          </p:cNvPr>
          <p:cNvSpPr>
            <a:spLocks noGrp="1"/>
          </p:cNvSpPr>
          <p:nvPr/>
        </p:nvSpPr>
        <p:spPr>
          <a:xfrm>
            <a:off x="6334125" y="3652837"/>
            <a:ext cx="876300" cy="809625"/>
          </a:xfrm>
          <a:prstGeom prst="rect">
            <a:avLst/>
          </a:prstGeom>
          <a:noFill/>
          <a:ln w="0">
            <a:noFill/>
            <a:prstDash val="solid"/>
          </a:ln>
        </p:spPr>
        <p:txBody>
          <a:bodyPr anchor="ctr"/>
          <a:lstStyle/>
          <a:p>
            <a:pPr algn="l">
              <a:defRPr sz="600" b="0">
                <a:solidFill>
                  <a:srgbClr val="355D2C"/>
                </a:solidFill>
              </a:defRPr>
            </a:pPr>
            <a:r>
              <a:rPr sz="600" b="0" dirty="0">
                <a:solidFill>
                  <a:srgbClr val="355D2C"/>
                </a:solidFill>
              </a:rPr>
              <a:t>s3://vodapay-analytics-raw/</a:t>
            </a:r>
          </a:p>
          <a:p>
            <a:pPr algn="l">
              <a:defRPr sz="600" b="0">
                <a:solidFill>
                  <a:srgbClr val="355D2C"/>
                </a:solidFill>
              </a:defRPr>
            </a:pPr>
            <a:r>
              <a:rPr sz="600" b="0" dirty="0">
                <a:solidFill>
                  <a:srgbClr val="355D2C"/>
                </a:solidFill>
              </a:rPr>
              <a:t>└ year=2026/</a:t>
            </a:r>
          </a:p>
          <a:p>
            <a:pPr algn="l">
              <a:defRPr sz="600" b="0">
                <a:solidFill>
                  <a:srgbClr val="355D2C"/>
                </a:solidFill>
              </a:defRPr>
            </a:pPr>
            <a:r>
              <a:rPr sz="600" b="0" dirty="0">
                <a:solidFill>
                  <a:srgbClr val="355D2C"/>
                </a:solidFill>
              </a:rPr>
              <a:t>   └ month=08/</a:t>
            </a:r>
          </a:p>
          <a:p>
            <a:pPr algn="l">
              <a:defRPr sz="600" b="0">
                <a:solidFill>
                  <a:srgbClr val="355D2C"/>
                </a:solidFill>
              </a:defRPr>
            </a:pPr>
            <a:r>
              <a:rPr sz="600" b="0" dirty="0">
                <a:solidFill>
                  <a:srgbClr val="355D2C"/>
                </a:solidFill>
              </a:rPr>
              <a:t>      └ day=24/</a:t>
            </a:r>
          </a:p>
          <a:p>
            <a:pPr algn="l">
              <a:defRPr sz="600" b="0">
                <a:solidFill>
                  <a:srgbClr val="355D2C"/>
                </a:solidFill>
              </a:defRPr>
            </a:pPr>
            <a:r>
              <a:rPr sz="600" b="0" dirty="0">
                <a:solidFill>
                  <a:srgbClr val="355D2C"/>
                </a:solidFill>
              </a:rPr>
              <a:t>         └ hour=10/</a:t>
            </a:r>
          </a:p>
          <a:p>
            <a:pPr algn="l">
              <a:defRPr sz="600" b="0">
                <a:solidFill>
                  <a:srgbClr val="355D2C"/>
                </a:solidFill>
              </a:defRPr>
            </a:pPr>
            <a:r>
              <a:rPr sz="600" b="0" dirty="0">
                <a:solidFill>
                  <a:srgbClr val="355D2C"/>
                </a:solidFill>
              </a:rPr>
              <a:t>raw files (</a:t>
            </a:r>
            <a:r>
              <a:rPr sz="600" b="0" dirty="0" err="1">
                <a:solidFill>
                  <a:srgbClr val="355D2C"/>
                </a:solidFill>
              </a:rPr>
              <a:t>json</a:t>
            </a:r>
            <a:r>
              <a:rPr sz="600" b="0" dirty="0">
                <a:solidFill>
                  <a:srgbClr val="355D2C"/>
                </a:solidFill>
              </a:rPr>
              <a:t>)</a:t>
            </a:r>
          </a:p>
        </p:txBody>
      </p:sp>
      <p:pic>
        <p:nvPicPr>
          <p:cNvPr id="149" name="Picture 148"/>
          <p:cNvPicPr>
            <a:picLocks noChangeAspect="1"/>
          </p:cNvPicPr>
          <p:nvPr/>
        </p:nvPicPr>
        <p:blipFill>
          <a:blip r:embed="rId8"/>
          <a:stretch/>
        </p:blipFill>
        <p:spPr>
          <a:xfrm>
            <a:off x="7962900" y="1819275"/>
            <a:ext cx="514350" cy="514350"/>
          </a:xfrm>
          <a:prstGeom prst="rect">
            <a:avLst/>
          </a:prstGeom>
        </p:spPr>
      </p:pic>
      <p:sp>
        <p:nvSpPr>
          <p:cNvPr id="63" name="Rectangle: Rounded Corners 62">
            <a:extLst>
              <a:ext uri="{FF2B5EF4-FFF2-40B4-BE49-F238E27FC236}">
                <a16:creationId xmlns:a16="http://schemas.microsoft.com/office/drawing/2014/main" id="{D4662F80-B787-46C4-80C2-3547C31E3C62}"/>
              </a:ext>
            </a:extLst>
          </p:cNvPr>
          <p:cNvSpPr>
            <a:spLocks noGrp="1"/>
          </p:cNvSpPr>
          <p:nvPr/>
        </p:nvSpPr>
        <p:spPr>
          <a:xfrm>
            <a:off x="7658100" y="2381250"/>
            <a:ext cx="1104900" cy="1276350"/>
          </a:xfrm>
          <a:prstGeom prst="roundRect">
            <a:avLst>
              <a:gd name="adj" fmla="val 10345"/>
            </a:avLst>
          </a:prstGeom>
          <a:solidFill>
            <a:srgbClr val="FFFFFF"/>
          </a:solidFill>
          <a:ln w="9525">
            <a:solidFill>
              <a:srgbClr val="ACA0DB"/>
            </a:solidFill>
            <a:prstDash val="solid"/>
          </a:ln>
        </p:spPr>
        <p:txBody>
          <a:bodyPr/>
          <a:lstStyle/>
          <a:p>
            <a:endParaRPr lang="en-ZA"/>
          </a:p>
        </p:txBody>
      </p:sp>
      <p:sp>
        <p:nvSpPr>
          <p:cNvPr id="64" name="Rectangle 63">
            <a:extLst>
              <a:ext uri="{FF2B5EF4-FFF2-40B4-BE49-F238E27FC236}">
                <a16:creationId xmlns:a16="http://schemas.microsoft.com/office/drawing/2014/main" id="{489ABF36-30E9-4565-AB63-C857F435F2FD}"/>
              </a:ext>
            </a:extLst>
          </p:cNvPr>
          <p:cNvSpPr>
            <a:spLocks noGrp="1"/>
          </p:cNvSpPr>
          <p:nvPr/>
        </p:nvSpPr>
        <p:spPr>
          <a:xfrm>
            <a:off x="7734300" y="2476500"/>
            <a:ext cx="952500" cy="190500"/>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Glue ETL Jobs</a:t>
            </a:r>
          </a:p>
        </p:txBody>
      </p:sp>
      <p:sp>
        <p:nvSpPr>
          <p:cNvPr id="65" name="Rectangle 64">
            <a:extLst>
              <a:ext uri="{FF2B5EF4-FFF2-40B4-BE49-F238E27FC236}">
                <a16:creationId xmlns:a16="http://schemas.microsoft.com/office/drawing/2014/main" id="{E8FA78DF-4FAD-435A-81C1-605558C75C6E}"/>
              </a:ext>
            </a:extLst>
          </p:cNvPr>
          <p:cNvSpPr>
            <a:spLocks noGrp="1"/>
          </p:cNvSpPr>
          <p:nvPr/>
        </p:nvSpPr>
        <p:spPr>
          <a:xfrm>
            <a:off x="7734300" y="2762250"/>
            <a:ext cx="952500" cy="752475"/>
          </a:xfrm>
          <a:prstGeom prst="rect">
            <a:avLst/>
          </a:prstGeom>
          <a:noFill/>
          <a:ln w="0">
            <a:noFill/>
            <a:prstDash val="solid"/>
          </a:ln>
        </p:spPr>
        <p:txBody>
          <a:bodyPr anchor="ctr"/>
          <a:lstStyle/>
          <a:p>
            <a:pPr algn="l">
              <a:defRPr sz="600" b="0">
                <a:solidFill>
                  <a:srgbClr val="444444"/>
                </a:solidFill>
              </a:defRPr>
            </a:pPr>
            <a:r>
              <a:rPr sz="600" b="0">
                <a:solidFill>
                  <a:srgbClr val="444444"/>
                </a:solidFill>
              </a:rPr>
              <a:t>• cleanse + validate</a:t>
            </a:r>
          </a:p>
          <a:p>
            <a:pPr algn="l">
              <a:defRPr sz="600" b="0">
                <a:solidFill>
                  <a:srgbClr val="444444"/>
                </a:solidFill>
              </a:defRPr>
            </a:pPr>
            <a:r>
              <a:rPr sz="600" b="0">
                <a:solidFill>
                  <a:srgbClr val="444444"/>
                </a:solidFill>
              </a:rPr>
              <a:t>• flatten nested structures</a:t>
            </a:r>
          </a:p>
          <a:p>
            <a:pPr algn="l">
              <a:defRPr sz="600" b="0">
                <a:solidFill>
                  <a:srgbClr val="444444"/>
                </a:solidFill>
              </a:defRPr>
            </a:pPr>
            <a:r>
              <a:rPr sz="600" b="0">
                <a:solidFill>
                  <a:srgbClr val="444444"/>
                </a:solidFill>
              </a:rPr>
              <a:t>• explode arrays</a:t>
            </a:r>
          </a:p>
          <a:p>
            <a:pPr algn="l">
              <a:defRPr sz="600" b="0">
                <a:solidFill>
                  <a:srgbClr val="444444"/>
                </a:solidFill>
              </a:defRPr>
            </a:pPr>
            <a:r>
              <a:rPr sz="600" b="0">
                <a:solidFill>
                  <a:srgbClr val="444444"/>
                </a:solidFill>
              </a:rPr>
              <a:t>• standardise data types</a:t>
            </a:r>
          </a:p>
          <a:p>
            <a:pPr algn="l">
              <a:defRPr sz="600" b="0">
                <a:solidFill>
                  <a:srgbClr val="444444"/>
                </a:solidFill>
              </a:defRPr>
            </a:pPr>
            <a:r>
              <a:rPr sz="600" b="0">
                <a:solidFill>
                  <a:srgbClr val="444444"/>
                </a:solidFill>
              </a:rPr>
              <a:t>• enrich data</a:t>
            </a:r>
          </a:p>
          <a:p>
            <a:pPr algn="l">
              <a:defRPr sz="600" b="0">
                <a:solidFill>
                  <a:srgbClr val="444444"/>
                </a:solidFill>
              </a:defRPr>
            </a:pPr>
            <a:r>
              <a:rPr sz="600" b="0">
                <a:solidFill>
                  <a:srgbClr val="444444"/>
                </a:solidFill>
              </a:rPr>
              <a:t>• create analytics datasets</a:t>
            </a:r>
          </a:p>
        </p:txBody>
      </p:sp>
      <p:sp>
        <p:nvSpPr>
          <p:cNvPr id="66" name="Rectangle: Rounded Corners 65">
            <a:extLst>
              <a:ext uri="{FF2B5EF4-FFF2-40B4-BE49-F238E27FC236}">
                <a16:creationId xmlns:a16="http://schemas.microsoft.com/office/drawing/2014/main" id="{A102DBCE-A3C1-4E7C-9527-3FDC6D4597D0}"/>
              </a:ext>
            </a:extLst>
          </p:cNvPr>
          <p:cNvSpPr>
            <a:spLocks noGrp="1"/>
          </p:cNvSpPr>
          <p:nvPr/>
        </p:nvSpPr>
        <p:spPr>
          <a:xfrm>
            <a:off x="7658100" y="3781425"/>
            <a:ext cx="1104900" cy="838200"/>
          </a:xfrm>
          <a:prstGeom prst="roundRect">
            <a:avLst>
              <a:gd name="adj" fmla="val 13636"/>
            </a:avLst>
          </a:prstGeom>
          <a:solidFill>
            <a:srgbClr val="FFFFFF"/>
          </a:solidFill>
          <a:ln w="9525">
            <a:solidFill>
              <a:srgbClr val="ACA0DB"/>
            </a:solidFill>
            <a:prstDash val="solid"/>
          </a:ln>
        </p:spPr>
        <p:txBody>
          <a:bodyPr/>
          <a:lstStyle/>
          <a:p>
            <a:endParaRPr lang="en-ZA"/>
          </a:p>
        </p:txBody>
      </p:sp>
      <p:sp>
        <p:nvSpPr>
          <p:cNvPr id="67" name="Rectangle 66">
            <a:extLst>
              <a:ext uri="{FF2B5EF4-FFF2-40B4-BE49-F238E27FC236}">
                <a16:creationId xmlns:a16="http://schemas.microsoft.com/office/drawing/2014/main" id="{B9B225EC-CB1D-4131-B075-2A95E070B0F2}"/>
              </a:ext>
            </a:extLst>
          </p:cNvPr>
          <p:cNvSpPr>
            <a:spLocks noGrp="1"/>
          </p:cNvSpPr>
          <p:nvPr/>
        </p:nvSpPr>
        <p:spPr>
          <a:xfrm>
            <a:off x="7734300" y="3867150"/>
            <a:ext cx="952500" cy="190500"/>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Glue Data Catalog</a:t>
            </a:r>
          </a:p>
        </p:txBody>
      </p:sp>
      <p:sp>
        <p:nvSpPr>
          <p:cNvPr id="68" name="Rectangle 67">
            <a:extLst>
              <a:ext uri="{FF2B5EF4-FFF2-40B4-BE49-F238E27FC236}">
                <a16:creationId xmlns:a16="http://schemas.microsoft.com/office/drawing/2014/main" id="{50419CC5-9B93-4C2F-9D05-8604FAE85DC5}"/>
              </a:ext>
            </a:extLst>
          </p:cNvPr>
          <p:cNvSpPr>
            <a:spLocks noGrp="1"/>
          </p:cNvSpPr>
          <p:nvPr/>
        </p:nvSpPr>
        <p:spPr>
          <a:xfrm>
            <a:off x="7734300" y="4133850"/>
            <a:ext cx="952500" cy="390525"/>
          </a:xfrm>
          <a:prstGeom prst="rect">
            <a:avLst/>
          </a:prstGeom>
          <a:noFill/>
          <a:ln w="0">
            <a:noFill/>
            <a:prstDash val="solid"/>
          </a:ln>
        </p:spPr>
        <p:txBody>
          <a:bodyPr anchor="ctr"/>
          <a:lstStyle/>
          <a:p>
            <a:pPr algn="ctr">
              <a:defRPr sz="600" b="0">
                <a:solidFill>
                  <a:srgbClr val="444444"/>
                </a:solidFill>
              </a:defRPr>
            </a:pPr>
            <a:r>
              <a:rPr sz="600" b="0">
                <a:solidFill>
                  <a:srgbClr val="444444"/>
                </a:solidFill>
              </a:rPr>
              <a:t>Metadata store</a:t>
            </a:r>
          </a:p>
          <a:p>
            <a:pPr algn="ctr">
              <a:defRPr sz="600" b="0">
                <a:solidFill>
                  <a:srgbClr val="444444"/>
                </a:solidFill>
              </a:defRPr>
            </a:pPr>
            <a:r>
              <a:rPr sz="600" b="0">
                <a:solidFill>
                  <a:srgbClr val="444444"/>
                </a:solidFill>
              </a:rPr>
              <a:t>Schemas + tables</a:t>
            </a:r>
          </a:p>
          <a:p>
            <a:pPr algn="ctr">
              <a:defRPr sz="600" b="0">
                <a:solidFill>
                  <a:srgbClr val="444444"/>
                </a:solidFill>
              </a:defRPr>
            </a:pPr>
            <a:r>
              <a:rPr sz="600" b="0">
                <a:solidFill>
                  <a:srgbClr val="444444"/>
                </a:solidFill>
              </a:rPr>
              <a:t>Partition information for Athena</a:t>
            </a:r>
          </a:p>
        </p:txBody>
      </p:sp>
      <p:sp>
        <p:nvSpPr>
          <p:cNvPr id="69" name="Rectangle: Rounded Corners 68">
            <a:extLst>
              <a:ext uri="{FF2B5EF4-FFF2-40B4-BE49-F238E27FC236}">
                <a16:creationId xmlns:a16="http://schemas.microsoft.com/office/drawing/2014/main" id="{C8A33347-CFF5-4BAC-B743-814EEE5DD7F4}"/>
              </a:ext>
            </a:extLst>
          </p:cNvPr>
          <p:cNvSpPr>
            <a:spLocks noGrp="1"/>
          </p:cNvSpPr>
          <p:nvPr/>
        </p:nvSpPr>
        <p:spPr>
          <a:xfrm>
            <a:off x="9239250" y="1752600"/>
            <a:ext cx="1028700" cy="2876550"/>
          </a:xfrm>
          <a:prstGeom prst="roundRect">
            <a:avLst>
              <a:gd name="adj" fmla="val 11111"/>
            </a:avLst>
          </a:prstGeom>
          <a:solidFill>
            <a:srgbClr val="FFFFFF"/>
          </a:solidFill>
          <a:ln w="9525">
            <a:solidFill>
              <a:srgbClr val="C9C9C9"/>
            </a:solidFill>
            <a:prstDash val="solid"/>
          </a:ln>
        </p:spPr>
        <p:txBody>
          <a:bodyPr/>
          <a:lstStyle/>
          <a:p>
            <a:endParaRPr lang="en-ZA"/>
          </a:p>
        </p:txBody>
      </p:sp>
      <p:pic>
        <p:nvPicPr>
          <p:cNvPr id="157" name="Picture 156"/>
          <p:cNvPicPr>
            <a:picLocks noChangeAspect="1"/>
          </p:cNvPicPr>
          <p:nvPr/>
        </p:nvPicPr>
        <p:blipFill>
          <a:blip r:embed="rId9"/>
          <a:stretch/>
        </p:blipFill>
        <p:spPr>
          <a:xfrm>
            <a:off x="9496425" y="1838325"/>
            <a:ext cx="514350" cy="514350"/>
          </a:xfrm>
          <a:prstGeom prst="rect">
            <a:avLst/>
          </a:prstGeom>
        </p:spPr>
      </p:pic>
      <p:sp>
        <p:nvSpPr>
          <p:cNvPr id="71" name="Rectangle 70">
            <a:extLst>
              <a:ext uri="{FF2B5EF4-FFF2-40B4-BE49-F238E27FC236}">
                <a16:creationId xmlns:a16="http://schemas.microsoft.com/office/drawing/2014/main" id="{06FEB777-E4F0-4B12-B768-16C272DA8F81}"/>
              </a:ext>
            </a:extLst>
          </p:cNvPr>
          <p:cNvSpPr>
            <a:spLocks noGrp="1"/>
          </p:cNvSpPr>
          <p:nvPr/>
        </p:nvSpPr>
        <p:spPr>
          <a:xfrm>
            <a:off x="9305925" y="2409825"/>
            <a:ext cx="895350" cy="295275"/>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S3 Curated Bucket</a:t>
            </a:r>
          </a:p>
          <a:p>
            <a:pPr algn="ctr">
              <a:defRPr sz="750" b="1">
                <a:solidFill>
                  <a:srgbClr val="171719"/>
                </a:solidFill>
              </a:defRPr>
            </a:pPr>
            <a:r>
              <a:rPr sz="750" b="1">
                <a:solidFill>
                  <a:srgbClr val="171719"/>
                </a:solidFill>
              </a:rPr>
              <a:t>(Analytics Ready)</a:t>
            </a:r>
          </a:p>
        </p:txBody>
      </p:sp>
      <p:sp>
        <p:nvSpPr>
          <p:cNvPr id="72" name="Rectangle 71">
            <a:extLst>
              <a:ext uri="{FF2B5EF4-FFF2-40B4-BE49-F238E27FC236}">
                <a16:creationId xmlns:a16="http://schemas.microsoft.com/office/drawing/2014/main" id="{86571896-84CB-410C-B075-315AE5587537}"/>
              </a:ext>
            </a:extLst>
          </p:cNvPr>
          <p:cNvSpPr>
            <a:spLocks noGrp="1"/>
          </p:cNvSpPr>
          <p:nvPr/>
        </p:nvSpPr>
        <p:spPr>
          <a:xfrm>
            <a:off x="9305925" y="2857500"/>
            <a:ext cx="895350" cy="485775"/>
          </a:xfrm>
          <a:prstGeom prst="rect">
            <a:avLst/>
          </a:prstGeom>
          <a:noFill/>
          <a:ln w="0">
            <a:noFill/>
            <a:prstDash val="solid"/>
          </a:ln>
        </p:spPr>
        <p:txBody>
          <a:bodyPr anchor="ctr"/>
          <a:lstStyle/>
          <a:p>
            <a:pPr algn="ctr">
              <a:defRPr sz="600" b="0">
                <a:solidFill>
                  <a:srgbClr val="444444"/>
                </a:solidFill>
              </a:defRPr>
            </a:pPr>
            <a:r>
              <a:rPr sz="600" b="0">
                <a:solidFill>
                  <a:srgbClr val="444444"/>
                </a:solidFill>
              </a:rPr>
              <a:t>• Processed + structured</a:t>
            </a:r>
          </a:p>
          <a:p>
            <a:pPr algn="ctr">
              <a:defRPr sz="600" b="0">
                <a:solidFill>
                  <a:srgbClr val="444444"/>
                </a:solidFill>
              </a:defRPr>
            </a:pPr>
            <a:r>
              <a:rPr sz="600" b="0">
                <a:solidFill>
                  <a:srgbClr val="444444"/>
                </a:solidFill>
              </a:rPr>
              <a:t>• Optimised for query</a:t>
            </a:r>
          </a:p>
          <a:p>
            <a:pPr algn="ctr">
              <a:defRPr sz="600" b="0">
                <a:solidFill>
                  <a:srgbClr val="444444"/>
                </a:solidFill>
              </a:defRPr>
            </a:pPr>
            <a:r>
              <a:rPr sz="600" b="0">
                <a:solidFill>
                  <a:srgbClr val="444444"/>
                </a:solidFill>
              </a:rPr>
              <a:t>• Partitioned by date</a:t>
            </a:r>
          </a:p>
        </p:txBody>
      </p:sp>
      <p:sp>
        <p:nvSpPr>
          <p:cNvPr id="73" name="Rectangle 72">
            <a:extLst>
              <a:ext uri="{FF2B5EF4-FFF2-40B4-BE49-F238E27FC236}">
                <a16:creationId xmlns:a16="http://schemas.microsoft.com/office/drawing/2014/main" id="{527D0D9E-64F9-4C29-B318-B9B6F56A7453}"/>
              </a:ext>
            </a:extLst>
          </p:cNvPr>
          <p:cNvSpPr>
            <a:spLocks noGrp="1"/>
          </p:cNvSpPr>
          <p:nvPr/>
        </p:nvSpPr>
        <p:spPr>
          <a:xfrm>
            <a:off x="9305925" y="3629025"/>
            <a:ext cx="895350" cy="742950"/>
          </a:xfrm>
          <a:prstGeom prst="rect">
            <a:avLst/>
          </a:prstGeom>
          <a:noFill/>
          <a:ln w="0">
            <a:noFill/>
            <a:prstDash val="solid"/>
          </a:ln>
        </p:spPr>
        <p:txBody>
          <a:bodyPr anchor="ctr"/>
          <a:lstStyle/>
          <a:p>
            <a:pPr algn="l">
              <a:defRPr sz="600" b="0">
                <a:solidFill>
                  <a:srgbClr val="355D2C"/>
                </a:solidFill>
              </a:defRPr>
            </a:pPr>
            <a:r>
              <a:rPr sz="600" b="0">
                <a:solidFill>
                  <a:srgbClr val="355D2C"/>
                </a:solidFill>
              </a:rPr>
              <a:t>s3://vodapay-analytics-curated/</a:t>
            </a:r>
          </a:p>
          <a:p>
            <a:pPr algn="l">
              <a:defRPr sz="600" b="0">
                <a:solidFill>
                  <a:srgbClr val="355D2C"/>
                </a:solidFill>
              </a:defRPr>
            </a:pPr>
            <a:r>
              <a:rPr sz="600" b="0">
                <a:solidFill>
                  <a:srgbClr val="355D2C"/>
                </a:solidFill>
              </a:rPr>
              <a:t>└ year=2026/</a:t>
            </a:r>
          </a:p>
          <a:p>
            <a:pPr algn="l">
              <a:defRPr sz="600" b="0">
                <a:solidFill>
                  <a:srgbClr val="355D2C"/>
                </a:solidFill>
              </a:defRPr>
            </a:pPr>
            <a:r>
              <a:rPr sz="600" b="0">
                <a:solidFill>
                  <a:srgbClr val="355D2C"/>
                </a:solidFill>
              </a:rPr>
              <a:t>   └ month=08/</a:t>
            </a:r>
          </a:p>
          <a:p>
            <a:pPr algn="l">
              <a:defRPr sz="600" b="0">
                <a:solidFill>
                  <a:srgbClr val="355D2C"/>
                </a:solidFill>
              </a:defRPr>
            </a:pPr>
            <a:r>
              <a:rPr sz="600" b="0">
                <a:solidFill>
                  <a:srgbClr val="355D2C"/>
                </a:solidFill>
              </a:rPr>
              <a:t>      └ day=24/</a:t>
            </a:r>
          </a:p>
          <a:p>
            <a:pPr algn="l">
              <a:defRPr sz="600" b="0">
                <a:solidFill>
                  <a:srgbClr val="355D2C"/>
                </a:solidFill>
              </a:defRPr>
            </a:pPr>
            <a:r>
              <a:rPr sz="600" b="0">
                <a:solidFill>
                  <a:srgbClr val="355D2C"/>
                </a:solidFill>
              </a:rPr>
              <a:t>curated files (parquet)</a:t>
            </a:r>
          </a:p>
        </p:txBody>
      </p:sp>
      <p:sp>
        <p:nvSpPr>
          <p:cNvPr id="74" name="Rectangle: Rounded Corners 73">
            <a:extLst>
              <a:ext uri="{FF2B5EF4-FFF2-40B4-BE49-F238E27FC236}">
                <a16:creationId xmlns:a16="http://schemas.microsoft.com/office/drawing/2014/main" id="{87370E88-0817-40B5-9C04-EAE192059F1E}"/>
              </a:ext>
            </a:extLst>
          </p:cNvPr>
          <p:cNvSpPr>
            <a:spLocks noGrp="1"/>
          </p:cNvSpPr>
          <p:nvPr/>
        </p:nvSpPr>
        <p:spPr>
          <a:xfrm>
            <a:off x="10725150" y="1752600"/>
            <a:ext cx="1200150" cy="1000125"/>
          </a:xfrm>
          <a:prstGeom prst="roundRect">
            <a:avLst>
              <a:gd name="adj" fmla="val 9524"/>
            </a:avLst>
          </a:prstGeom>
          <a:solidFill>
            <a:srgbClr val="FFFFFF"/>
          </a:solidFill>
          <a:ln w="9525">
            <a:solidFill>
              <a:srgbClr val="C9C9C9"/>
            </a:solidFill>
            <a:prstDash val="solid"/>
          </a:ln>
        </p:spPr>
        <p:txBody>
          <a:bodyPr/>
          <a:lstStyle/>
          <a:p>
            <a:endParaRPr lang="en-ZA"/>
          </a:p>
        </p:txBody>
      </p:sp>
      <p:pic>
        <p:nvPicPr>
          <p:cNvPr id="162" name="Picture 161"/>
          <p:cNvPicPr>
            <a:picLocks noChangeAspect="1"/>
          </p:cNvPicPr>
          <p:nvPr/>
        </p:nvPicPr>
        <p:blipFill>
          <a:blip r:embed="rId10"/>
          <a:stretch/>
        </p:blipFill>
        <p:spPr>
          <a:xfrm>
            <a:off x="11068050" y="1838325"/>
            <a:ext cx="514350" cy="514350"/>
          </a:xfrm>
          <a:prstGeom prst="rect">
            <a:avLst/>
          </a:prstGeom>
        </p:spPr>
      </p:pic>
      <p:sp>
        <p:nvSpPr>
          <p:cNvPr id="76" name="Rectangle 75">
            <a:extLst>
              <a:ext uri="{FF2B5EF4-FFF2-40B4-BE49-F238E27FC236}">
                <a16:creationId xmlns:a16="http://schemas.microsoft.com/office/drawing/2014/main" id="{9AB7785E-D8EA-4776-BDE6-E7A3FF8C1E9F}"/>
              </a:ext>
            </a:extLst>
          </p:cNvPr>
          <p:cNvSpPr>
            <a:spLocks noGrp="1"/>
          </p:cNvSpPr>
          <p:nvPr/>
        </p:nvSpPr>
        <p:spPr>
          <a:xfrm>
            <a:off x="10801350" y="2381250"/>
            <a:ext cx="1047750" cy="180975"/>
          </a:xfrm>
          <a:prstGeom prst="rect">
            <a:avLst/>
          </a:prstGeom>
          <a:noFill/>
          <a:ln w="0">
            <a:noFill/>
            <a:prstDash val="solid"/>
          </a:ln>
        </p:spPr>
        <p:txBody>
          <a:bodyPr anchor="ctr"/>
          <a:lstStyle/>
          <a:p>
            <a:pPr algn="ctr">
              <a:defRPr sz="750" b="1">
                <a:solidFill>
                  <a:srgbClr val="171719"/>
                </a:solidFill>
              </a:defRPr>
            </a:pPr>
            <a:r>
              <a:rPr sz="750" b="1">
                <a:solidFill>
                  <a:srgbClr val="171719"/>
                </a:solidFill>
              </a:rPr>
              <a:t>Amazon Athena</a:t>
            </a:r>
          </a:p>
        </p:txBody>
      </p:sp>
      <p:sp>
        <p:nvSpPr>
          <p:cNvPr id="78" name="Rectangle: Rounded Corners 77">
            <a:extLst>
              <a:ext uri="{FF2B5EF4-FFF2-40B4-BE49-F238E27FC236}">
                <a16:creationId xmlns:a16="http://schemas.microsoft.com/office/drawing/2014/main" id="{7A3CD306-FD63-4E94-9DED-C113A4BE1B86}"/>
              </a:ext>
            </a:extLst>
          </p:cNvPr>
          <p:cNvSpPr>
            <a:spLocks noGrp="1"/>
          </p:cNvSpPr>
          <p:nvPr/>
        </p:nvSpPr>
        <p:spPr>
          <a:xfrm>
            <a:off x="171450" y="4953000"/>
            <a:ext cx="5362575" cy="1619250"/>
          </a:xfrm>
          <a:prstGeom prst="roundRect">
            <a:avLst>
              <a:gd name="adj" fmla="val 7059"/>
            </a:avLst>
          </a:prstGeom>
          <a:solidFill>
            <a:srgbClr val="FFFFFF"/>
          </a:solidFill>
          <a:ln w="14288">
            <a:solidFill>
              <a:srgbClr val="7FB8D2"/>
            </a:solidFill>
            <a:prstDash val="solid"/>
          </a:ln>
        </p:spPr>
        <p:txBody>
          <a:bodyPr/>
          <a:lstStyle/>
          <a:p>
            <a:endParaRPr lang="en-ZA"/>
          </a:p>
        </p:txBody>
      </p:sp>
      <p:sp>
        <p:nvSpPr>
          <p:cNvPr id="79" name="Rectangle 78">
            <a:extLst>
              <a:ext uri="{FF2B5EF4-FFF2-40B4-BE49-F238E27FC236}">
                <a16:creationId xmlns:a16="http://schemas.microsoft.com/office/drawing/2014/main" id="{ABC103B8-76F9-4192-BA7E-C4B041AC0DF3}"/>
              </a:ext>
            </a:extLst>
          </p:cNvPr>
          <p:cNvSpPr>
            <a:spLocks noGrp="1"/>
          </p:cNvSpPr>
          <p:nvPr/>
        </p:nvSpPr>
        <p:spPr>
          <a:xfrm>
            <a:off x="638175" y="5086350"/>
            <a:ext cx="2000250" cy="219075"/>
          </a:xfrm>
          <a:prstGeom prst="rect">
            <a:avLst/>
          </a:prstGeom>
          <a:noFill/>
          <a:ln w="0">
            <a:noFill/>
            <a:prstDash val="solid"/>
          </a:ln>
        </p:spPr>
        <p:txBody>
          <a:bodyPr anchor="ctr"/>
          <a:lstStyle/>
          <a:p>
            <a:pPr algn="l">
              <a:defRPr sz="1050" b="1">
                <a:solidFill>
                  <a:srgbClr val="3D87AC"/>
                </a:solidFill>
              </a:defRPr>
            </a:pPr>
            <a:r>
              <a:rPr sz="1050" b="1">
                <a:solidFill>
                  <a:srgbClr val="3D87AC"/>
                </a:solidFill>
              </a:rPr>
              <a:t>DATA FLOW SUMMARY</a:t>
            </a:r>
          </a:p>
        </p:txBody>
      </p:sp>
      <p:sp>
        <p:nvSpPr>
          <p:cNvPr id="80" name="Rectangle 79">
            <a:extLst>
              <a:ext uri="{FF2B5EF4-FFF2-40B4-BE49-F238E27FC236}">
                <a16:creationId xmlns:a16="http://schemas.microsoft.com/office/drawing/2014/main" id="{CFEC5088-77AB-479B-A76A-FF0667638875}"/>
              </a:ext>
            </a:extLst>
          </p:cNvPr>
          <p:cNvSpPr>
            <a:spLocks noGrp="1"/>
          </p:cNvSpPr>
          <p:nvPr/>
        </p:nvSpPr>
        <p:spPr>
          <a:xfrm>
            <a:off x="638175" y="5381625"/>
            <a:ext cx="4667250" cy="1009650"/>
          </a:xfrm>
          <a:prstGeom prst="rect">
            <a:avLst/>
          </a:prstGeom>
          <a:noFill/>
          <a:ln w="0">
            <a:noFill/>
            <a:prstDash val="solid"/>
          </a:ln>
        </p:spPr>
        <p:txBody>
          <a:bodyPr anchor="ctr"/>
          <a:lstStyle/>
          <a:p>
            <a:pPr algn="l">
              <a:defRPr sz="750" b="0">
                <a:solidFill>
                  <a:srgbClr val="222222"/>
                </a:solidFill>
              </a:defRPr>
            </a:pPr>
            <a:r>
              <a:rPr sz="750" b="0">
                <a:solidFill>
                  <a:srgbClr val="222222"/>
                </a:solidFill>
              </a:rPr>
              <a:t>1. User interacts with WebView, Native App or another digital channel</a:t>
            </a:r>
          </a:p>
          <a:p>
            <a:pPr algn="l">
              <a:defRPr sz="750" b="0">
                <a:solidFill>
                  <a:srgbClr val="222222"/>
                </a:solidFill>
              </a:defRPr>
            </a:pPr>
            <a:r>
              <a:rPr sz="750" b="0">
                <a:solidFill>
                  <a:srgbClr val="222222"/>
                </a:solidFill>
              </a:rPr>
              <a:t>2. Tealium collects events through the JavaScript tag</a:t>
            </a:r>
          </a:p>
          <a:p>
            <a:pPr algn="l">
              <a:defRPr sz="750" b="0">
                <a:solidFill>
                  <a:srgbClr val="222222"/>
                </a:solidFill>
              </a:defRPr>
            </a:pPr>
            <a:r>
              <a:rPr sz="750" b="0">
                <a:solidFill>
                  <a:srgbClr val="222222"/>
                </a:solidFill>
              </a:rPr>
              <a:t>3. Events are secured by API Gateway and WAF</a:t>
            </a:r>
          </a:p>
          <a:p>
            <a:pPr algn="l">
              <a:defRPr sz="750" b="0">
                <a:solidFill>
                  <a:srgbClr val="222222"/>
                </a:solidFill>
              </a:defRPr>
            </a:pPr>
            <a:r>
              <a:rPr sz="750" b="0">
                <a:solidFill>
                  <a:srgbClr val="222222"/>
                </a:solidFill>
              </a:rPr>
              <a:t>4. Firehose ingests, buffers, optionally transforms and delivers to S3 Raw</a:t>
            </a:r>
          </a:p>
          <a:p>
            <a:pPr algn="l">
              <a:defRPr sz="750" b="0">
                <a:solidFill>
                  <a:srgbClr val="222222"/>
                </a:solidFill>
              </a:defRPr>
            </a:pPr>
            <a:r>
              <a:rPr sz="750" b="0">
                <a:solidFill>
                  <a:srgbClr val="222222"/>
                </a:solidFill>
              </a:rPr>
              <a:t>5. Raw events are retained in their original form</a:t>
            </a:r>
          </a:p>
          <a:p>
            <a:pPr algn="l">
              <a:defRPr sz="750" b="0">
                <a:solidFill>
                  <a:srgbClr val="222222"/>
                </a:solidFill>
              </a:defRPr>
            </a:pPr>
            <a:r>
              <a:rPr sz="750" b="0">
                <a:solidFill>
                  <a:srgbClr val="222222"/>
                </a:solidFill>
              </a:rPr>
              <a:t>6. Glue ETL creates analytics-ready datasets in S3 Curated</a:t>
            </a:r>
          </a:p>
          <a:p>
            <a:pPr algn="l">
              <a:defRPr sz="750" b="0">
                <a:solidFill>
                  <a:srgbClr val="222222"/>
                </a:solidFill>
              </a:defRPr>
            </a:pPr>
            <a:r>
              <a:rPr sz="750" b="0">
                <a:solidFill>
                  <a:srgbClr val="222222"/>
                </a:solidFill>
              </a:rPr>
              <a:t>7. Glue Data Catalog stores metadata and table definitions</a:t>
            </a:r>
          </a:p>
          <a:p>
            <a:pPr algn="l">
              <a:defRPr sz="750" b="0">
                <a:solidFill>
                  <a:srgbClr val="222222"/>
                </a:solidFill>
              </a:defRPr>
            </a:pPr>
            <a:r>
              <a:rPr sz="750" b="0">
                <a:solidFill>
                  <a:srgbClr val="222222"/>
                </a:solidFill>
              </a:rPr>
              <a:t>8. Athena and preferred analytics tools query the curated data</a:t>
            </a:r>
          </a:p>
        </p:txBody>
      </p:sp>
      <p:sp>
        <p:nvSpPr>
          <p:cNvPr id="81" name="Rectangle: Rounded Corners 80">
            <a:extLst>
              <a:ext uri="{FF2B5EF4-FFF2-40B4-BE49-F238E27FC236}">
                <a16:creationId xmlns:a16="http://schemas.microsoft.com/office/drawing/2014/main" id="{18E02359-0A5A-4FAF-B552-D4FFCA698FC7}"/>
              </a:ext>
            </a:extLst>
          </p:cNvPr>
          <p:cNvSpPr>
            <a:spLocks noGrp="1"/>
          </p:cNvSpPr>
          <p:nvPr/>
        </p:nvSpPr>
        <p:spPr>
          <a:xfrm>
            <a:off x="5724525" y="4953000"/>
            <a:ext cx="4267200" cy="1619250"/>
          </a:xfrm>
          <a:prstGeom prst="roundRect">
            <a:avLst>
              <a:gd name="adj" fmla="val 7059"/>
            </a:avLst>
          </a:prstGeom>
          <a:solidFill>
            <a:srgbClr val="FFFFFF"/>
          </a:solidFill>
          <a:ln w="14288">
            <a:solidFill>
              <a:srgbClr val="76B451"/>
            </a:solidFill>
            <a:prstDash val="solid"/>
          </a:ln>
        </p:spPr>
        <p:txBody>
          <a:bodyPr/>
          <a:lstStyle/>
          <a:p>
            <a:endParaRPr lang="en-ZA"/>
          </a:p>
        </p:txBody>
      </p:sp>
      <p:sp>
        <p:nvSpPr>
          <p:cNvPr id="82" name="Rectangle 81">
            <a:extLst>
              <a:ext uri="{FF2B5EF4-FFF2-40B4-BE49-F238E27FC236}">
                <a16:creationId xmlns:a16="http://schemas.microsoft.com/office/drawing/2014/main" id="{3C29F8E4-DB88-4C8B-8EA2-5E3C20191C96}"/>
              </a:ext>
            </a:extLst>
          </p:cNvPr>
          <p:cNvSpPr>
            <a:spLocks noGrp="1"/>
          </p:cNvSpPr>
          <p:nvPr/>
        </p:nvSpPr>
        <p:spPr>
          <a:xfrm>
            <a:off x="6219825" y="5086350"/>
            <a:ext cx="1714500" cy="219075"/>
          </a:xfrm>
          <a:prstGeom prst="rect">
            <a:avLst/>
          </a:prstGeom>
          <a:noFill/>
          <a:ln w="0">
            <a:noFill/>
            <a:prstDash val="solid"/>
          </a:ln>
        </p:spPr>
        <p:txBody>
          <a:bodyPr anchor="ctr"/>
          <a:lstStyle/>
          <a:p>
            <a:pPr algn="l">
              <a:defRPr sz="1050" b="1">
                <a:solidFill>
                  <a:srgbClr val="4C8A31"/>
                </a:solidFill>
              </a:defRPr>
            </a:pPr>
            <a:r>
              <a:rPr sz="1050" b="1">
                <a:solidFill>
                  <a:srgbClr val="4C8A31"/>
                </a:solidFill>
              </a:rPr>
              <a:t>KEY BENEFITS</a:t>
            </a:r>
          </a:p>
        </p:txBody>
      </p:sp>
      <p:sp>
        <p:nvSpPr>
          <p:cNvPr id="83" name="Rectangle 82">
            <a:extLst>
              <a:ext uri="{FF2B5EF4-FFF2-40B4-BE49-F238E27FC236}">
                <a16:creationId xmlns:a16="http://schemas.microsoft.com/office/drawing/2014/main" id="{62EEF01A-4344-4903-A276-0697E546737D}"/>
              </a:ext>
            </a:extLst>
          </p:cNvPr>
          <p:cNvSpPr>
            <a:spLocks noGrp="1"/>
          </p:cNvSpPr>
          <p:nvPr/>
        </p:nvSpPr>
        <p:spPr>
          <a:xfrm>
            <a:off x="6219825" y="5410200"/>
            <a:ext cx="3476625" cy="876300"/>
          </a:xfrm>
          <a:prstGeom prst="rect">
            <a:avLst/>
          </a:prstGeom>
          <a:noFill/>
          <a:ln w="0">
            <a:noFill/>
            <a:prstDash val="solid"/>
          </a:ln>
        </p:spPr>
        <p:txBody>
          <a:bodyPr anchor="ctr"/>
          <a:lstStyle/>
          <a:p>
            <a:pPr algn="l">
              <a:defRPr sz="750" b="0">
                <a:solidFill>
                  <a:srgbClr val="222222"/>
                </a:solidFill>
              </a:defRPr>
            </a:pPr>
            <a:r>
              <a:rPr sz="750" b="0">
                <a:solidFill>
                  <a:srgbClr val="222222"/>
                </a:solidFill>
              </a:rPr>
              <a:t>• Serverless, scalable and fully managed AWS services</a:t>
            </a:r>
          </a:p>
          <a:p>
            <a:pPr algn="l">
              <a:defRPr sz="750" b="0">
                <a:solidFill>
                  <a:srgbClr val="222222"/>
                </a:solidFill>
              </a:defRPr>
            </a:pPr>
            <a:r>
              <a:rPr sz="750" b="0">
                <a:solidFill>
                  <a:srgbClr val="222222"/>
                </a:solidFill>
              </a:rPr>
              <a:t>• Durable raw data retained for reprocessing and auditing</a:t>
            </a:r>
          </a:p>
          <a:p>
            <a:pPr algn="l">
              <a:defRPr sz="750" b="0">
                <a:solidFill>
                  <a:srgbClr val="222222"/>
                </a:solidFill>
              </a:defRPr>
            </a:pPr>
            <a:r>
              <a:rPr sz="750" b="0">
                <a:solidFill>
                  <a:srgbClr val="222222"/>
                </a:solidFill>
              </a:rPr>
              <a:t>• Flexible transformations through Glue ETL or Athena SQL</a:t>
            </a:r>
          </a:p>
          <a:p>
            <a:pPr algn="l">
              <a:defRPr sz="750" b="0">
                <a:solidFill>
                  <a:srgbClr val="222222"/>
                </a:solidFill>
              </a:defRPr>
            </a:pPr>
            <a:r>
              <a:rPr sz="750" b="0">
                <a:solidFill>
                  <a:srgbClr val="222222"/>
                </a:solidFill>
              </a:rPr>
              <a:t>• Cost-efficient partitioning, compression and serverless queries</a:t>
            </a:r>
          </a:p>
          <a:p>
            <a:pPr algn="l">
              <a:defRPr sz="750" b="0">
                <a:solidFill>
                  <a:srgbClr val="222222"/>
                </a:solidFill>
              </a:defRPr>
            </a:pPr>
            <a:r>
              <a:rPr sz="750" b="0">
                <a:solidFill>
                  <a:srgbClr val="222222"/>
                </a:solidFill>
              </a:rPr>
              <a:t>• Supports future real-time use cases when required</a:t>
            </a:r>
          </a:p>
        </p:txBody>
      </p:sp>
      <p:sp>
        <p:nvSpPr>
          <p:cNvPr id="84" name="Rectangle: Rounded Corners 83">
            <a:extLst>
              <a:ext uri="{FF2B5EF4-FFF2-40B4-BE49-F238E27FC236}">
                <a16:creationId xmlns:a16="http://schemas.microsoft.com/office/drawing/2014/main" id="{B0C56C94-80D2-4EDF-AB81-89FFBAE36C48}"/>
              </a:ext>
            </a:extLst>
          </p:cNvPr>
          <p:cNvSpPr>
            <a:spLocks noGrp="1"/>
          </p:cNvSpPr>
          <p:nvPr/>
        </p:nvSpPr>
        <p:spPr>
          <a:xfrm>
            <a:off x="10163175" y="4953000"/>
            <a:ext cx="1857375" cy="1619250"/>
          </a:xfrm>
          <a:prstGeom prst="roundRect">
            <a:avLst>
              <a:gd name="adj" fmla="val 7059"/>
            </a:avLst>
          </a:prstGeom>
          <a:solidFill>
            <a:srgbClr val="FFFFFF"/>
          </a:solidFill>
          <a:ln w="14288">
            <a:solidFill>
              <a:srgbClr val="8199A8"/>
            </a:solidFill>
            <a:prstDash val="solid"/>
          </a:ln>
        </p:spPr>
        <p:txBody>
          <a:bodyPr/>
          <a:lstStyle/>
          <a:p>
            <a:endParaRPr lang="en-ZA"/>
          </a:p>
        </p:txBody>
      </p:sp>
      <p:sp>
        <p:nvSpPr>
          <p:cNvPr id="85" name="Rectangle 84">
            <a:extLst>
              <a:ext uri="{FF2B5EF4-FFF2-40B4-BE49-F238E27FC236}">
                <a16:creationId xmlns:a16="http://schemas.microsoft.com/office/drawing/2014/main" id="{E698FDE1-1000-458E-9478-6A79DF92DF91}"/>
              </a:ext>
            </a:extLst>
          </p:cNvPr>
          <p:cNvSpPr>
            <a:spLocks noGrp="1"/>
          </p:cNvSpPr>
          <p:nvPr/>
        </p:nvSpPr>
        <p:spPr>
          <a:xfrm>
            <a:off x="10582275" y="5086350"/>
            <a:ext cx="904875" cy="219075"/>
          </a:xfrm>
          <a:prstGeom prst="rect">
            <a:avLst/>
          </a:prstGeom>
          <a:noFill/>
          <a:ln w="0">
            <a:noFill/>
            <a:prstDash val="solid"/>
          </a:ln>
        </p:spPr>
        <p:txBody>
          <a:bodyPr anchor="ctr"/>
          <a:lstStyle/>
          <a:p>
            <a:pPr algn="l">
              <a:defRPr sz="1050" b="1">
                <a:solidFill>
                  <a:srgbClr val="526B7B"/>
                </a:solidFill>
              </a:defRPr>
            </a:pPr>
            <a:r>
              <a:rPr sz="1050" b="1">
                <a:solidFill>
                  <a:srgbClr val="526B7B"/>
                </a:solidFill>
              </a:rPr>
              <a:t>NOTES</a:t>
            </a:r>
          </a:p>
        </p:txBody>
      </p:sp>
      <p:sp>
        <p:nvSpPr>
          <p:cNvPr id="86" name="Rectangle 85">
            <a:extLst>
              <a:ext uri="{FF2B5EF4-FFF2-40B4-BE49-F238E27FC236}">
                <a16:creationId xmlns:a16="http://schemas.microsoft.com/office/drawing/2014/main" id="{56183709-88D8-462D-896E-77208D80D683}"/>
              </a:ext>
            </a:extLst>
          </p:cNvPr>
          <p:cNvSpPr>
            <a:spLocks noGrp="1"/>
          </p:cNvSpPr>
          <p:nvPr/>
        </p:nvSpPr>
        <p:spPr>
          <a:xfrm>
            <a:off x="10325100" y="5410200"/>
            <a:ext cx="1533525" cy="876300"/>
          </a:xfrm>
          <a:prstGeom prst="rect">
            <a:avLst/>
          </a:prstGeom>
          <a:noFill/>
          <a:ln w="0">
            <a:noFill/>
            <a:prstDash val="solid"/>
          </a:ln>
        </p:spPr>
        <p:txBody>
          <a:bodyPr anchor="ctr"/>
          <a:lstStyle/>
          <a:p>
            <a:pPr algn="ctr">
              <a:defRPr sz="750" b="0">
                <a:solidFill>
                  <a:srgbClr val="222222"/>
                </a:solidFill>
              </a:defRPr>
            </a:pPr>
            <a:r>
              <a:rPr sz="750" b="0">
                <a:solidFill>
                  <a:srgbClr val="222222"/>
                </a:solidFill>
              </a:rPr>
              <a:t>Kinesis Data Streams is not included in the base architecture because real-time consumption is not required in Phase 1. It can be added later for future real-time use cases.</a:t>
            </a:r>
          </a:p>
        </p:txBody>
      </p:sp>
      <p:sp>
        <p:nvSpPr>
          <p:cNvPr id="87" name="Rectangle 86">
            <a:extLst>
              <a:ext uri="{FF2B5EF4-FFF2-40B4-BE49-F238E27FC236}">
                <a16:creationId xmlns:a16="http://schemas.microsoft.com/office/drawing/2014/main" id="{FD57559F-C35A-4091-9308-698F1C3102C6}"/>
              </a:ext>
            </a:extLst>
          </p:cNvPr>
          <p:cNvSpPr>
            <a:spLocks noGrp="1"/>
          </p:cNvSpPr>
          <p:nvPr/>
        </p:nvSpPr>
        <p:spPr>
          <a:xfrm>
            <a:off x="10382250" y="6400800"/>
            <a:ext cx="1495425" cy="123825"/>
          </a:xfrm>
          <a:prstGeom prst="rect">
            <a:avLst/>
          </a:prstGeom>
          <a:noFill/>
          <a:ln w="0">
            <a:noFill/>
            <a:prstDash val="solid"/>
          </a:ln>
        </p:spPr>
        <p:txBody>
          <a:bodyPr anchor="ctr"/>
          <a:lstStyle/>
          <a:p>
            <a:pPr algn="r">
              <a:defRPr sz="675" b="1">
                <a:solidFill>
                  <a:srgbClr val="333333"/>
                </a:solidFill>
              </a:defRPr>
            </a:pPr>
            <a:r>
              <a:rPr sz="675" b="1">
                <a:solidFill>
                  <a:srgbClr val="333333"/>
                </a:solidFill>
              </a:rPr>
              <a:t>Prepared by Nikhil Lakha</a:t>
            </a:r>
          </a:p>
        </p:txBody>
      </p:sp>
      <p:sp>
        <p:nvSpPr>
          <p:cNvPr id="75" name="Arrow: Right 74">
            <a:extLst>
              <a:ext uri="{FF2B5EF4-FFF2-40B4-BE49-F238E27FC236}">
                <a16:creationId xmlns:a16="http://schemas.microsoft.com/office/drawing/2014/main" id="{8979BF14-E6C4-592D-2454-6AC649E026BE}"/>
              </a:ext>
            </a:extLst>
          </p:cNvPr>
          <p:cNvSpPr>
            <a:spLocks noGrp="1"/>
          </p:cNvSpPr>
          <p:nvPr/>
        </p:nvSpPr>
        <p:spPr>
          <a:xfrm rot="5400000">
            <a:off x="11191875" y="2852547"/>
            <a:ext cx="266700" cy="171450"/>
          </a:xfrm>
          <a:prstGeom prst="rightArrow">
            <a:avLst/>
          </a:prstGeom>
          <a:solidFill>
            <a:srgbClr val="111111"/>
          </a:solidFill>
          <a:ln w="0">
            <a:noFill/>
            <a:prstDash val="solid"/>
          </a:ln>
        </p:spPr>
        <p:txBody>
          <a:bodyPr/>
          <a:lstStyle/>
          <a:p>
            <a:endParaRPr lang="en-ZA"/>
          </a:p>
        </p:txBody>
      </p:sp>
      <p:sp>
        <p:nvSpPr>
          <p:cNvPr id="90" name="Rectangle: Rounded Corners 89">
            <a:extLst>
              <a:ext uri="{FF2B5EF4-FFF2-40B4-BE49-F238E27FC236}">
                <a16:creationId xmlns:a16="http://schemas.microsoft.com/office/drawing/2014/main" id="{4C5780D0-1C3E-09F0-7B3F-2FD286E19417}"/>
              </a:ext>
            </a:extLst>
          </p:cNvPr>
          <p:cNvSpPr>
            <a:spLocks noGrp="1"/>
          </p:cNvSpPr>
          <p:nvPr/>
        </p:nvSpPr>
        <p:spPr>
          <a:xfrm>
            <a:off x="10725150" y="3109912"/>
            <a:ext cx="1200150" cy="1519238"/>
          </a:xfrm>
          <a:prstGeom prst="roundRect">
            <a:avLst>
              <a:gd name="adj" fmla="val 9524"/>
            </a:avLst>
          </a:prstGeom>
          <a:solidFill>
            <a:srgbClr val="FFFFFF"/>
          </a:solidFill>
          <a:ln w="9525">
            <a:solidFill>
              <a:srgbClr val="C9C9C9"/>
            </a:solidFill>
            <a:prstDash val="solid"/>
          </a:ln>
        </p:spPr>
        <p:txBody>
          <a:bodyPr/>
          <a:lstStyle/>
          <a:p>
            <a:endParaRPr lang="en-ZA"/>
          </a:p>
        </p:txBody>
      </p:sp>
      <p:sp>
        <p:nvSpPr>
          <p:cNvPr id="92" name="Rectangle 91">
            <a:extLst>
              <a:ext uri="{FF2B5EF4-FFF2-40B4-BE49-F238E27FC236}">
                <a16:creationId xmlns:a16="http://schemas.microsoft.com/office/drawing/2014/main" id="{0A35E78F-5C4D-CD71-C6EB-F97A7BB960F1}"/>
              </a:ext>
            </a:extLst>
          </p:cNvPr>
          <p:cNvSpPr>
            <a:spLocks noGrp="1"/>
          </p:cNvSpPr>
          <p:nvPr/>
        </p:nvSpPr>
        <p:spPr>
          <a:xfrm>
            <a:off x="10906125" y="3061525"/>
            <a:ext cx="942975" cy="1362075"/>
          </a:xfrm>
          <a:prstGeom prst="rect">
            <a:avLst/>
          </a:prstGeom>
          <a:noFill/>
          <a:ln w="0">
            <a:noFill/>
            <a:prstDash val="solid"/>
          </a:ln>
        </p:spPr>
        <p:txBody>
          <a:bodyPr anchor="ctr"/>
          <a:lstStyle/>
          <a:p>
            <a:pPr>
              <a:defRPr sz="675" b="1">
                <a:solidFill>
                  <a:srgbClr val="171719"/>
                </a:solidFill>
              </a:defRPr>
            </a:pPr>
            <a:r>
              <a:rPr sz="675" b="1" dirty="0">
                <a:solidFill>
                  <a:srgbClr val="171719"/>
                </a:solidFill>
              </a:rPr>
              <a:t>Amazon </a:t>
            </a:r>
            <a:r>
              <a:rPr sz="675" b="1" dirty="0" err="1">
                <a:solidFill>
                  <a:srgbClr val="171719"/>
                </a:solidFill>
              </a:rPr>
              <a:t>QuickSight</a:t>
            </a:r>
            <a:endParaRPr sz="675" b="1" dirty="0">
              <a:solidFill>
                <a:srgbClr val="171719"/>
              </a:solidFill>
            </a:endParaRPr>
          </a:p>
          <a:p>
            <a:endParaRPr sz="675" b="1" dirty="0">
              <a:solidFill>
                <a:srgbClr val="171719"/>
              </a:solidFill>
            </a:endParaRPr>
          </a:p>
          <a:p>
            <a:pPr>
              <a:defRPr sz="675" b="1">
                <a:solidFill>
                  <a:srgbClr val="171719"/>
                </a:solidFill>
              </a:defRPr>
            </a:pPr>
            <a:r>
              <a:rPr sz="675" b="1" dirty="0">
                <a:solidFill>
                  <a:srgbClr val="171719"/>
                </a:solidFill>
              </a:rPr>
              <a:t>Python / ML Analytics</a:t>
            </a:r>
          </a:p>
          <a:p>
            <a:endParaRPr sz="675" b="1" dirty="0">
              <a:solidFill>
                <a:srgbClr val="171719"/>
              </a:solidFill>
            </a:endParaRPr>
          </a:p>
          <a:p>
            <a:pPr>
              <a:defRPr sz="675" b="1">
                <a:solidFill>
                  <a:srgbClr val="171719"/>
                </a:solidFill>
              </a:defRPr>
            </a:pPr>
            <a:r>
              <a:rPr sz="675" b="1" dirty="0">
                <a:solidFill>
                  <a:srgbClr val="171719"/>
                </a:solidFill>
              </a:rPr>
              <a:t>Power BI (</a:t>
            </a:r>
            <a:r>
              <a:rPr lang="en-ZA" sz="675" b="1" dirty="0">
                <a:solidFill>
                  <a:srgbClr val="171719"/>
                </a:solidFill>
              </a:rPr>
              <a:t>Optional</a:t>
            </a:r>
            <a:r>
              <a:rPr sz="675" b="1" dirty="0">
                <a:solidFill>
                  <a:srgbClr val="171719"/>
                </a:solidFill>
              </a:rPr>
              <a:t>)</a:t>
            </a:r>
          </a:p>
        </p:txBody>
      </p:sp>
      <p:pic>
        <p:nvPicPr>
          <p:cNvPr id="94" name="Picture 93">
            <a:extLst>
              <a:ext uri="{FF2B5EF4-FFF2-40B4-BE49-F238E27FC236}">
                <a16:creationId xmlns:a16="http://schemas.microsoft.com/office/drawing/2014/main" id="{7A42F209-2CDE-8282-9B6E-F48F4D553B53}"/>
              </a:ext>
            </a:extLst>
          </p:cNvPr>
          <p:cNvPicPr>
            <a:picLocks noChangeAspect="1"/>
          </p:cNvPicPr>
          <p:nvPr/>
        </p:nvPicPr>
        <p:blipFill>
          <a:blip r:embed="rId11"/>
          <a:stretch>
            <a:fillRect/>
          </a:stretch>
        </p:blipFill>
        <p:spPr>
          <a:xfrm>
            <a:off x="10863188" y="3447503"/>
            <a:ext cx="85873" cy="86272"/>
          </a:xfrm>
          <a:prstGeom prst="rect">
            <a:avLst/>
          </a:prstGeom>
        </p:spPr>
      </p:pic>
      <p:pic>
        <p:nvPicPr>
          <p:cNvPr id="95" name="Picture 94" descr="File:Python-logo-notext.svg - Wikimedia Commons">
            <a:extLst>
              <a:ext uri="{FF2B5EF4-FFF2-40B4-BE49-F238E27FC236}">
                <a16:creationId xmlns:a16="http://schemas.microsoft.com/office/drawing/2014/main" id="{AD7EF2A7-1C8D-6CAD-5FFF-9DB34383E95D}"/>
              </a:ext>
            </a:extLst>
          </p:cNvPr>
          <p:cNvPicPr>
            <a:picLocks noChangeAspect="1"/>
          </p:cNvPicPr>
          <p:nvPr/>
        </p:nvPicPr>
        <p:blipFill>
          <a:blip r:embed="rId12"/>
          <a:stretch>
            <a:fillRect/>
          </a:stretch>
        </p:blipFill>
        <p:spPr>
          <a:xfrm>
            <a:off x="10839831" y="3675422"/>
            <a:ext cx="132588" cy="132588"/>
          </a:xfrm>
          <a:prstGeom prst="rect">
            <a:avLst/>
          </a:prstGeom>
        </p:spPr>
      </p:pic>
      <p:pic>
        <p:nvPicPr>
          <p:cNvPr id="96" name="Picture 95" descr="Microsoft Power BI | Smartsheet">
            <a:extLst>
              <a:ext uri="{FF2B5EF4-FFF2-40B4-BE49-F238E27FC236}">
                <a16:creationId xmlns:a16="http://schemas.microsoft.com/office/drawing/2014/main" id="{31E3E430-22E1-9337-1819-2DCA4E7972FD}"/>
              </a:ext>
            </a:extLst>
          </p:cNvPr>
          <p:cNvPicPr>
            <a:picLocks noChangeAspect="1"/>
          </p:cNvPicPr>
          <p:nvPr/>
        </p:nvPicPr>
        <p:blipFill>
          <a:blip r:embed="rId13"/>
          <a:stretch>
            <a:fillRect/>
          </a:stretch>
        </p:blipFill>
        <p:spPr>
          <a:xfrm>
            <a:off x="10815108" y="3909435"/>
            <a:ext cx="163080" cy="163080"/>
          </a:xfrm>
          <a:prstGeom prst="rect">
            <a:avLst/>
          </a:prstGeom>
        </p:spPr>
      </p:pic>
    </p:spTree>
    <p:extLst>
      <p:ext uri="{BB962C8B-B14F-4D97-AF65-F5344CB8AC3E}">
        <p14:creationId xmlns:p14="http://schemas.microsoft.com/office/powerpoint/2010/main" val="3200878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861DA89-4FE6-489D-A50C-BAF49971F734}"/>
              </a:ext>
            </a:extLst>
          </p:cNvPr>
          <p:cNvSpPr>
            <a:spLocks noGrp="1"/>
          </p:cNvSpPr>
          <p:nvPr/>
        </p:nvSpPr>
        <p:spPr>
          <a:xfrm>
            <a:off x="0" y="0"/>
            <a:ext cx="7239000" cy="6858000"/>
          </a:xfrm>
          <a:prstGeom prst="rect">
            <a:avLst/>
          </a:prstGeom>
          <a:solidFill>
            <a:srgbClr val="F4F1EE"/>
          </a:solidFill>
          <a:ln w="0">
            <a:noFill/>
            <a:prstDash val="solid"/>
          </a:ln>
        </p:spPr>
        <p:txBody>
          <a:bodyPr/>
          <a:lstStyle/>
          <a:p>
            <a:endParaRPr lang="en-ZA" dirty="0"/>
          </a:p>
        </p:txBody>
      </p:sp>
      <p:sp>
        <p:nvSpPr>
          <p:cNvPr id="2" name="Rectangle 1">
            <a:extLst>
              <a:ext uri="{FF2B5EF4-FFF2-40B4-BE49-F238E27FC236}">
                <a16:creationId xmlns:a16="http://schemas.microsoft.com/office/drawing/2014/main" id="{9CA8C68C-D7D8-49B6-8962-5B9F882DAC00}"/>
              </a:ext>
            </a:extLst>
          </p:cNvPr>
          <p:cNvSpPr>
            <a:spLocks noGrp="1"/>
          </p:cNvSpPr>
          <p:nvPr/>
        </p:nvSpPr>
        <p:spPr>
          <a:xfrm>
            <a:off x="7239000" y="0"/>
            <a:ext cx="4953000" cy="6858000"/>
          </a:xfrm>
          <a:prstGeom prst="rect">
            <a:avLst/>
          </a:prstGeom>
          <a:solidFill>
            <a:srgbClr val="E60000"/>
          </a:solidFill>
          <a:ln w="0">
            <a:noFill/>
            <a:prstDash val="solid"/>
          </a:ln>
        </p:spPr>
        <p:txBody>
          <a:bodyPr/>
          <a:lstStyle/>
          <a:p>
            <a:endParaRPr lang="en-ZA" dirty="0"/>
          </a:p>
        </p:txBody>
      </p:sp>
      <p:sp>
        <p:nvSpPr>
          <p:cNvPr id="3" name="Rectangle: Rounded Corners 2">
            <a:extLst>
              <a:ext uri="{FF2B5EF4-FFF2-40B4-BE49-F238E27FC236}">
                <a16:creationId xmlns:a16="http://schemas.microsoft.com/office/drawing/2014/main" id="{F8A98AD8-4663-4D9C-A40B-E8E95D770A84}"/>
              </a:ext>
            </a:extLst>
          </p:cNvPr>
          <p:cNvSpPr>
            <a:spLocks noGrp="1"/>
          </p:cNvSpPr>
          <p:nvPr/>
        </p:nvSpPr>
        <p:spPr>
          <a:xfrm>
            <a:off x="628650" y="476250"/>
            <a:ext cx="1524000" cy="285750"/>
          </a:xfrm>
          <a:prstGeom prst="roundRect">
            <a:avLst>
              <a:gd name="adj" fmla="val 40000"/>
            </a:avLst>
          </a:prstGeom>
          <a:solidFill>
            <a:srgbClr val="0B0B0C"/>
          </a:solidFill>
          <a:ln w="0">
            <a:noFill/>
            <a:prstDash val="solid"/>
          </a:ln>
        </p:spPr>
        <p:txBody>
          <a:bodyPr/>
          <a:lstStyle/>
          <a:p>
            <a:endParaRPr lang="en-ZA"/>
          </a:p>
        </p:txBody>
      </p:sp>
      <p:sp>
        <p:nvSpPr>
          <p:cNvPr id="4" name="Rectangle 3">
            <a:extLst>
              <a:ext uri="{FF2B5EF4-FFF2-40B4-BE49-F238E27FC236}">
                <a16:creationId xmlns:a16="http://schemas.microsoft.com/office/drawing/2014/main" id="{F36F3A27-EDFE-4BE3-85D1-0618EB0C523E}"/>
              </a:ext>
            </a:extLst>
          </p:cNvPr>
          <p:cNvSpPr>
            <a:spLocks noGrp="1"/>
          </p:cNvSpPr>
          <p:nvPr/>
        </p:nvSpPr>
        <p:spPr>
          <a:xfrm>
            <a:off x="628650" y="476250"/>
            <a:ext cx="1524000" cy="285750"/>
          </a:xfrm>
          <a:prstGeom prst="rect">
            <a:avLst/>
          </a:prstGeom>
          <a:noFill/>
          <a:ln w="0">
            <a:noFill/>
            <a:prstDash val="solid"/>
          </a:ln>
        </p:spPr>
        <p:txBody>
          <a:bodyPr anchor="ctr"/>
          <a:lstStyle/>
          <a:p>
            <a:pPr algn="ctr">
              <a:defRPr sz="975" b="1">
                <a:solidFill>
                  <a:srgbClr val="FFFFFF"/>
                </a:solidFill>
              </a:defRPr>
            </a:pPr>
            <a:r>
              <a:rPr sz="975" b="1">
                <a:solidFill>
                  <a:srgbClr val="FFFFFF"/>
                </a:solidFill>
              </a:rPr>
              <a:t>THE TRADE-OFF</a:t>
            </a:r>
          </a:p>
        </p:txBody>
      </p:sp>
      <p:sp>
        <p:nvSpPr>
          <p:cNvPr id="5" name="Rectangle 4">
            <a:extLst>
              <a:ext uri="{FF2B5EF4-FFF2-40B4-BE49-F238E27FC236}">
                <a16:creationId xmlns:a16="http://schemas.microsoft.com/office/drawing/2014/main" id="{3DBCE57C-0275-464B-910E-A883336A55A7}"/>
              </a:ext>
            </a:extLst>
          </p:cNvPr>
          <p:cNvSpPr>
            <a:spLocks noGrp="1"/>
          </p:cNvSpPr>
          <p:nvPr/>
        </p:nvSpPr>
        <p:spPr>
          <a:xfrm>
            <a:off x="628650" y="914400"/>
            <a:ext cx="6191250" cy="1000125"/>
          </a:xfrm>
          <a:prstGeom prst="rect">
            <a:avLst/>
          </a:prstGeom>
          <a:noFill/>
          <a:ln w="0">
            <a:noFill/>
            <a:prstDash val="solid"/>
          </a:ln>
        </p:spPr>
        <p:txBody>
          <a:bodyPr anchor="ctr"/>
          <a:lstStyle/>
          <a:p>
            <a:pPr algn="l">
              <a:defRPr sz="3000" b="1">
                <a:solidFill>
                  <a:srgbClr val="171719"/>
                </a:solidFill>
              </a:defRPr>
            </a:pPr>
            <a:r>
              <a:rPr sz="3000" b="1">
                <a:solidFill>
                  <a:srgbClr val="171719"/>
                </a:solidFill>
              </a:rPr>
              <a:t>Control creates value.</a:t>
            </a:r>
          </a:p>
          <a:p>
            <a:pPr algn="l">
              <a:defRPr sz="3000" b="1">
                <a:solidFill>
                  <a:srgbClr val="171719"/>
                </a:solidFill>
              </a:defRPr>
            </a:pPr>
            <a:r>
              <a:rPr sz="3000" b="1">
                <a:solidFill>
                  <a:srgbClr val="171719"/>
                </a:solidFill>
              </a:rPr>
              <a:t>Ownership creates work.</a:t>
            </a:r>
          </a:p>
        </p:txBody>
      </p:sp>
      <p:sp>
        <p:nvSpPr>
          <p:cNvPr id="6" name="Rectangle 5">
            <a:extLst>
              <a:ext uri="{FF2B5EF4-FFF2-40B4-BE49-F238E27FC236}">
                <a16:creationId xmlns:a16="http://schemas.microsoft.com/office/drawing/2014/main" id="{745B8EA6-1627-4EF1-9138-A6E8B724A437}"/>
              </a:ext>
            </a:extLst>
          </p:cNvPr>
          <p:cNvSpPr>
            <a:spLocks noGrp="1"/>
          </p:cNvSpPr>
          <p:nvPr/>
        </p:nvSpPr>
        <p:spPr>
          <a:xfrm>
            <a:off x="628650" y="2343150"/>
            <a:ext cx="2476500" cy="266700"/>
          </a:xfrm>
          <a:prstGeom prst="rect">
            <a:avLst/>
          </a:prstGeom>
          <a:noFill/>
          <a:ln w="0">
            <a:noFill/>
            <a:prstDash val="solid"/>
          </a:ln>
        </p:spPr>
        <p:txBody>
          <a:bodyPr anchor="ctr"/>
          <a:lstStyle/>
          <a:p>
            <a:pPr algn="l">
              <a:defRPr sz="1350" b="1">
                <a:solidFill>
                  <a:srgbClr val="E60000"/>
                </a:solidFill>
              </a:defRPr>
            </a:pPr>
            <a:r>
              <a:rPr sz="1350" b="1">
                <a:solidFill>
                  <a:srgbClr val="E60000"/>
                </a:solidFill>
              </a:rPr>
              <a:t>WHAT WE GAIN</a:t>
            </a:r>
          </a:p>
        </p:txBody>
      </p:sp>
      <p:sp>
        <p:nvSpPr>
          <p:cNvPr id="7" name="Rectangle 6">
            <a:extLst>
              <a:ext uri="{FF2B5EF4-FFF2-40B4-BE49-F238E27FC236}">
                <a16:creationId xmlns:a16="http://schemas.microsoft.com/office/drawing/2014/main" id="{A008DFB4-6C5F-452A-84E0-340630E4531E}"/>
              </a:ext>
            </a:extLst>
          </p:cNvPr>
          <p:cNvSpPr>
            <a:spLocks noGrp="1"/>
          </p:cNvSpPr>
          <p:nvPr/>
        </p:nvSpPr>
        <p:spPr>
          <a:xfrm>
            <a:off x="628650" y="2781300"/>
            <a:ext cx="285750" cy="323850"/>
          </a:xfrm>
          <a:prstGeom prst="rect">
            <a:avLst/>
          </a:prstGeom>
          <a:noFill/>
          <a:ln w="0">
            <a:noFill/>
            <a:prstDash val="solid"/>
          </a:ln>
        </p:spPr>
        <p:txBody>
          <a:bodyPr anchor="ctr"/>
          <a:lstStyle/>
          <a:p>
            <a:pPr algn="l">
              <a:defRPr sz="2025" b="1">
                <a:solidFill>
                  <a:srgbClr val="E60000"/>
                </a:solidFill>
              </a:defRPr>
            </a:pPr>
            <a:r>
              <a:rPr sz="2025" b="1">
                <a:solidFill>
                  <a:srgbClr val="E60000"/>
                </a:solidFill>
              </a:rPr>
              <a:t>+</a:t>
            </a:r>
          </a:p>
        </p:txBody>
      </p:sp>
      <p:sp>
        <p:nvSpPr>
          <p:cNvPr id="8" name="Rectangle 7">
            <a:extLst>
              <a:ext uri="{FF2B5EF4-FFF2-40B4-BE49-F238E27FC236}">
                <a16:creationId xmlns:a16="http://schemas.microsoft.com/office/drawing/2014/main" id="{F25579C0-7BE4-40D6-A580-BEB1E5C8B6F0}"/>
              </a:ext>
            </a:extLst>
          </p:cNvPr>
          <p:cNvSpPr>
            <a:spLocks noGrp="1"/>
          </p:cNvSpPr>
          <p:nvPr/>
        </p:nvSpPr>
        <p:spPr>
          <a:xfrm>
            <a:off x="1066800" y="2781300"/>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Full Data Ownership &amp; Control</a:t>
            </a:r>
            <a:endParaRPr sz="1500" b="1" dirty="0">
              <a:solidFill>
                <a:srgbClr val="171719"/>
              </a:solidFill>
            </a:endParaRPr>
          </a:p>
        </p:txBody>
      </p:sp>
      <p:sp>
        <p:nvSpPr>
          <p:cNvPr id="9" name="Rectangle 8">
            <a:extLst>
              <a:ext uri="{FF2B5EF4-FFF2-40B4-BE49-F238E27FC236}">
                <a16:creationId xmlns:a16="http://schemas.microsoft.com/office/drawing/2014/main" id="{4EC68790-18B5-4042-948D-385E85057F8D}"/>
              </a:ext>
            </a:extLst>
          </p:cNvPr>
          <p:cNvSpPr>
            <a:spLocks noGrp="1"/>
          </p:cNvSpPr>
          <p:nvPr/>
        </p:nvSpPr>
        <p:spPr>
          <a:xfrm>
            <a:off x="628650" y="3060700"/>
            <a:ext cx="285750" cy="323850"/>
          </a:xfrm>
          <a:prstGeom prst="rect">
            <a:avLst/>
          </a:prstGeom>
          <a:noFill/>
          <a:ln w="0">
            <a:noFill/>
            <a:prstDash val="solid"/>
          </a:ln>
        </p:spPr>
        <p:txBody>
          <a:bodyPr anchor="ctr"/>
          <a:lstStyle/>
          <a:p>
            <a:pPr algn="l">
              <a:defRPr sz="2025" b="1">
                <a:solidFill>
                  <a:srgbClr val="E60000"/>
                </a:solidFill>
              </a:defRPr>
            </a:pPr>
            <a:r>
              <a:rPr sz="2025" b="1" dirty="0">
                <a:solidFill>
                  <a:srgbClr val="E60000"/>
                </a:solidFill>
              </a:rPr>
              <a:t>+</a:t>
            </a:r>
          </a:p>
        </p:txBody>
      </p:sp>
      <p:sp>
        <p:nvSpPr>
          <p:cNvPr id="10" name="Rectangle 9">
            <a:extLst>
              <a:ext uri="{FF2B5EF4-FFF2-40B4-BE49-F238E27FC236}">
                <a16:creationId xmlns:a16="http://schemas.microsoft.com/office/drawing/2014/main" id="{49E807D7-7A40-49FA-BCDC-3D4D6BCA2682}"/>
              </a:ext>
            </a:extLst>
          </p:cNvPr>
          <p:cNvSpPr>
            <a:spLocks noGrp="1"/>
          </p:cNvSpPr>
          <p:nvPr/>
        </p:nvSpPr>
        <p:spPr>
          <a:xfrm>
            <a:off x="1066800" y="3060700"/>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Cost Efficiency at Scale</a:t>
            </a:r>
            <a:endParaRPr sz="1500" b="1" dirty="0">
              <a:solidFill>
                <a:srgbClr val="171719"/>
              </a:solidFill>
            </a:endParaRPr>
          </a:p>
        </p:txBody>
      </p:sp>
      <p:sp>
        <p:nvSpPr>
          <p:cNvPr id="11" name="Rectangle 10">
            <a:extLst>
              <a:ext uri="{FF2B5EF4-FFF2-40B4-BE49-F238E27FC236}">
                <a16:creationId xmlns:a16="http://schemas.microsoft.com/office/drawing/2014/main" id="{AF5AFB81-83F9-47F9-A319-0736F31F1DF2}"/>
              </a:ext>
            </a:extLst>
          </p:cNvPr>
          <p:cNvSpPr>
            <a:spLocks noGrp="1"/>
          </p:cNvSpPr>
          <p:nvPr/>
        </p:nvSpPr>
        <p:spPr>
          <a:xfrm>
            <a:off x="628650" y="3352800"/>
            <a:ext cx="285750" cy="323850"/>
          </a:xfrm>
          <a:prstGeom prst="rect">
            <a:avLst/>
          </a:prstGeom>
          <a:noFill/>
          <a:ln w="0">
            <a:noFill/>
            <a:prstDash val="solid"/>
          </a:ln>
        </p:spPr>
        <p:txBody>
          <a:bodyPr anchor="ctr"/>
          <a:lstStyle/>
          <a:p>
            <a:pPr algn="l">
              <a:defRPr sz="2025" b="1">
                <a:solidFill>
                  <a:srgbClr val="E60000"/>
                </a:solidFill>
              </a:defRPr>
            </a:pPr>
            <a:r>
              <a:rPr sz="2025" b="1" dirty="0">
                <a:solidFill>
                  <a:srgbClr val="E60000"/>
                </a:solidFill>
              </a:rPr>
              <a:t>+</a:t>
            </a:r>
          </a:p>
        </p:txBody>
      </p:sp>
      <p:sp>
        <p:nvSpPr>
          <p:cNvPr id="12" name="Rectangle 11">
            <a:extLst>
              <a:ext uri="{FF2B5EF4-FFF2-40B4-BE49-F238E27FC236}">
                <a16:creationId xmlns:a16="http://schemas.microsoft.com/office/drawing/2014/main" id="{A80CDBD1-A2CB-43B6-9DD1-CE75443C564F}"/>
              </a:ext>
            </a:extLst>
          </p:cNvPr>
          <p:cNvSpPr>
            <a:spLocks noGrp="1"/>
          </p:cNvSpPr>
          <p:nvPr/>
        </p:nvSpPr>
        <p:spPr>
          <a:xfrm>
            <a:off x="1066800" y="3352800"/>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No Adobe Analytics Vendor Lock-in and Tool Agnostic</a:t>
            </a:r>
            <a:endParaRPr sz="1500" b="1" dirty="0">
              <a:solidFill>
                <a:srgbClr val="171719"/>
              </a:solidFill>
            </a:endParaRPr>
          </a:p>
        </p:txBody>
      </p:sp>
      <p:sp>
        <p:nvSpPr>
          <p:cNvPr id="13" name="Rectangle 12">
            <a:extLst>
              <a:ext uri="{FF2B5EF4-FFF2-40B4-BE49-F238E27FC236}">
                <a16:creationId xmlns:a16="http://schemas.microsoft.com/office/drawing/2014/main" id="{91DCB468-F102-4A9D-ACF5-0E3CB88663B6}"/>
              </a:ext>
            </a:extLst>
          </p:cNvPr>
          <p:cNvSpPr>
            <a:spLocks noGrp="1"/>
          </p:cNvSpPr>
          <p:nvPr/>
        </p:nvSpPr>
        <p:spPr>
          <a:xfrm>
            <a:off x="628650" y="3683000"/>
            <a:ext cx="285750" cy="323850"/>
          </a:xfrm>
          <a:prstGeom prst="rect">
            <a:avLst/>
          </a:prstGeom>
          <a:noFill/>
          <a:ln w="0">
            <a:noFill/>
            <a:prstDash val="solid"/>
          </a:ln>
        </p:spPr>
        <p:txBody>
          <a:bodyPr anchor="ctr"/>
          <a:lstStyle/>
          <a:p>
            <a:pPr algn="l">
              <a:defRPr sz="2025" b="1">
                <a:solidFill>
                  <a:srgbClr val="E60000"/>
                </a:solidFill>
              </a:defRPr>
            </a:pPr>
            <a:r>
              <a:rPr sz="2025" b="1" dirty="0">
                <a:solidFill>
                  <a:srgbClr val="E60000"/>
                </a:solidFill>
              </a:rPr>
              <a:t>+</a:t>
            </a:r>
          </a:p>
        </p:txBody>
      </p:sp>
      <p:sp>
        <p:nvSpPr>
          <p:cNvPr id="14" name="Rectangle 13">
            <a:extLst>
              <a:ext uri="{FF2B5EF4-FFF2-40B4-BE49-F238E27FC236}">
                <a16:creationId xmlns:a16="http://schemas.microsoft.com/office/drawing/2014/main" id="{3EEE15E4-F7FF-426A-9D55-8FC7693822FD}"/>
              </a:ext>
            </a:extLst>
          </p:cNvPr>
          <p:cNvSpPr>
            <a:spLocks noGrp="1"/>
          </p:cNvSpPr>
          <p:nvPr/>
        </p:nvSpPr>
        <p:spPr>
          <a:xfrm>
            <a:off x="1066800" y="3683000"/>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Greater Flexibility and Customization</a:t>
            </a:r>
            <a:endParaRPr sz="1500" b="1" dirty="0">
              <a:solidFill>
                <a:srgbClr val="171719"/>
              </a:solidFill>
            </a:endParaRPr>
          </a:p>
        </p:txBody>
      </p:sp>
      <p:sp>
        <p:nvSpPr>
          <p:cNvPr id="15" name="Rectangle 14">
            <a:extLst>
              <a:ext uri="{FF2B5EF4-FFF2-40B4-BE49-F238E27FC236}">
                <a16:creationId xmlns:a16="http://schemas.microsoft.com/office/drawing/2014/main" id="{F8F1DD19-2479-4029-85E7-C0EA4A7B3534}"/>
              </a:ext>
            </a:extLst>
          </p:cNvPr>
          <p:cNvSpPr>
            <a:spLocks noGrp="1"/>
          </p:cNvSpPr>
          <p:nvPr/>
        </p:nvSpPr>
        <p:spPr>
          <a:xfrm>
            <a:off x="7677150" y="742950"/>
            <a:ext cx="3524250" cy="285750"/>
          </a:xfrm>
          <a:prstGeom prst="rect">
            <a:avLst/>
          </a:prstGeom>
          <a:noFill/>
          <a:ln w="0">
            <a:noFill/>
            <a:prstDash val="solid"/>
          </a:ln>
        </p:spPr>
        <p:txBody>
          <a:bodyPr anchor="ctr"/>
          <a:lstStyle/>
          <a:p>
            <a:pPr algn="l">
              <a:defRPr sz="1350" b="1">
                <a:solidFill>
                  <a:srgbClr val="FFFFFF"/>
                </a:solidFill>
              </a:defRPr>
            </a:pPr>
            <a:r>
              <a:rPr sz="1350" b="1">
                <a:solidFill>
                  <a:srgbClr val="FFFFFF"/>
                </a:solidFill>
              </a:rPr>
              <a:t>WHAT WE TAKE ON</a:t>
            </a:r>
          </a:p>
        </p:txBody>
      </p:sp>
      <p:sp>
        <p:nvSpPr>
          <p:cNvPr id="16" name="Rectangle 15">
            <a:extLst>
              <a:ext uri="{FF2B5EF4-FFF2-40B4-BE49-F238E27FC236}">
                <a16:creationId xmlns:a16="http://schemas.microsoft.com/office/drawing/2014/main" id="{1DB85CF2-AFA2-4AC3-972B-5BE83265F742}"/>
              </a:ext>
            </a:extLst>
          </p:cNvPr>
          <p:cNvSpPr>
            <a:spLocks noGrp="1"/>
          </p:cNvSpPr>
          <p:nvPr/>
        </p:nvSpPr>
        <p:spPr>
          <a:xfrm>
            <a:off x="7677150" y="1162050"/>
            <a:ext cx="3714750" cy="876300"/>
          </a:xfrm>
          <a:prstGeom prst="rect">
            <a:avLst/>
          </a:prstGeom>
          <a:noFill/>
          <a:ln w="0">
            <a:noFill/>
            <a:prstDash val="solid"/>
          </a:ln>
        </p:spPr>
        <p:txBody>
          <a:bodyPr anchor="ctr"/>
          <a:lstStyle/>
          <a:p>
            <a:pPr algn="l">
              <a:defRPr sz="2550" b="1">
                <a:solidFill>
                  <a:srgbClr val="FFFFFF"/>
                </a:solidFill>
              </a:defRPr>
            </a:pPr>
            <a:r>
              <a:rPr sz="2550" b="1">
                <a:solidFill>
                  <a:srgbClr val="FFFFFF"/>
                </a:solidFill>
              </a:rPr>
              <a:t>A capability,</a:t>
            </a:r>
          </a:p>
          <a:p>
            <a:pPr algn="l">
              <a:defRPr sz="2550" b="1">
                <a:solidFill>
                  <a:srgbClr val="FFFFFF"/>
                </a:solidFill>
              </a:defRPr>
            </a:pPr>
            <a:r>
              <a:rPr sz="2550" b="1">
                <a:solidFill>
                  <a:srgbClr val="FFFFFF"/>
                </a:solidFill>
              </a:rPr>
              <a:t>not just a platform.</a:t>
            </a:r>
          </a:p>
        </p:txBody>
      </p:sp>
      <p:sp>
        <p:nvSpPr>
          <p:cNvPr id="29" name="Rectangle 28">
            <a:extLst>
              <a:ext uri="{FF2B5EF4-FFF2-40B4-BE49-F238E27FC236}">
                <a16:creationId xmlns:a16="http://schemas.microsoft.com/office/drawing/2014/main" id="{A9F7E69D-ECFA-4D73-9073-3457391E312D}"/>
              </a:ext>
            </a:extLst>
          </p:cNvPr>
          <p:cNvSpPr>
            <a:spLocks noGrp="1"/>
          </p:cNvSpPr>
          <p:nvPr/>
        </p:nvSpPr>
        <p:spPr>
          <a:xfrm>
            <a:off x="628650" y="5838825"/>
            <a:ext cx="6191250" cy="38100"/>
          </a:xfrm>
          <a:prstGeom prst="rect">
            <a:avLst/>
          </a:prstGeom>
          <a:solidFill>
            <a:srgbClr val="E60000"/>
          </a:solidFill>
          <a:ln w="0">
            <a:noFill/>
            <a:prstDash val="solid"/>
          </a:ln>
        </p:spPr>
        <p:txBody>
          <a:bodyPr/>
          <a:lstStyle/>
          <a:p>
            <a:endParaRPr lang="en-ZA"/>
          </a:p>
        </p:txBody>
      </p:sp>
      <p:sp>
        <p:nvSpPr>
          <p:cNvPr id="30" name="Rectangle 29">
            <a:extLst>
              <a:ext uri="{FF2B5EF4-FFF2-40B4-BE49-F238E27FC236}">
                <a16:creationId xmlns:a16="http://schemas.microsoft.com/office/drawing/2014/main" id="{B5026A00-DD39-4524-9902-97B7E7D2828D}"/>
              </a:ext>
            </a:extLst>
          </p:cNvPr>
          <p:cNvSpPr>
            <a:spLocks noGrp="1"/>
          </p:cNvSpPr>
          <p:nvPr/>
        </p:nvSpPr>
        <p:spPr>
          <a:xfrm>
            <a:off x="628650" y="5981700"/>
            <a:ext cx="6191250" cy="323850"/>
          </a:xfrm>
          <a:prstGeom prst="rect">
            <a:avLst/>
          </a:prstGeom>
          <a:noFill/>
          <a:ln w="0">
            <a:noFill/>
            <a:prstDash val="solid"/>
          </a:ln>
        </p:spPr>
        <p:txBody>
          <a:bodyPr anchor="ctr"/>
          <a:lstStyle/>
          <a:p>
            <a:pPr algn="l">
              <a:defRPr sz="1650" b="1">
                <a:solidFill>
                  <a:srgbClr val="171719"/>
                </a:solidFill>
              </a:defRPr>
            </a:pPr>
            <a:r>
              <a:rPr sz="1650" b="1">
                <a:solidFill>
                  <a:srgbClr val="171719"/>
                </a:solidFill>
              </a:rPr>
              <a:t>Recommendation: controlled pilot + parallel validation.</a:t>
            </a:r>
          </a:p>
        </p:txBody>
      </p:sp>
      <p:sp>
        <p:nvSpPr>
          <p:cNvPr id="31" name="Rectangle 30">
            <a:extLst>
              <a:ext uri="{FF2B5EF4-FFF2-40B4-BE49-F238E27FC236}">
                <a16:creationId xmlns:a16="http://schemas.microsoft.com/office/drawing/2014/main" id="{1ACFFAD3-7F53-4054-90D5-4C88556D294C}"/>
              </a:ext>
            </a:extLst>
          </p:cNvPr>
          <p:cNvSpPr>
            <a:spLocks noGrp="1"/>
          </p:cNvSpPr>
          <p:nvPr/>
        </p:nvSpPr>
        <p:spPr>
          <a:xfrm>
            <a:off x="628650" y="6419850"/>
            <a:ext cx="5334000" cy="171450"/>
          </a:xfrm>
          <a:prstGeom prst="rect">
            <a:avLst/>
          </a:prstGeom>
          <a:noFill/>
          <a:ln w="0">
            <a:noFill/>
            <a:prstDash val="solid"/>
          </a:ln>
        </p:spPr>
        <p:txBody>
          <a:bodyPr anchor="ctr"/>
          <a:lstStyle/>
          <a:p>
            <a:pPr algn="l">
              <a:defRPr sz="825" b="1">
                <a:solidFill>
                  <a:srgbClr val="777777"/>
                </a:solidFill>
              </a:defRPr>
            </a:pPr>
            <a:r>
              <a:rPr sz="825" b="1">
                <a:solidFill>
                  <a:srgbClr val="777777"/>
                </a:solidFill>
              </a:rPr>
              <a:t>VODACOM FINANCIAL SERVICES  •  DIGITAL ANALYTICS</a:t>
            </a:r>
          </a:p>
        </p:txBody>
      </p:sp>
      <p:sp>
        <p:nvSpPr>
          <p:cNvPr id="32" name="Rectangle 31">
            <a:extLst>
              <a:ext uri="{FF2B5EF4-FFF2-40B4-BE49-F238E27FC236}">
                <a16:creationId xmlns:a16="http://schemas.microsoft.com/office/drawing/2014/main" id="{3596C5AE-E98D-4790-8600-2A9694D2632B}"/>
              </a:ext>
            </a:extLst>
          </p:cNvPr>
          <p:cNvSpPr>
            <a:spLocks noGrp="1"/>
          </p:cNvSpPr>
          <p:nvPr/>
        </p:nvSpPr>
        <p:spPr>
          <a:xfrm>
            <a:off x="11096625" y="6419850"/>
            <a:ext cx="457200" cy="171450"/>
          </a:xfrm>
          <a:prstGeom prst="rect">
            <a:avLst/>
          </a:prstGeom>
          <a:noFill/>
          <a:ln w="0">
            <a:noFill/>
            <a:prstDash val="solid"/>
          </a:ln>
        </p:spPr>
        <p:txBody>
          <a:bodyPr anchor="ctr"/>
          <a:lstStyle/>
          <a:p>
            <a:pPr algn="r">
              <a:defRPr sz="825" b="1">
                <a:solidFill>
                  <a:srgbClr val="777777"/>
                </a:solidFill>
              </a:defRPr>
            </a:pPr>
            <a:r>
              <a:rPr sz="825" b="1">
                <a:solidFill>
                  <a:srgbClr val="777777"/>
                </a:solidFill>
              </a:rPr>
              <a:t>03</a:t>
            </a:r>
          </a:p>
        </p:txBody>
      </p:sp>
      <p:sp>
        <p:nvSpPr>
          <p:cNvPr id="35" name="Rectangle 34">
            <a:extLst>
              <a:ext uri="{FF2B5EF4-FFF2-40B4-BE49-F238E27FC236}">
                <a16:creationId xmlns:a16="http://schemas.microsoft.com/office/drawing/2014/main" id="{C0BD89A0-7588-AE7C-9745-98FF74282461}"/>
              </a:ext>
            </a:extLst>
          </p:cNvPr>
          <p:cNvSpPr>
            <a:spLocks noGrp="1"/>
          </p:cNvSpPr>
          <p:nvPr/>
        </p:nvSpPr>
        <p:spPr>
          <a:xfrm>
            <a:off x="1066799" y="4022725"/>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Join Digital Data with Other Data Sources</a:t>
            </a:r>
            <a:endParaRPr sz="1500" b="1" dirty="0">
              <a:solidFill>
                <a:srgbClr val="171719"/>
              </a:solidFill>
            </a:endParaRPr>
          </a:p>
        </p:txBody>
      </p:sp>
      <p:sp>
        <p:nvSpPr>
          <p:cNvPr id="39" name="Rectangle 38">
            <a:extLst>
              <a:ext uri="{FF2B5EF4-FFF2-40B4-BE49-F238E27FC236}">
                <a16:creationId xmlns:a16="http://schemas.microsoft.com/office/drawing/2014/main" id="{88411894-E94D-8522-91B3-C970FDD467F9}"/>
              </a:ext>
            </a:extLst>
          </p:cNvPr>
          <p:cNvSpPr>
            <a:spLocks noGrp="1"/>
          </p:cNvSpPr>
          <p:nvPr/>
        </p:nvSpPr>
        <p:spPr>
          <a:xfrm>
            <a:off x="628650" y="4000500"/>
            <a:ext cx="285750" cy="323850"/>
          </a:xfrm>
          <a:prstGeom prst="rect">
            <a:avLst/>
          </a:prstGeom>
          <a:noFill/>
          <a:ln w="0">
            <a:noFill/>
            <a:prstDash val="solid"/>
          </a:ln>
        </p:spPr>
        <p:txBody>
          <a:bodyPr anchor="ctr"/>
          <a:lstStyle/>
          <a:p>
            <a:pPr algn="l">
              <a:defRPr sz="2025" b="1">
                <a:solidFill>
                  <a:srgbClr val="E60000"/>
                </a:solidFill>
              </a:defRPr>
            </a:pPr>
            <a:r>
              <a:rPr sz="2025" b="1" dirty="0">
                <a:solidFill>
                  <a:srgbClr val="E60000"/>
                </a:solidFill>
              </a:rPr>
              <a:t>+</a:t>
            </a:r>
          </a:p>
        </p:txBody>
      </p:sp>
      <p:sp>
        <p:nvSpPr>
          <p:cNvPr id="41" name="Rectangle 40">
            <a:extLst>
              <a:ext uri="{FF2B5EF4-FFF2-40B4-BE49-F238E27FC236}">
                <a16:creationId xmlns:a16="http://schemas.microsoft.com/office/drawing/2014/main" id="{E44F04E6-2085-D948-41B9-785D26C28558}"/>
              </a:ext>
            </a:extLst>
          </p:cNvPr>
          <p:cNvSpPr>
            <a:spLocks noGrp="1"/>
          </p:cNvSpPr>
          <p:nvPr/>
        </p:nvSpPr>
        <p:spPr>
          <a:xfrm>
            <a:off x="1047748" y="4340225"/>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Better Data Transparency</a:t>
            </a:r>
            <a:endParaRPr sz="1500" b="1" dirty="0">
              <a:solidFill>
                <a:srgbClr val="171719"/>
              </a:solidFill>
            </a:endParaRPr>
          </a:p>
        </p:txBody>
      </p:sp>
      <p:sp>
        <p:nvSpPr>
          <p:cNvPr id="43" name="Rectangle 42">
            <a:extLst>
              <a:ext uri="{FF2B5EF4-FFF2-40B4-BE49-F238E27FC236}">
                <a16:creationId xmlns:a16="http://schemas.microsoft.com/office/drawing/2014/main" id="{7E4AA8F4-FA58-7107-6079-EF34A3350E63}"/>
              </a:ext>
            </a:extLst>
          </p:cNvPr>
          <p:cNvSpPr>
            <a:spLocks noGrp="1"/>
          </p:cNvSpPr>
          <p:nvPr/>
        </p:nvSpPr>
        <p:spPr>
          <a:xfrm>
            <a:off x="609599" y="4318000"/>
            <a:ext cx="285750" cy="323850"/>
          </a:xfrm>
          <a:prstGeom prst="rect">
            <a:avLst/>
          </a:prstGeom>
          <a:noFill/>
          <a:ln w="0">
            <a:noFill/>
            <a:prstDash val="solid"/>
          </a:ln>
        </p:spPr>
        <p:txBody>
          <a:bodyPr anchor="ctr"/>
          <a:lstStyle/>
          <a:p>
            <a:pPr algn="l">
              <a:defRPr sz="2025" b="1">
                <a:solidFill>
                  <a:srgbClr val="E60000"/>
                </a:solidFill>
              </a:defRPr>
            </a:pPr>
            <a:r>
              <a:rPr sz="2025" b="1" dirty="0">
                <a:solidFill>
                  <a:srgbClr val="E60000"/>
                </a:solidFill>
              </a:rPr>
              <a:t>+</a:t>
            </a:r>
          </a:p>
        </p:txBody>
      </p:sp>
      <p:sp>
        <p:nvSpPr>
          <p:cNvPr id="45" name="Rectangle 44">
            <a:extLst>
              <a:ext uri="{FF2B5EF4-FFF2-40B4-BE49-F238E27FC236}">
                <a16:creationId xmlns:a16="http://schemas.microsoft.com/office/drawing/2014/main" id="{C49DE9C7-83D1-9F4B-DBB7-F19F41E84A44}"/>
              </a:ext>
            </a:extLst>
          </p:cNvPr>
          <p:cNvSpPr>
            <a:spLocks noGrp="1"/>
          </p:cNvSpPr>
          <p:nvPr/>
        </p:nvSpPr>
        <p:spPr>
          <a:xfrm>
            <a:off x="7324726" y="2759075"/>
            <a:ext cx="285750" cy="323850"/>
          </a:xfrm>
          <a:prstGeom prst="rect">
            <a:avLst/>
          </a:prstGeom>
          <a:noFill/>
          <a:ln w="0">
            <a:noFill/>
            <a:prstDash val="solid"/>
          </a:ln>
        </p:spPr>
        <p:txBody>
          <a:bodyPr anchor="ctr"/>
          <a:lstStyle/>
          <a:p>
            <a:pPr algn="l">
              <a:defRPr sz="2025" b="1">
                <a:solidFill>
                  <a:srgbClr val="E60000"/>
                </a:solidFill>
              </a:defRPr>
            </a:pPr>
            <a:r>
              <a:rPr sz="2025" b="1" dirty="0">
                <a:ln>
                  <a:solidFill>
                    <a:schemeClr val="tx1"/>
                  </a:solidFill>
                </a:ln>
              </a:rPr>
              <a:t>+</a:t>
            </a:r>
          </a:p>
        </p:txBody>
      </p:sp>
      <p:sp>
        <p:nvSpPr>
          <p:cNvPr id="47" name="Rectangle 46">
            <a:extLst>
              <a:ext uri="{FF2B5EF4-FFF2-40B4-BE49-F238E27FC236}">
                <a16:creationId xmlns:a16="http://schemas.microsoft.com/office/drawing/2014/main" id="{81C5DA08-A031-6ECF-E56F-192166B4E9D5}"/>
              </a:ext>
            </a:extLst>
          </p:cNvPr>
          <p:cNvSpPr>
            <a:spLocks noGrp="1"/>
          </p:cNvSpPr>
          <p:nvPr/>
        </p:nvSpPr>
        <p:spPr>
          <a:xfrm>
            <a:off x="7772402" y="2759075"/>
            <a:ext cx="5381625" cy="323850"/>
          </a:xfrm>
          <a:prstGeom prst="rect">
            <a:avLst/>
          </a:prstGeom>
          <a:noFill/>
          <a:ln w="0">
            <a:noFill/>
            <a:prstDash val="solid"/>
          </a:ln>
        </p:spPr>
        <p:txBody>
          <a:bodyPr anchor="ctr"/>
          <a:lstStyle/>
          <a:p>
            <a:pPr>
              <a:defRPr sz="1500" b="1">
                <a:solidFill>
                  <a:srgbClr val="171719"/>
                </a:solidFill>
              </a:defRPr>
            </a:pPr>
            <a:r>
              <a:rPr lang="en-ZA" sz="1500" b="1" dirty="0">
                <a:solidFill>
                  <a:srgbClr val="171719"/>
                </a:solidFill>
              </a:rPr>
              <a:t>More Engineering and Initial Implementation Effort</a:t>
            </a:r>
          </a:p>
        </p:txBody>
      </p:sp>
      <p:sp>
        <p:nvSpPr>
          <p:cNvPr id="49" name="Rectangle 48">
            <a:extLst>
              <a:ext uri="{FF2B5EF4-FFF2-40B4-BE49-F238E27FC236}">
                <a16:creationId xmlns:a16="http://schemas.microsoft.com/office/drawing/2014/main" id="{BA6E5FBE-2F6A-EB2E-02D6-B7B139D62E01}"/>
              </a:ext>
            </a:extLst>
          </p:cNvPr>
          <p:cNvSpPr>
            <a:spLocks noGrp="1"/>
          </p:cNvSpPr>
          <p:nvPr/>
        </p:nvSpPr>
        <p:spPr>
          <a:xfrm>
            <a:off x="7324726" y="3038475"/>
            <a:ext cx="285750" cy="323850"/>
          </a:xfrm>
          <a:prstGeom prst="rect">
            <a:avLst/>
          </a:prstGeom>
          <a:noFill/>
          <a:ln w="0">
            <a:noFill/>
            <a:prstDash val="solid"/>
          </a:ln>
        </p:spPr>
        <p:txBody>
          <a:bodyPr anchor="ctr"/>
          <a:lstStyle/>
          <a:p>
            <a:pPr algn="l">
              <a:defRPr sz="2025" b="1">
                <a:solidFill>
                  <a:srgbClr val="E60000"/>
                </a:solidFill>
              </a:defRPr>
            </a:pPr>
            <a:r>
              <a:rPr sz="2025" b="1" dirty="0">
                <a:ln>
                  <a:solidFill>
                    <a:schemeClr val="tx1"/>
                  </a:solidFill>
                </a:ln>
              </a:rPr>
              <a:t>+</a:t>
            </a:r>
          </a:p>
        </p:txBody>
      </p:sp>
      <p:sp>
        <p:nvSpPr>
          <p:cNvPr id="51" name="Rectangle 50">
            <a:extLst>
              <a:ext uri="{FF2B5EF4-FFF2-40B4-BE49-F238E27FC236}">
                <a16:creationId xmlns:a16="http://schemas.microsoft.com/office/drawing/2014/main" id="{4D6DDCB6-D094-2C66-477D-7ABDA7C024D7}"/>
              </a:ext>
            </a:extLst>
          </p:cNvPr>
          <p:cNvSpPr>
            <a:spLocks noGrp="1"/>
          </p:cNvSpPr>
          <p:nvPr/>
        </p:nvSpPr>
        <p:spPr>
          <a:xfrm>
            <a:off x="7772402" y="3038475"/>
            <a:ext cx="5381625" cy="323850"/>
          </a:xfrm>
          <a:prstGeom prst="rect">
            <a:avLst/>
          </a:prstGeom>
          <a:noFill/>
          <a:ln w="0">
            <a:noFill/>
            <a:prstDash val="solid"/>
          </a:ln>
        </p:spPr>
        <p:txBody>
          <a:bodyPr anchor="ctr"/>
          <a:lstStyle/>
          <a:p>
            <a:pPr>
              <a:defRPr sz="1500" b="1">
                <a:solidFill>
                  <a:srgbClr val="171719"/>
                </a:solidFill>
              </a:defRPr>
            </a:pPr>
            <a:r>
              <a:rPr lang="en-ZA" sz="1500" b="1" dirty="0">
                <a:solidFill>
                  <a:srgbClr val="171719"/>
                </a:solidFill>
              </a:rPr>
              <a:t>Requires Strong Data Governance</a:t>
            </a:r>
          </a:p>
        </p:txBody>
      </p:sp>
      <p:sp>
        <p:nvSpPr>
          <p:cNvPr id="53" name="Rectangle 52">
            <a:extLst>
              <a:ext uri="{FF2B5EF4-FFF2-40B4-BE49-F238E27FC236}">
                <a16:creationId xmlns:a16="http://schemas.microsoft.com/office/drawing/2014/main" id="{DFEC4A29-FEBC-488F-AF78-49D99C4B2B9F}"/>
              </a:ext>
            </a:extLst>
          </p:cNvPr>
          <p:cNvSpPr>
            <a:spLocks noGrp="1"/>
          </p:cNvSpPr>
          <p:nvPr/>
        </p:nvSpPr>
        <p:spPr>
          <a:xfrm>
            <a:off x="7324726" y="3330575"/>
            <a:ext cx="285750" cy="323850"/>
          </a:xfrm>
          <a:prstGeom prst="rect">
            <a:avLst/>
          </a:prstGeom>
          <a:noFill/>
          <a:ln w="0">
            <a:noFill/>
            <a:prstDash val="solid"/>
          </a:ln>
        </p:spPr>
        <p:txBody>
          <a:bodyPr anchor="ctr"/>
          <a:lstStyle/>
          <a:p>
            <a:pPr algn="l">
              <a:defRPr sz="2025" b="1">
                <a:solidFill>
                  <a:srgbClr val="E60000"/>
                </a:solidFill>
              </a:defRPr>
            </a:pPr>
            <a:r>
              <a:rPr sz="2025" b="1" dirty="0">
                <a:ln>
                  <a:solidFill>
                    <a:schemeClr val="tx1"/>
                  </a:solidFill>
                </a:ln>
              </a:rPr>
              <a:t>+</a:t>
            </a:r>
          </a:p>
        </p:txBody>
      </p:sp>
      <p:sp>
        <p:nvSpPr>
          <p:cNvPr id="55" name="Rectangle 54">
            <a:extLst>
              <a:ext uri="{FF2B5EF4-FFF2-40B4-BE49-F238E27FC236}">
                <a16:creationId xmlns:a16="http://schemas.microsoft.com/office/drawing/2014/main" id="{62297A31-A053-6B88-6C2E-9D3B040415EC}"/>
              </a:ext>
            </a:extLst>
          </p:cNvPr>
          <p:cNvSpPr>
            <a:spLocks noGrp="1"/>
          </p:cNvSpPr>
          <p:nvPr/>
        </p:nvSpPr>
        <p:spPr>
          <a:xfrm>
            <a:off x="7772402" y="3330575"/>
            <a:ext cx="5381625" cy="323850"/>
          </a:xfrm>
          <a:prstGeom prst="rect">
            <a:avLst/>
          </a:prstGeom>
          <a:noFill/>
          <a:ln w="0">
            <a:noFill/>
            <a:prstDash val="solid"/>
          </a:ln>
        </p:spPr>
        <p:txBody>
          <a:bodyPr anchor="ctr"/>
          <a:lstStyle/>
          <a:p>
            <a:pPr>
              <a:defRPr sz="1500" b="1">
                <a:solidFill>
                  <a:srgbClr val="171719"/>
                </a:solidFill>
              </a:defRPr>
            </a:pPr>
            <a:r>
              <a:rPr lang="en-ZA" sz="1500" b="1" dirty="0">
                <a:solidFill>
                  <a:srgbClr val="171719"/>
                </a:solidFill>
              </a:rPr>
              <a:t>No Built-In Attribution Models</a:t>
            </a:r>
          </a:p>
        </p:txBody>
      </p:sp>
      <p:sp>
        <p:nvSpPr>
          <p:cNvPr id="57" name="Rectangle 56">
            <a:extLst>
              <a:ext uri="{FF2B5EF4-FFF2-40B4-BE49-F238E27FC236}">
                <a16:creationId xmlns:a16="http://schemas.microsoft.com/office/drawing/2014/main" id="{861D0512-23E0-1ED0-9371-1656D78CDA82}"/>
              </a:ext>
            </a:extLst>
          </p:cNvPr>
          <p:cNvSpPr>
            <a:spLocks noGrp="1"/>
          </p:cNvSpPr>
          <p:nvPr/>
        </p:nvSpPr>
        <p:spPr>
          <a:xfrm>
            <a:off x="7324726" y="3660775"/>
            <a:ext cx="285750" cy="323850"/>
          </a:xfrm>
          <a:prstGeom prst="rect">
            <a:avLst/>
          </a:prstGeom>
          <a:noFill/>
          <a:ln w="0">
            <a:noFill/>
            <a:prstDash val="solid"/>
          </a:ln>
        </p:spPr>
        <p:txBody>
          <a:bodyPr anchor="ctr"/>
          <a:lstStyle/>
          <a:p>
            <a:pPr algn="l">
              <a:defRPr sz="2025" b="1">
                <a:solidFill>
                  <a:srgbClr val="E60000"/>
                </a:solidFill>
              </a:defRPr>
            </a:pPr>
            <a:r>
              <a:rPr sz="2025" b="1" dirty="0">
                <a:ln>
                  <a:solidFill>
                    <a:schemeClr val="tx1"/>
                  </a:solidFill>
                </a:ln>
              </a:rPr>
              <a:t>+</a:t>
            </a:r>
          </a:p>
        </p:txBody>
      </p:sp>
      <p:sp>
        <p:nvSpPr>
          <p:cNvPr id="59" name="Rectangle 58">
            <a:extLst>
              <a:ext uri="{FF2B5EF4-FFF2-40B4-BE49-F238E27FC236}">
                <a16:creationId xmlns:a16="http://schemas.microsoft.com/office/drawing/2014/main" id="{7682D034-9658-9540-213E-7B394D21A565}"/>
              </a:ext>
            </a:extLst>
          </p:cNvPr>
          <p:cNvSpPr>
            <a:spLocks noGrp="1"/>
          </p:cNvSpPr>
          <p:nvPr/>
        </p:nvSpPr>
        <p:spPr>
          <a:xfrm>
            <a:off x="7772402" y="3660775"/>
            <a:ext cx="5381625" cy="323850"/>
          </a:xfrm>
          <a:prstGeom prst="rect">
            <a:avLst/>
          </a:prstGeom>
          <a:noFill/>
          <a:ln w="0">
            <a:noFill/>
            <a:prstDash val="solid"/>
          </a:ln>
        </p:spPr>
        <p:txBody>
          <a:bodyPr anchor="ctr"/>
          <a:lstStyle/>
          <a:p>
            <a:pPr>
              <a:defRPr sz="1500" b="1">
                <a:solidFill>
                  <a:srgbClr val="171719"/>
                </a:solidFill>
              </a:defRPr>
            </a:pPr>
            <a:r>
              <a:rPr lang="en-ZA" sz="1500" b="1" dirty="0">
                <a:solidFill>
                  <a:srgbClr val="171719"/>
                </a:solidFill>
              </a:rPr>
              <a:t>Dashboard Migration Required</a:t>
            </a:r>
          </a:p>
        </p:txBody>
      </p:sp>
      <p:sp>
        <p:nvSpPr>
          <p:cNvPr id="61" name="Rectangle 60">
            <a:extLst>
              <a:ext uri="{FF2B5EF4-FFF2-40B4-BE49-F238E27FC236}">
                <a16:creationId xmlns:a16="http://schemas.microsoft.com/office/drawing/2014/main" id="{BE0EE789-1E3D-9C45-45EE-F507B0D3EAB0}"/>
              </a:ext>
            </a:extLst>
          </p:cNvPr>
          <p:cNvSpPr>
            <a:spLocks noGrp="1"/>
          </p:cNvSpPr>
          <p:nvPr/>
        </p:nvSpPr>
        <p:spPr>
          <a:xfrm>
            <a:off x="7772401" y="4000499"/>
            <a:ext cx="3971925" cy="482601"/>
          </a:xfrm>
          <a:prstGeom prst="rect">
            <a:avLst/>
          </a:prstGeom>
          <a:noFill/>
          <a:ln w="0">
            <a:noFill/>
            <a:prstDash val="solid"/>
          </a:ln>
        </p:spPr>
        <p:txBody>
          <a:bodyPr anchor="ctr"/>
          <a:lstStyle/>
          <a:p>
            <a:pPr>
              <a:defRPr sz="1500" b="1">
                <a:solidFill>
                  <a:srgbClr val="171719"/>
                </a:solidFill>
              </a:defRPr>
            </a:pPr>
            <a:r>
              <a:rPr lang="en-ZA" sz="1500" b="1" dirty="0">
                <a:solidFill>
                  <a:srgbClr val="171719"/>
                </a:solidFill>
              </a:rPr>
              <a:t>Pipeline Monitoring Required and m</a:t>
            </a:r>
            <a:r>
              <a:rPr lang="en-ZA" sz="1500" b="1" dirty="0"/>
              <a:t>ore Components to Support</a:t>
            </a:r>
            <a:endParaRPr sz="1500" b="1" dirty="0">
              <a:solidFill>
                <a:srgbClr val="171719"/>
              </a:solidFill>
            </a:endParaRPr>
          </a:p>
        </p:txBody>
      </p:sp>
      <p:sp>
        <p:nvSpPr>
          <p:cNvPr id="63" name="Rectangle 62">
            <a:extLst>
              <a:ext uri="{FF2B5EF4-FFF2-40B4-BE49-F238E27FC236}">
                <a16:creationId xmlns:a16="http://schemas.microsoft.com/office/drawing/2014/main" id="{3600F086-5E29-3627-FF72-FCF3EA12740C}"/>
              </a:ext>
            </a:extLst>
          </p:cNvPr>
          <p:cNvSpPr>
            <a:spLocks noGrp="1"/>
          </p:cNvSpPr>
          <p:nvPr/>
        </p:nvSpPr>
        <p:spPr>
          <a:xfrm>
            <a:off x="7324726" y="3978275"/>
            <a:ext cx="285750" cy="323850"/>
          </a:xfrm>
          <a:prstGeom prst="rect">
            <a:avLst/>
          </a:prstGeom>
          <a:noFill/>
          <a:ln w="0">
            <a:noFill/>
            <a:prstDash val="solid"/>
          </a:ln>
        </p:spPr>
        <p:txBody>
          <a:bodyPr anchor="ctr"/>
          <a:lstStyle/>
          <a:p>
            <a:pPr algn="l">
              <a:defRPr sz="2025" b="1">
                <a:solidFill>
                  <a:srgbClr val="E60000"/>
                </a:solidFill>
              </a:defRPr>
            </a:pPr>
            <a:r>
              <a:rPr sz="2025" b="1" dirty="0">
                <a:ln>
                  <a:solidFill>
                    <a:schemeClr val="tx1"/>
                  </a:solidFill>
                </a:ln>
              </a:rPr>
              <a:t>+</a:t>
            </a:r>
          </a:p>
        </p:txBody>
      </p:sp>
      <p:sp>
        <p:nvSpPr>
          <p:cNvPr id="65" name="Rectangle 64">
            <a:extLst>
              <a:ext uri="{FF2B5EF4-FFF2-40B4-BE49-F238E27FC236}">
                <a16:creationId xmlns:a16="http://schemas.microsoft.com/office/drawing/2014/main" id="{45AE591F-2138-6850-CE31-E0EA7E8E3422}"/>
              </a:ext>
            </a:extLst>
          </p:cNvPr>
          <p:cNvSpPr>
            <a:spLocks noGrp="1"/>
          </p:cNvSpPr>
          <p:nvPr/>
        </p:nvSpPr>
        <p:spPr>
          <a:xfrm>
            <a:off x="7753350" y="4483100"/>
            <a:ext cx="5381625" cy="323850"/>
          </a:xfrm>
          <a:prstGeom prst="rect">
            <a:avLst/>
          </a:prstGeom>
          <a:noFill/>
          <a:ln w="0">
            <a:noFill/>
            <a:prstDash val="solid"/>
          </a:ln>
        </p:spPr>
        <p:txBody>
          <a:bodyPr anchor="ctr"/>
          <a:lstStyle/>
          <a:p>
            <a:pPr algn="l">
              <a:defRPr sz="1500" b="1">
                <a:solidFill>
                  <a:srgbClr val="171719"/>
                </a:solidFill>
              </a:defRPr>
            </a:pPr>
            <a:r>
              <a:rPr lang="en-ZA" sz="1500" b="1" dirty="0">
                <a:solidFill>
                  <a:srgbClr val="171719"/>
                </a:solidFill>
              </a:rPr>
              <a:t>Requires upskilling on tools such as AWS and SQL</a:t>
            </a:r>
            <a:endParaRPr sz="1500" b="1" dirty="0">
              <a:solidFill>
                <a:srgbClr val="171719"/>
              </a:solidFill>
            </a:endParaRPr>
          </a:p>
        </p:txBody>
      </p:sp>
      <p:sp>
        <p:nvSpPr>
          <p:cNvPr id="67" name="Rectangle 66">
            <a:extLst>
              <a:ext uri="{FF2B5EF4-FFF2-40B4-BE49-F238E27FC236}">
                <a16:creationId xmlns:a16="http://schemas.microsoft.com/office/drawing/2014/main" id="{0956A3E2-961B-173C-3A10-CEFAEC3C6849}"/>
              </a:ext>
            </a:extLst>
          </p:cNvPr>
          <p:cNvSpPr>
            <a:spLocks noGrp="1"/>
          </p:cNvSpPr>
          <p:nvPr/>
        </p:nvSpPr>
        <p:spPr>
          <a:xfrm>
            <a:off x="7324726" y="4460875"/>
            <a:ext cx="285750" cy="323850"/>
          </a:xfrm>
          <a:prstGeom prst="rect">
            <a:avLst/>
          </a:prstGeom>
          <a:noFill/>
          <a:ln w="0">
            <a:noFill/>
            <a:prstDash val="solid"/>
          </a:ln>
        </p:spPr>
        <p:txBody>
          <a:bodyPr anchor="ctr"/>
          <a:lstStyle/>
          <a:p>
            <a:pPr algn="l">
              <a:defRPr sz="2025" b="1">
                <a:solidFill>
                  <a:srgbClr val="E60000"/>
                </a:solidFill>
              </a:defRPr>
            </a:pPr>
            <a:r>
              <a:rPr sz="2025" b="1" dirty="0">
                <a:ln>
                  <a:solidFill>
                    <a:schemeClr val="tx1"/>
                  </a:solidFill>
                </a:ln>
              </a:rPr>
              <a:t>+</a:t>
            </a:r>
          </a:p>
        </p:txBody>
      </p:sp>
    </p:spTree>
    <p:extLst>
      <p:ext uri="{BB962C8B-B14F-4D97-AF65-F5344CB8AC3E}">
        <p14:creationId xmlns:p14="http://schemas.microsoft.com/office/powerpoint/2010/main" val="10497360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B0C"/>
        </a:solidFill>
        <a:effectLst/>
      </p:bgPr>
    </p:bg>
    <p:spTree>
      <p:nvGrpSpPr>
        <p:cNvPr id="1" name=""/>
        <p:cNvGrpSpPr/>
        <p:nvPr/>
      </p:nvGrpSpPr>
      <p:grpSpPr>
        <a:xfrm>
          <a:off x="0" y="0"/>
          <a:ext cx="0" cy="0"/>
          <a:chOff x="0" y="0"/>
          <a:chExt cx="0" cy="0"/>
        </a:xfrm>
      </p:grpSpPr>
      <p:sp>
        <p:nvSpPr>
          <p:cNvPr id="32" name="Rectangle: Rounded Corners 31">
            <a:extLst>
              <a:ext uri="{FF2B5EF4-FFF2-40B4-BE49-F238E27FC236}">
                <a16:creationId xmlns:a16="http://schemas.microsoft.com/office/drawing/2014/main" id="{5D56D86B-D37E-4A3D-9DAC-0529D4AE0C31}"/>
              </a:ext>
            </a:extLst>
          </p:cNvPr>
          <p:cNvSpPr>
            <a:spLocks noGrp="1"/>
          </p:cNvSpPr>
          <p:nvPr/>
        </p:nvSpPr>
        <p:spPr>
          <a:xfrm>
            <a:off x="628650" y="457200"/>
            <a:ext cx="1238250" cy="285750"/>
          </a:xfrm>
          <a:prstGeom prst="roundRect">
            <a:avLst>
              <a:gd name="adj" fmla="val 40000"/>
            </a:avLst>
          </a:prstGeom>
          <a:solidFill>
            <a:srgbClr val="E60000"/>
          </a:solidFill>
          <a:ln w="0">
            <a:noFill/>
            <a:prstDash val="solid"/>
          </a:ln>
        </p:spPr>
        <p:txBody>
          <a:bodyPr/>
          <a:lstStyle/>
          <a:p>
            <a:endParaRPr lang="en-ZA"/>
          </a:p>
        </p:txBody>
      </p:sp>
      <p:sp>
        <p:nvSpPr>
          <p:cNvPr id="2" name="Rectangle 1">
            <a:extLst>
              <a:ext uri="{FF2B5EF4-FFF2-40B4-BE49-F238E27FC236}">
                <a16:creationId xmlns:a16="http://schemas.microsoft.com/office/drawing/2014/main" id="{D8E30F89-C6E5-4CBD-9270-021B962DA5C6}"/>
              </a:ext>
            </a:extLst>
          </p:cNvPr>
          <p:cNvSpPr>
            <a:spLocks noGrp="1"/>
          </p:cNvSpPr>
          <p:nvPr/>
        </p:nvSpPr>
        <p:spPr>
          <a:xfrm>
            <a:off x="628650" y="457200"/>
            <a:ext cx="1238250" cy="285750"/>
          </a:xfrm>
          <a:prstGeom prst="rect">
            <a:avLst/>
          </a:prstGeom>
          <a:noFill/>
          <a:ln w="0">
            <a:noFill/>
            <a:prstDash val="solid"/>
          </a:ln>
        </p:spPr>
        <p:txBody>
          <a:bodyPr anchor="ctr"/>
          <a:lstStyle/>
          <a:p>
            <a:pPr algn="ctr">
              <a:defRPr sz="975" b="1">
                <a:solidFill>
                  <a:srgbClr val="FFFFFF"/>
                </a:solidFill>
              </a:defRPr>
            </a:pPr>
            <a:r>
              <a:rPr sz="975" b="1">
                <a:solidFill>
                  <a:srgbClr val="FFFFFF"/>
                </a:solidFill>
              </a:rPr>
              <a:t>COST MODEL</a:t>
            </a:r>
          </a:p>
        </p:txBody>
      </p:sp>
      <p:sp>
        <p:nvSpPr>
          <p:cNvPr id="3" name="Rectangle 2">
            <a:extLst>
              <a:ext uri="{FF2B5EF4-FFF2-40B4-BE49-F238E27FC236}">
                <a16:creationId xmlns:a16="http://schemas.microsoft.com/office/drawing/2014/main" id="{C1738DEF-BB88-4A8F-A6DD-AFAC08946C50}"/>
              </a:ext>
            </a:extLst>
          </p:cNvPr>
          <p:cNvSpPr>
            <a:spLocks noGrp="1"/>
          </p:cNvSpPr>
          <p:nvPr/>
        </p:nvSpPr>
        <p:spPr>
          <a:xfrm>
            <a:off x="628650" y="876300"/>
            <a:ext cx="5524500" cy="971550"/>
          </a:xfrm>
          <a:prstGeom prst="rect">
            <a:avLst/>
          </a:prstGeom>
          <a:noFill/>
          <a:ln w="0">
            <a:noFill/>
            <a:prstDash val="solid"/>
          </a:ln>
        </p:spPr>
        <p:txBody>
          <a:bodyPr anchor="ctr"/>
          <a:lstStyle/>
          <a:p>
            <a:pPr algn="l">
              <a:defRPr sz="3075" b="1">
                <a:solidFill>
                  <a:srgbClr val="FFFFFF"/>
                </a:solidFill>
              </a:defRPr>
            </a:pPr>
            <a:r>
              <a:rPr sz="3075" b="1">
                <a:solidFill>
                  <a:srgbClr val="FFFFFF"/>
                </a:solidFill>
              </a:rPr>
              <a:t>A materially different</a:t>
            </a:r>
          </a:p>
          <a:p>
            <a:pPr algn="l">
              <a:defRPr sz="3075" b="1">
                <a:solidFill>
                  <a:srgbClr val="FFFFFF"/>
                </a:solidFill>
              </a:defRPr>
            </a:pPr>
            <a:r>
              <a:rPr sz="3075" b="1">
                <a:solidFill>
                  <a:srgbClr val="FFFFFF"/>
                </a:solidFill>
              </a:rPr>
              <a:t>economic model.</a:t>
            </a:r>
          </a:p>
        </p:txBody>
      </p:sp>
      <p:sp>
        <p:nvSpPr>
          <p:cNvPr id="4" name="Rectangle 3">
            <a:extLst>
              <a:ext uri="{FF2B5EF4-FFF2-40B4-BE49-F238E27FC236}">
                <a16:creationId xmlns:a16="http://schemas.microsoft.com/office/drawing/2014/main" id="{720D42EB-7837-4CAD-980A-4D25DA9E5EF4}"/>
              </a:ext>
            </a:extLst>
          </p:cNvPr>
          <p:cNvSpPr>
            <a:spLocks noGrp="1"/>
          </p:cNvSpPr>
          <p:nvPr/>
        </p:nvSpPr>
        <p:spPr>
          <a:xfrm>
            <a:off x="6934200" y="1228725"/>
            <a:ext cx="4476750" cy="238125"/>
          </a:xfrm>
          <a:prstGeom prst="rect">
            <a:avLst/>
          </a:prstGeom>
          <a:noFill/>
          <a:ln w="0">
            <a:noFill/>
            <a:prstDash val="solid"/>
          </a:ln>
        </p:spPr>
        <p:txBody>
          <a:bodyPr anchor="ctr"/>
          <a:lstStyle/>
          <a:p>
            <a:pPr algn="r">
              <a:defRPr sz="1125" b="1">
                <a:solidFill>
                  <a:srgbClr val="8E8B89"/>
                </a:solidFill>
              </a:defRPr>
            </a:pPr>
            <a:r>
              <a:rPr sz="1125" b="1">
                <a:solidFill>
                  <a:srgbClr val="8E8B89"/>
                </a:solidFill>
              </a:rPr>
              <a:t>MONTHLY RUN-RATE / BUSINESS-CASE HURDLES</a:t>
            </a:r>
          </a:p>
        </p:txBody>
      </p:sp>
      <p:sp>
        <p:nvSpPr>
          <p:cNvPr id="5" name="Rectangle: Rounded Corners 4">
            <a:extLst>
              <a:ext uri="{FF2B5EF4-FFF2-40B4-BE49-F238E27FC236}">
                <a16:creationId xmlns:a16="http://schemas.microsoft.com/office/drawing/2014/main" id="{719671AA-B9EE-4031-B267-20653277E202}"/>
              </a:ext>
            </a:extLst>
          </p:cNvPr>
          <p:cNvSpPr>
            <a:spLocks noGrp="1"/>
          </p:cNvSpPr>
          <p:nvPr/>
        </p:nvSpPr>
        <p:spPr>
          <a:xfrm>
            <a:off x="628650" y="2266950"/>
            <a:ext cx="3219450" cy="1952625"/>
          </a:xfrm>
          <a:prstGeom prst="roundRect">
            <a:avLst>
              <a:gd name="adj" fmla="val 5854"/>
            </a:avLst>
          </a:prstGeom>
          <a:solidFill>
            <a:srgbClr val="E60000"/>
          </a:solidFill>
          <a:ln w="0">
            <a:noFill/>
            <a:prstDash val="solid"/>
          </a:ln>
        </p:spPr>
        <p:txBody>
          <a:bodyPr/>
          <a:lstStyle/>
          <a:p>
            <a:endParaRPr lang="en-ZA"/>
          </a:p>
        </p:txBody>
      </p:sp>
      <p:sp>
        <p:nvSpPr>
          <p:cNvPr id="6" name="Rectangle 5">
            <a:extLst>
              <a:ext uri="{FF2B5EF4-FFF2-40B4-BE49-F238E27FC236}">
                <a16:creationId xmlns:a16="http://schemas.microsoft.com/office/drawing/2014/main" id="{7EED4A2F-D31F-4B39-A451-976524DDBDB5}"/>
              </a:ext>
            </a:extLst>
          </p:cNvPr>
          <p:cNvSpPr>
            <a:spLocks noGrp="1"/>
          </p:cNvSpPr>
          <p:nvPr/>
        </p:nvSpPr>
        <p:spPr>
          <a:xfrm>
            <a:off x="857250" y="2476500"/>
            <a:ext cx="2762250" cy="228600"/>
          </a:xfrm>
          <a:prstGeom prst="rect">
            <a:avLst/>
          </a:prstGeom>
          <a:noFill/>
          <a:ln w="0">
            <a:noFill/>
            <a:prstDash val="solid"/>
          </a:ln>
        </p:spPr>
        <p:txBody>
          <a:bodyPr anchor="ctr"/>
          <a:lstStyle/>
          <a:p>
            <a:pPr algn="l">
              <a:defRPr sz="1125" b="1">
                <a:solidFill>
                  <a:srgbClr val="FFFFFF"/>
                </a:solidFill>
              </a:defRPr>
            </a:pPr>
            <a:r>
              <a:rPr sz="1125" b="1">
                <a:solidFill>
                  <a:srgbClr val="FFFFFF"/>
                </a:solidFill>
              </a:rPr>
              <a:t>ADOBE • CURRENT</a:t>
            </a:r>
          </a:p>
        </p:txBody>
      </p:sp>
      <p:sp>
        <p:nvSpPr>
          <p:cNvPr id="7" name="Rectangle 6">
            <a:extLst>
              <a:ext uri="{FF2B5EF4-FFF2-40B4-BE49-F238E27FC236}">
                <a16:creationId xmlns:a16="http://schemas.microsoft.com/office/drawing/2014/main" id="{BBEEA359-44DB-4A9F-83D1-3F6000E91936}"/>
              </a:ext>
            </a:extLst>
          </p:cNvPr>
          <p:cNvSpPr>
            <a:spLocks noGrp="1"/>
          </p:cNvSpPr>
          <p:nvPr/>
        </p:nvSpPr>
        <p:spPr>
          <a:xfrm>
            <a:off x="857250" y="2886075"/>
            <a:ext cx="2762250" cy="666750"/>
          </a:xfrm>
          <a:prstGeom prst="rect">
            <a:avLst/>
          </a:prstGeom>
          <a:noFill/>
          <a:ln w="0">
            <a:noFill/>
            <a:prstDash val="solid"/>
          </a:ln>
        </p:spPr>
        <p:txBody>
          <a:bodyPr anchor="ctr"/>
          <a:lstStyle/>
          <a:p>
            <a:pPr algn="l">
              <a:defRPr sz="3225" b="1">
                <a:solidFill>
                  <a:srgbClr val="FFFFFF"/>
                </a:solidFill>
              </a:defRPr>
            </a:pPr>
            <a:r>
              <a:rPr sz="3225" b="1">
                <a:solidFill>
                  <a:srgbClr val="FFFFFF"/>
                </a:solidFill>
              </a:rPr>
              <a:t>~R250k</a:t>
            </a:r>
          </a:p>
        </p:txBody>
      </p:sp>
      <p:sp>
        <p:nvSpPr>
          <p:cNvPr id="8" name="Rectangle 7">
            <a:extLst>
              <a:ext uri="{FF2B5EF4-FFF2-40B4-BE49-F238E27FC236}">
                <a16:creationId xmlns:a16="http://schemas.microsoft.com/office/drawing/2014/main" id="{16B75EE0-A906-45BE-AC21-1A6A8C2DED48}"/>
              </a:ext>
            </a:extLst>
          </p:cNvPr>
          <p:cNvSpPr>
            <a:spLocks noGrp="1"/>
          </p:cNvSpPr>
          <p:nvPr/>
        </p:nvSpPr>
        <p:spPr>
          <a:xfrm>
            <a:off x="857250" y="3600450"/>
            <a:ext cx="2762250" cy="266700"/>
          </a:xfrm>
          <a:prstGeom prst="rect">
            <a:avLst/>
          </a:prstGeom>
          <a:noFill/>
          <a:ln w="0">
            <a:noFill/>
            <a:prstDash val="solid"/>
          </a:ln>
        </p:spPr>
        <p:txBody>
          <a:bodyPr anchor="ctr"/>
          <a:lstStyle/>
          <a:p>
            <a:pPr algn="l">
              <a:defRPr sz="1275" b="0">
                <a:solidFill>
                  <a:srgbClr val="FFD2D2"/>
                </a:solidFill>
              </a:defRPr>
            </a:pPr>
            <a:r>
              <a:rPr sz="1275" b="0">
                <a:solidFill>
                  <a:srgbClr val="FFD2D2"/>
                </a:solidFill>
              </a:rPr>
              <a:t>licence-led model</a:t>
            </a:r>
          </a:p>
        </p:txBody>
      </p:sp>
      <p:sp>
        <p:nvSpPr>
          <p:cNvPr id="9" name="Rectangle: Rounded Corners 8">
            <a:extLst>
              <a:ext uri="{FF2B5EF4-FFF2-40B4-BE49-F238E27FC236}">
                <a16:creationId xmlns:a16="http://schemas.microsoft.com/office/drawing/2014/main" id="{180D2C24-140F-4BA1-98B2-4996867AE698}"/>
              </a:ext>
            </a:extLst>
          </p:cNvPr>
          <p:cNvSpPr>
            <a:spLocks noGrp="1"/>
          </p:cNvSpPr>
          <p:nvPr/>
        </p:nvSpPr>
        <p:spPr>
          <a:xfrm>
            <a:off x="4095750" y="2266950"/>
            <a:ext cx="3219450" cy="1952625"/>
          </a:xfrm>
          <a:prstGeom prst="roundRect">
            <a:avLst>
              <a:gd name="adj" fmla="val 5854"/>
            </a:avLst>
          </a:prstGeom>
          <a:solidFill>
            <a:srgbClr val="151516"/>
          </a:solidFill>
          <a:ln w="9525">
            <a:solidFill>
              <a:srgbClr val="333333"/>
            </a:solidFill>
            <a:prstDash val="solid"/>
          </a:ln>
        </p:spPr>
        <p:txBody>
          <a:bodyPr/>
          <a:lstStyle/>
          <a:p>
            <a:endParaRPr lang="en-ZA"/>
          </a:p>
        </p:txBody>
      </p:sp>
      <p:sp>
        <p:nvSpPr>
          <p:cNvPr id="10" name="Rectangle 9">
            <a:extLst>
              <a:ext uri="{FF2B5EF4-FFF2-40B4-BE49-F238E27FC236}">
                <a16:creationId xmlns:a16="http://schemas.microsoft.com/office/drawing/2014/main" id="{CAE3360F-2FE0-4DCE-9B46-0FC7F979D5E9}"/>
              </a:ext>
            </a:extLst>
          </p:cNvPr>
          <p:cNvSpPr>
            <a:spLocks noGrp="1"/>
          </p:cNvSpPr>
          <p:nvPr/>
        </p:nvSpPr>
        <p:spPr>
          <a:xfrm>
            <a:off x="4324350" y="2476500"/>
            <a:ext cx="2762250" cy="228600"/>
          </a:xfrm>
          <a:prstGeom prst="rect">
            <a:avLst/>
          </a:prstGeom>
          <a:noFill/>
          <a:ln w="0">
            <a:noFill/>
            <a:prstDash val="solid"/>
          </a:ln>
        </p:spPr>
        <p:txBody>
          <a:bodyPr anchor="ctr"/>
          <a:lstStyle/>
          <a:p>
            <a:pPr algn="l">
              <a:defRPr sz="1125" b="1">
                <a:solidFill>
                  <a:srgbClr val="A7A4A2"/>
                </a:solidFill>
              </a:defRPr>
            </a:pPr>
            <a:r>
              <a:rPr sz="1125" b="1">
                <a:solidFill>
                  <a:srgbClr val="A7A4A2"/>
                </a:solidFill>
              </a:rPr>
              <a:t>AWS • BASE</a:t>
            </a:r>
          </a:p>
        </p:txBody>
      </p:sp>
      <p:sp>
        <p:nvSpPr>
          <p:cNvPr id="11" name="Rectangle 10">
            <a:extLst>
              <a:ext uri="{FF2B5EF4-FFF2-40B4-BE49-F238E27FC236}">
                <a16:creationId xmlns:a16="http://schemas.microsoft.com/office/drawing/2014/main" id="{963A1F1E-3D2D-495C-9D0F-074C20BD8639}"/>
              </a:ext>
            </a:extLst>
          </p:cNvPr>
          <p:cNvSpPr>
            <a:spLocks noGrp="1"/>
          </p:cNvSpPr>
          <p:nvPr/>
        </p:nvSpPr>
        <p:spPr>
          <a:xfrm>
            <a:off x="4324350" y="2886075"/>
            <a:ext cx="2762250" cy="666750"/>
          </a:xfrm>
          <a:prstGeom prst="rect">
            <a:avLst/>
          </a:prstGeom>
          <a:noFill/>
          <a:ln w="0">
            <a:noFill/>
            <a:prstDash val="solid"/>
          </a:ln>
        </p:spPr>
        <p:txBody>
          <a:bodyPr anchor="ctr"/>
          <a:lstStyle/>
          <a:p>
            <a:pPr algn="l">
              <a:defRPr sz="3225" b="1">
                <a:solidFill>
                  <a:srgbClr val="FFFFFF"/>
                </a:solidFill>
              </a:defRPr>
            </a:pPr>
            <a:r>
              <a:rPr sz="3225" b="1">
                <a:solidFill>
                  <a:srgbClr val="FFFFFF"/>
                </a:solidFill>
              </a:rPr>
              <a:t>≤ R25k</a:t>
            </a:r>
          </a:p>
        </p:txBody>
      </p:sp>
      <p:sp>
        <p:nvSpPr>
          <p:cNvPr id="12" name="Rectangle 11">
            <a:extLst>
              <a:ext uri="{FF2B5EF4-FFF2-40B4-BE49-F238E27FC236}">
                <a16:creationId xmlns:a16="http://schemas.microsoft.com/office/drawing/2014/main" id="{BD077B80-AD80-4CA0-BCD6-2147AACD6E01}"/>
              </a:ext>
            </a:extLst>
          </p:cNvPr>
          <p:cNvSpPr>
            <a:spLocks noGrp="1"/>
          </p:cNvSpPr>
          <p:nvPr/>
        </p:nvSpPr>
        <p:spPr>
          <a:xfrm>
            <a:off x="4324350" y="3600450"/>
            <a:ext cx="2762250" cy="266700"/>
          </a:xfrm>
          <a:prstGeom prst="rect">
            <a:avLst/>
          </a:prstGeom>
          <a:noFill/>
          <a:ln w="0">
            <a:noFill/>
            <a:prstDash val="solid"/>
          </a:ln>
        </p:spPr>
        <p:txBody>
          <a:bodyPr anchor="ctr"/>
          <a:lstStyle/>
          <a:p>
            <a:pPr algn="l">
              <a:defRPr sz="1275" b="0">
                <a:solidFill>
                  <a:srgbClr val="BDBAB8"/>
                </a:solidFill>
              </a:defRPr>
            </a:pPr>
            <a:r>
              <a:rPr sz="1275" b="0">
                <a:solidFill>
                  <a:srgbClr val="BDBAB8"/>
                </a:solidFill>
              </a:rPr>
              <a:t>~20 users</a:t>
            </a:r>
          </a:p>
        </p:txBody>
      </p:sp>
      <p:sp>
        <p:nvSpPr>
          <p:cNvPr id="13" name="Rectangle: Rounded Corners 12">
            <a:extLst>
              <a:ext uri="{FF2B5EF4-FFF2-40B4-BE49-F238E27FC236}">
                <a16:creationId xmlns:a16="http://schemas.microsoft.com/office/drawing/2014/main" id="{5C2F118A-3298-4A8B-9D34-258A3375F71F}"/>
              </a:ext>
            </a:extLst>
          </p:cNvPr>
          <p:cNvSpPr>
            <a:spLocks noGrp="1"/>
          </p:cNvSpPr>
          <p:nvPr/>
        </p:nvSpPr>
        <p:spPr>
          <a:xfrm>
            <a:off x="7562850" y="2266950"/>
            <a:ext cx="3924300" cy="1952625"/>
          </a:xfrm>
          <a:prstGeom prst="roundRect">
            <a:avLst>
              <a:gd name="adj" fmla="val 5854"/>
            </a:avLst>
          </a:prstGeom>
          <a:solidFill>
            <a:srgbClr val="151516"/>
          </a:solidFill>
          <a:ln w="9525">
            <a:solidFill>
              <a:srgbClr val="333333"/>
            </a:solidFill>
            <a:prstDash val="solid"/>
          </a:ln>
        </p:spPr>
        <p:txBody>
          <a:bodyPr/>
          <a:lstStyle/>
          <a:p>
            <a:endParaRPr lang="en-ZA"/>
          </a:p>
        </p:txBody>
      </p:sp>
      <p:sp>
        <p:nvSpPr>
          <p:cNvPr id="14" name="Rectangle 13">
            <a:extLst>
              <a:ext uri="{FF2B5EF4-FFF2-40B4-BE49-F238E27FC236}">
                <a16:creationId xmlns:a16="http://schemas.microsoft.com/office/drawing/2014/main" id="{068E456D-6451-4271-9AA5-C419537B47F3}"/>
              </a:ext>
            </a:extLst>
          </p:cNvPr>
          <p:cNvSpPr>
            <a:spLocks noGrp="1"/>
          </p:cNvSpPr>
          <p:nvPr/>
        </p:nvSpPr>
        <p:spPr>
          <a:xfrm>
            <a:off x="7791450" y="2476500"/>
            <a:ext cx="3467100" cy="228600"/>
          </a:xfrm>
          <a:prstGeom prst="rect">
            <a:avLst/>
          </a:prstGeom>
          <a:noFill/>
          <a:ln w="0">
            <a:noFill/>
            <a:prstDash val="solid"/>
          </a:ln>
        </p:spPr>
        <p:txBody>
          <a:bodyPr anchor="ctr"/>
          <a:lstStyle/>
          <a:p>
            <a:pPr algn="l">
              <a:defRPr sz="1125" b="1">
                <a:solidFill>
                  <a:srgbClr val="A7A4A2"/>
                </a:solidFill>
              </a:defRPr>
            </a:pPr>
            <a:r>
              <a:rPr sz="1125" b="1">
                <a:solidFill>
                  <a:srgbClr val="A7A4A2"/>
                </a:solidFill>
              </a:rPr>
              <a:t>AWS • STRESS</a:t>
            </a:r>
          </a:p>
        </p:txBody>
      </p:sp>
      <p:sp>
        <p:nvSpPr>
          <p:cNvPr id="15" name="Rectangle 14">
            <a:extLst>
              <a:ext uri="{FF2B5EF4-FFF2-40B4-BE49-F238E27FC236}">
                <a16:creationId xmlns:a16="http://schemas.microsoft.com/office/drawing/2014/main" id="{D5F705B6-A49D-4267-8299-6438C380F33F}"/>
              </a:ext>
            </a:extLst>
          </p:cNvPr>
          <p:cNvSpPr>
            <a:spLocks noGrp="1"/>
          </p:cNvSpPr>
          <p:nvPr/>
        </p:nvSpPr>
        <p:spPr>
          <a:xfrm>
            <a:off x="7791450" y="2886075"/>
            <a:ext cx="3467100" cy="666750"/>
          </a:xfrm>
          <a:prstGeom prst="rect">
            <a:avLst/>
          </a:prstGeom>
          <a:noFill/>
          <a:ln w="0">
            <a:noFill/>
            <a:prstDash val="solid"/>
          </a:ln>
        </p:spPr>
        <p:txBody>
          <a:bodyPr anchor="ctr"/>
          <a:lstStyle/>
          <a:p>
            <a:pPr algn="l">
              <a:defRPr sz="3225" b="1">
                <a:solidFill>
                  <a:srgbClr val="FFFFFF"/>
                </a:solidFill>
              </a:defRPr>
            </a:pPr>
            <a:r>
              <a:rPr sz="3225" b="1">
                <a:solidFill>
                  <a:srgbClr val="FFFFFF"/>
                </a:solidFill>
              </a:rPr>
              <a:t>≤ R125k</a:t>
            </a:r>
          </a:p>
        </p:txBody>
      </p:sp>
      <p:sp>
        <p:nvSpPr>
          <p:cNvPr id="16" name="Rectangle 15">
            <a:extLst>
              <a:ext uri="{FF2B5EF4-FFF2-40B4-BE49-F238E27FC236}">
                <a16:creationId xmlns:a16="http://schemas.microsoft.com/office/drawing/2014/main" id="{3C9C9611-46A8-4628-91EB-281A99F14817}"/>
              </a:ext>
            </a:extLst>
          </p:cNvPr>
          <p:cNvSpPr>
            <a:spLocks noGrp="1"/>
          </p:cNvSpPr>
          <p:nvPr/>
        </p:nvSpPr>
        <p:spPr>
          <a:xfrm>
            <a:off x="7791450" y="3600450"/>
            <a:ext cx="3467100" cy="266700"/>
          </a:xfrm>
          <a:prstGeom prst="rect">
            <a:avLst/>
          </a:prstGeom>
          <a:noFill/>
          <a:ln w="0">
            <a:noFill/>
            <a:prstDash val="solid"/>
          </a:ln>
        </p:spPr>
        <p:txBody>
          <a:bodyPr anchor="ctr"/>
          <a:lstStyle/>
          <a:p>
            <a:pPr algn="l">
              <a:defRPr sz="1275" b="0">
                <a:solidFill>
                  <a:srgbClr val="BDBAB8"/>
                </a:solidFill>
              </a:defRPr>
            </a:pPr>
            <a:r>
              <a:rPr sz="1275" b="0">
                <a:solidFill>
                  <a:srgbClr val="BDBAB8"/>
                </a:solidFill>
              </a:rPr>
              <a:t>1,000 users × 50 queries</a:t>
            </a:r>
          </a:p>
        </p:txBody>
      </p:sp>
      <p:sp>
        <p:nvSpPr>
          <p:cNvPr id="17" name="Rectangle 16">
            <a:extLst>
              <a:ext uri="{FF2B5EF4-FFF2-40B4-BE49-F238E27FC236}">
                <a16:creationId xmlns:a16="http://schemas.microsoft.com/office/drawing/2014/main" id="{F7F5119C-3269-43FF-A5D9-3D22654AE529}"/>
              </a:ext>
            </a:extLst>
          </p:cNvPr>
          <p:cNvSpPr>
            <a:spLocks noGrp="1"/>
          </p:cNvSpPr>
          <p:nvPr/>
        </p:nvSpPr>
        <p:spPr>
          <a:xfrm>
            <a:off x="628650" y="4686300"/>
            <a:ext cx="2476500" cy="228600"/>
          </a:xfrm>
          <a:prstGeom prst="rect">
            <a:avLst/>
          </a:prstGeom>
          <a:noFill/>
          <a:ln w="0">
            <a:noFill/>
            <a:prstDash val="solid"/>
          </a:ln>
        </p:spPr>
        <p:txBody>
          <a:bodyPr anchor="ctr"/>
          <a:lstStyle/>
          <a:p>
            <a:pPr algn="l">
              <a:defRPr sz="1125" b="1">
                <a:solidFill>
                  <a:srgbClr val="E60000"/>
                </a:solidFill>
              </a:defRPr>
            </a:pPr>
            <a:r>
              <a:rPr sz="1125" b="1">
                <a:solidFill>
                  <a:srgbClr val="E60000"/>
                </a:solidFill>
              </a:rPr>
              <a:t>WHAT DRIVES AWS COST</a:t>
            </a:r>
          </a:p>
        </p:txBody>
      </p:sp>
      <p:sp>
        <p:nvSpPr>
          <p:cNvPr id="18" name="Rectangle 17">
            <a:extLst>
              <a:ext uri="{FF2B5EF4-FFF2-40B4-BE49-F238E27FC236}">
                <a16:creationId xmlns:a16="http://schemas.microsoft.com/office/drawing/2014/main" id="{9D0F7CC6-84F7-4789-A891-1D74C2B0218A}"/>
              </a:ext>
            </a:extLst>
          </p:cNvPr>
          <p:cNvSpPr>
            <a:spLocks noGrp="1"/>
          </p:cNvSpPr>
          <p:nvPr/>
        </p:nvSpPr>
        <p:spPr>
          <a:xfrm>
            <a:off x="628650" y="5057775"/>
            <a:ext cx="266700" cy="228600"/>
          </a:xfrm>
          <a:prstGeom prst="rect">
            <a:avLst/>
          </a:prstGeom>
          <a:noFill/>
          <a:ln w="0">
            <a:noFill/>
            <a:prstDash val="solid"/>
          </a:ln>
        </p:spPr>
        <p:txBody>
          <a:bodyPr anchor="ctr"/>
          <a:lstStyle/>
          <a:p>
            <a:pPr algn="l">
              <a:defRPr sz="975" b="1">
                <a:solidFill>
                  <a:srgbClr val="E60000"/>
                </a:solidFill>
              </a:defRPr>
            </a:pPr>
            <a:r>
              <a:rPr sz="975" b="1">
                <a:solidFill>
                  <a:srgbClr val="E60000"/>
                </a:solidFill>
              </a:rPr>
              <a:t>01</a:t>
            </a:r>
          </a:p>
        </p:txBody>
      </p:sp>
      <p:sp>
        <p:nvSpPr>
          <p:cNvPr id="19" name="Rectangle 18">
            <a:extLst>
              <a:ext uri="{FF2B5EF4-FFF2-40B4-BE49-F238E27FC236}">
                <a16:creationId xmlns:a16="http://schemas.microsoft.com/office/drawing/2014/main" id="{CCB0C905-4B7A-41A8-B9CF-9F339C0B5266}"/>
              </a:ext>
            </a:extLst>
          </p:cNvPr>
          <p:cNvSpPr>
            <a:spLocks noGrp="1"/>
          </p:cNvSpPr>
          <p:nvPr/>
        </p:nvSpPr>
        <p:spPr>
          <a:xfrm>
            <a:off x="990600" y="5057775"/>
            <a:ext cx="1666875" cy="228600"/>
          </a:xfrm>
          <a:prstGeom prst="rect">
            <a:avLst/>
          </a:prstGeom>
          <a:noFill/>
          <a:ln w="0">
            <a:noFill/>
            <a:prstDash val="solid"/>
          </a:ln>
        </p:spPr>
        <p:txBody>
          <a:bodyPr anchor="ctr"/>
          <a:lstStyle/>
          <a:p>
            <a:pPr algn="l">
              <a:defRPr sz="1200" b="1">
                <a:solidFill>
                  <a:srgbClr val="FFFFFF"/>
                </a:solidFill>
              </a:defRPr>
            </a:pPr>
            <a:r>
              <a:rPr sz="1200" b="1">
                <a:solidFill>
                  <a:srgbClr val="FFFFFF"/>
                </a:solidFill>
              </a:rPr>
              <a:t>Ingestion + API</a:t>
            </a:r>
          </a:p>
        </p:txBody>
      </p:sp>
      <p:sp>
        <p:nvSpPr>
          <p:cNvPr id="20" name="Rectangle 19">
            <a:extLst>
              <a:ext uri="{FF2B5EF4-FFF2-40B4-BE49-F238E27FC236}">
                <a16:creationId xmlns:a16="http://schemas.microsoft.com/office/drawing/2014/main" id="{81F3925A-1138-400A-8C0E-C19F356A8B40}"/>
              </a:ext>
            </a:extLst>
          </p:cNvPr>
          <p:cNvSpPr>
            <a:spLocks noGrp="1"/>
          </p:cNvSpPr>
          <p:nvPr/>
        </p:nvSpPr>
        <p:spPr>
          <a:xfrm>
            <a:off x="2800350" y="5057775"/>
            <a:ext cx="266700" cy="228600"/>
          </a:xfrm>
          <a:prstGeom prst="rect">
            <a:avLst/>
          </a:prstGeom>
          <a:noFill/>
          <a:ln w="0">
            <a:noFill/>
            <a:prstDash val="solid"/>
          </a:ln>
        </p:spPr>
        <p:txBody>
          <a:bodyPr anchor="ctr"/>
          <a:lstStyle/>
          <a:p>
            <a:pPr algn="l">
              <a:defRPr sz="975" b="1">
                <a:solidFill>
                  <a:srgbClr val="E60000"/>
                </a:solidFill>
              </a:defRPr>
            </a:pPr>
            <a:r>
              <a:rPr sz="975" b="1">
                <a:solidFill>
                  <a:srgbClr val="E60000"/>
                </a:solidFill>
              </a:rPr>
              <a:t>02</a:t>
            </a:r>
          </a:p>
        </p:txBody>
      </p:sp>
      <p:sp>
        <p:nvSpPr>
          <p:cNvPr id="21" name="Rectangle 20">
            <a:extLst>
              <a:ext uri="{FF2B5EF4-FFF2-40B4-BE49-F238E27FC236}">
                <a16:creationId xmlns:a16="http://schemas.microsoft.com/office/drawing/2014/main" id="{35060759-3E07-42B0-BFE4-E0E9770A564D}"/>
              </a:ext>
            </a:extLst>
          </p:cNvPr>
          <p:cNvSpPr>
            <a:spLocks noGrp="1"/>
          </p:cNvSpPr>
          <p:nvPr/>
        </p:nvSpPr>
        <p:spPr>
          <a:xfrm>
            <a:off x="3162300" y="5057775"/>
            <a:ext cx="1666875" cy="228600"/>
          </a:xfrm>
          <a:prstGeom prst="rect">
            <a:avLst/>
          </a:prstGeom>
          <a:noFill/>
          <a:ln w="0">
            <a:noFill/>
            <a:prstDash val="solid"/>
          </a:ln>
        </p:spPr>
        <p:txBody>
          <a:bodyPr anchor="ctr"/>
          <a:lstStyle/>
          <a:p>
            <a:pPr algn="l">
              <a:defRPr sz="1200" b="1">
                <a:solidFill>
                  <a:srgbClr val="FFFFFF"/>
                </a:solidFill>
              </a:defRPr>
            </a:pPr>
            <a:r>
              <a:rPr sz="1200" b="1">
                <a:solidFill>
                  <a:srgbClr val="FFFFFF"/>
                </a:solidFill>
              </a:rPr>
              <a:t>S3 storage</a:t>
            </a:r>
          </a:p>
        </p:txBody>
      </p:sp>
      <p:sp>
        <p:nvSpPr>
          <p:cNvPr id="22" name="Rectangle 21">
            <a:extLst>
              <a:ext uri="{FF2B5EF4-FFF2-40B4-BE49-F238E27FC236}">
                <a16:creationId xmlns:a16="http://schemas.microsoft.com/office/drawing/2014/main" id="{98C19653-0930-4730-BD4B-8675A27EEFAA}"/>
              </a:ext>
            </a:extLst>
          </p:cNvPr>
          <p:cNvSpPr>
            <a:spLocks noGrp="1"/>
          </p:cNvSpPr>
          <p:nvPr/>
        </p:nvSpPr>
        <p:spPr>
          <a:xfrm>
            <a:off x="4972050" y="5057775"/>
            <a:ext cx="266700" cy="228600"/>
          </a:xfrm>
          <a:prstGeom prst="rect">
            <a:avLst/>
          </a:prstGeom>
          <a:noFill/>
          <a:ln w="0">
            <a:noFill/>
            <a:prstDash val="solid"/>
          </a:ln>
        </p:spPr>
        <p:txBody>
          <a:bodyPr anchor="ctr"/>
          <a:lstStyle/>
          <a:p>
            <a:pPr algn="l">
              <a:defRPr sz="975" b="1">
                <a:solidFill>
                  <a:srgbClr val="E60000"/>
                </a:solidFill>
              </a:defRPr>
            </a:pPr>
            <a:r>
              <a:rPr sz="975" b="1">
                <a:solidFill>
                  <a:srgbClr val="E60000"/>
                </a:solidFill>
              </a:rPr>
              <a:t>03</a:t>
            </a:r>
          </a:p>
        </p:txBody>
      </p:sp>
      <p:sp>
        <p:nvSpPr>
          <p:cNvPr id="23" name="Rectangle 22">
            <a:extLst>
              <a:ext uri="{FF2B5EF4-FFF2-40B4-BE49-F238E27FC236}">
                <a16:creationId xmlns:a16="http://schemas.microsoft.com/office/drawing/2014/main" id="{8BF82AB7-6058-4269-BB72-744F7B3D626F}"/>
              </a:ext>
            </a:extLst>
          </p:cNvPr>
          <p:cNvSpPr>
            <a:spLocks noGrp="1"/>
          </p:cNvSpPr>
          <p:nvPr/>
        </p:nvSpPr>
        <p:spPr>
          <a:xfrm>
            <a:off x="5334000" y="5057775"/>
            <a:ext cx="1666875" cy="228600"/>
          </a:xfrm>
          <a:prstGeom prst="rect">
            <a:avLst/>
          </a:prstGeom>
          <a:noFill/>
          <a:ln w="0">
            <a:noFill/>
            <a:prstDash val="solid"/>
          </a:ln>
        </p:spPr>
        <p:txBody>
          <a:bodyPr anchor="ctr"/>
          <a:lstStyle/>
          <a:p>
            <a:pPr algn="l">
              <a:defRPr sz="1200" b="1">
                <a:solidFill>
                  <a:srgbClr val="FFFFFF"/>
                </a:solidFill>
              </a:defRPr>
            </a:pPr>
            <a:r>
              <a:rPr sz="1200" b="1">
                <a:solidFill>
                  <a:srgbClr val="FFFFFF"/>
                </a:solidFill>
              </a:rPr>
              <a:t>Glue processing</a:t>
            </a:r>
          </a:p>
        </p:txBody>
      </p:sp>
      <p:sp>
        <p:nvSpPr>
          <p:cNvPr id="24" name="Rectangle 23">
            <a:extLst>
              <a:ext uri="{FF2B5EF4-FFF2-40B4-BE49-F238E27FC236}">
                <a16:creationId xmlns:a16="http://schemas.microsoft.com/office/drawing/2014/main" id="{5A4E32CB-3AC9-416E-BDBA-0809ACE8B303}"/>
              </a:ext>
            </a:extLst>
          </p:cNvPr>
          <p:cNvSpPr>
            <a:spLocks noGrp="1"/>
          </p:cNvSpPr>
          <p:nvPr/>
        </p:nvSpPr>
        <p:spPr>
          <a:xfrm>
            <a:off x="7143750" y="5057775"/>
            <a:ext cx="266700" cy="228600"/>
          </a:xfrm>
          <a:prstGeom prst="rect">
            <a:avLst/>
          </a:prstGeom>
          <a:noFill/>
          <a:ln w="0">
            <a:noFill/>
            <a:prstDash val="solid"/>
          </a:ln>
        </p:spPr>
        <p:txBody>
          <a:bodyPr anchor="ctr"/>
          <a:lstStyle/>
          <a:p>
            <a:pPr algn="l">
              <a:defRPr sz="975" b="1">
                <a:solidFill>
                  <a:srgbClr val="E60000"/>
                </a:solidFill>
              </a:defRPr>
            </a:pPr>
            <a:r>
              <a:rPr sz="975" b="1">
                <a:solidFill>
                  <a:srgbClr val="E60000"/>
                </a:solidFill>
              </a:rPr>
              <a:t>04</a:t>
            </a:r>
          </a:p>
        </p:txBody>
      </p:sp>
      <p:sp>
        <p:nvSpPr>
          <p:cNvPr id="25" name="Rectangle 24">
            <a:extLst>
              <a:ext uri="{FF2B5EF4-FFF2-40B4-BE49-F238E27FC236}">
                <a16:creationId xmlns:a16="http://schemas.microsoft.com/office/drawing/2014/main" id="{17A9C2DD-9046-4514-8691-77D8B07D6037}"/>
              </a:ext>
            </a:extLst>
          </p:cNvPr>
          <p:cNvSpPr>
            <a:spLocks noGrp="1"/>
          </p:cNvSpPr>
          <p:nvPr/>
        </p:nvSpPr>
        <p:spPr>
          <a:xfrm>
            <a:off x="7505700" y="5057775"/>
            <a:ext cx="1666875" cy="228600"/>
          </a:xfrm>
          <a:prstGeom prst="rect">
            <a:avLst/>
          </a:prstGeom>
          <a:noFill/>
          <a:ln w="0">
            <a:noFill/>
            <a:prstDash val="solid"/>
          </a:ln>
        </p:spPr>
        <p:txBody>
          <a:bodyPr anchor="ctr"/>
          <a:lstStyle/>
          <a:p>
            <a:pPr algn="l">
              <a:defRPr sz="1200" b="1">
                <a:solidFill>
                  <a:srgbClr val="FFFFFF"/>
                </a:solidFill>
              </a:defRPr>
            </a:pPr>
            <a:r>
              <a:rPr sz="1200" b="1">
                <a:solidFill>
                  <a:srgbClr val="FFFFFF"/>
                </a:solidFill>
              </a:rPr>
              <a:t>Athena scans</a:t>
            </a:r>
          </a:p>
        </p:txBody>
      </p:sp>
      <p:sp>
        <p:nvSpPr>
          <p:cNvPr id="26" name="Rectangle 25">
            <a:extLst>
              <a:ext uri="{FF2B5EF4-FFF2-40B4-BE49-F238E27FC236}">
                <a16:creationId xmlns:a16="http://schemas.microsoft.com/office/drawing/2014/main" id="{CB65D362-9FF7-4D4B-8A68-F3F82870D1CA}"/>
              </a:ext>
            </a:extLst>
          </p:cNvPr>
          <p:cNvSpPr>
            <a:spLocks noGrp="1"/>
          </p:cNvSpPr>
          <p:nvPr/>
        </p:nvSpPr>
        <p:spPr>
          <a:xfrm>
            <a:off x="9315450" y="5057775"/>
            <a:ext cx="266700" cy="228600"/>
          </a:xfrm>
          <a:prstGeom prst="rect">
            <a:avLst/>
          </a:prstGeom>
          <a:noFill/>
          <a:ln w="0">
            <a:noFill/>
            <a:prstDash val="solid"/>
          </a:ln>
        </p:spPr>
        <p:txBody>
          <a:bodyPr anchor="ctr"/>
          <a:lstStyle/>
          <a:p>
            <a:pPr algn="l">
              <a:defRPr sz="975" b="1">
                <a:solidFill>
                  <a:srgbClr val="E60000"/>
                </a:solidFill>
              </a:defRPr>
            </a:pPr>
            <a:r>
              <a:rPr sz="975" b="1">
                <a:solidFill>
                  <a:srgbClr val="E60000"/>
                </a:solidFill>
              </a:rPr>
              <a:t>05</a:t>
            </a:r>
          </a:p>
        </p:txBody>
      </p:sp>
      <p:sp>
        <p:nvSpPr>
          <p:cNvPr id="27" name="Rectangle 26">
            <a:extLst>
              <a:ext uri="{FF2B5EF4-FFF2-40B4-BE49-F238E27FC236}">
                <a16:creationId xmlns:a16="http://schemas.microsoft.com/office/drawing/2014/main" id="{E0BB4B22-33FB-4AEA-B444-3E8461DDE248}"/>
              </a:ext>
            </a:extLst>
          </p:cNvPr>
          <p:cNvSpPr>
            <a:spLocks noGrp="1"/>
          </p:cNvSpPr>
          <p:nvPr/>
        </p:nvSpPr>
        <p:spPr>
          <a:xfrm>
            <a:off x="9677400" y="5057775"/>
            <a:ext cx="1666875" cy="228600"/>
          </a:xfrm>
          <a:prstGeom prst="rect">
            <a:avLst/>
          </a:prstGeom>
          <a:noFill/>
          <a:ln w="0">
            <a:noFill/>
            <a:prstDash val="solid"/>
          </a:ln>
        </p:spPr>
        <p:txBody>
          <a:bodyPr anchor="ctr"/>
          <a:lstStyle/>
          <a:p>
            <a:pPr algn="l">
              <a:defRPr sz="1200" b="1">
                <a:solidFill>
                  <a:srgbClr val="FFFFFF"/>
                </a:solidFill>
              </a:defRPr>
            </a:pPr>
            <a:r>
              <a:rPr sz="1200" b="1">
                <a:solidFill>
                  <a:srgbClr val="FFFFFF"/>
                </a:solidFill>
              </a:rPr>
              <a:t>QuickSight + support</a:t>
            </a:r>
          </a:p>
        </p:txBody>
      </p:sp>
      <p:sp>
        <p:nvSpPr>
          <p:cNvPr id="28" name="Rectangle 27">
            <a:extLst>
              <a:ext uri="{FF2B5EF4-FFF2-40B4-BE49-F238E27FC236}">
                <a16:creationId xmlns:a16="http://schemas.microsoft.com/office/drawing/2014/main" id="{3257D4D2-EC95-4138-BBE2-3DB5AB0F799F}"/>
              </a:ext>
            </a:extLst>
          </p:cNvPr>
          <p:cNvSpPr>
            <a:spLocks noGrp="1"/>
          </p:cNvSpPr>
          <p:nvPr/>
        </p:nvSpPr>
        <p:spPr>
          <a:xfrm>
            <a:off x="628650" y="5572125"/>
            <a:ext cx="10858500" cy="9525"/>
          </a:xfrm>
          <a:prstGeom prst="rect">
            <a:avLst/>
          </a:prstGeom>
          <a:solidFill>
            <a:srgbClr val="333333"/>
          </a:solidFill>
          <a:ln w="0">
            <a:noFill/>
            <a:prstDash val="solid"/>
          </a:ln>
        </p:spPr>
        <p:txBody>
          <a:bodyPr/>
          <a:lstStyle/>
          <a:p>
            <a:endParaRPr lang="en-ZA"/>
          </a:p>
        </p:txBody>
      </p:sp>
      <p:sp>
        <p:nvSpPr>
          <p:cNvPr id="29" name="Rectangle 28">
            <a:extLst>
              <a:ext uri="{FF2B5EF4-FFF2-40B4-BE49-F238E27FC236}">
                <a16:creationId xmlns:a16="http://schemas.microsoft.com/office/drawing/2014/main" id="{C9D2D139-A23B-4D1F-80A7-8D8C2BE231DB}"/>
              </a:ext>
            </a:extLst>
          </p:cNvPr>
          <p:cNvSpPr>
            <a:spLocks noGrp="1"/>
          </p:cNvSpPr>
          <p:nvPr/>
        </p:nvSpPr>
        <p:spPr>
          <a:xfrm>
            <a:off x="628650" y="5753100"/>
            <a:ext cx="10858500" cy="342900"/>
          </a:xfrm>
          <a:prstGeom prst="rect">
            <a:avLst/>
          </a:prstGeom>
          <a:noFill/>
          <a:ln w="0">
            <a:noFill/>
            <a:prstDash val="solid"/>
          </a:ln>
        </p:spPr>
        <p:txBody>
          <a:bodyPr anchor="ctr"/>
          <a:lstStyle/>
          <a:p>
            <a:pPr algn="l">
              <a:defRPr sz="1350" b="1">
                <a:solidFill>
                  <a:srgbClr val="C9C6C4"/>
                </a:solidFill>
              </a:defRPr>
            </a:pPr>
            <a:r>
              <a:rPr sz="1350" b="1">
                <a:solidFill>
                  <a:srgbClr val="C9C6C4"/>
                </a:solidFill>
              </a:rPr>
              <a:t>These are decision hurdles—not forecasts. Final cost needs signed-off volumes, scan sizes, licences and support.</a:t>
            </a:r>
          </a:p>
        </p:txBody>
      </p:sp>
      <p:sp>
        <p:nvSpPr>
          <p:cNvPr id="30" name="Rectangle 29">
            <a:extLst>
              <a:ext uri="{FF2B5EF4-FFF2-40B4-BE49-F238E27FC236}">
                <a16:creationId xmlns:a16="http://schemas.microsoft.com/office/drawing/2014/main" id="{AC403E22-277D-42DE-93E4-8516F699594E}"/>
              </a:ext>
            </a:extLst>
          </p:cNvPr>
          <p:cNvSpPr>
            <a:spLocks noGrp="1"/>
          </p:cNvSpPr>
          <p:nvPr/>
        </p:nvSpPr>
        <p:spPr>
          <a:xfrm>
            <a:off x="628650" y="6419850"/>
            <a:ext cx="5334000" cy="171450"/>
          </a:xfrm>
          <a:prstGeom prst="rect">
            <a:avLst/>
          </a:prstGeom>
          <a:noFill/>
          <a:ln w="0">
            <a:noFill/>
            <a:prstDash val="solid"/>
          </a:ln>
        </p:spPr>
        <p:txBody>
          <a:bodyPr anchor="ctr"/>
          <a:lstStyle/>
          <a:p>
            <a:pPr algn="l">
              <a:defRPr sz="825" b="1">
                <a:solidFill>
                  <a:srgbClr val="777777"/>
                </a:solidFill>
              </a:defRPr>
            </a:pPr>
            <a:r>
              <a:rPr sz="825" b="1">
                <a:solidFill>
                  <a:srgbClr val="777777"/>
                </a:solidFill>
              </a:rPr>
              <a:t>VODACOM FINANCIAL SERVICES  •  DIGITAL ANALYTICS</a:t>
            </a:r>
          </a:p>
        </p:txBody>
      </p:sp>
      <p:sp>
        <p:nvSpPr>
          <p:cNvPr id="31" name="Rectangle 30">
            <a:extLst>
              <a:ext uri="{FF2B5EF4-FFF2-40B4-BE49-F238E27FC236}">
                <a16:creationId xmlns:a16="http://schemas.microsoft.com/office/drawing/2014/main" id="{0F65B072-CFE4-4B0F-99D3-4399922F6156}"/>
              </a:ext>
            </a:extLst>
          </p:cNvPr>
          <p:cNvSpPr>
            <a:spLocks noGrp="1"/>
          </p:cNvSpPr>
          <p:nvPr/>
        </p:nvSpPr>
        <p:spPr>
          <a:xfrm>
            <a:off x="11096625" y="6419850"/>
            <a:ext cx="457200" cy="171450"/>
          </a:xfrm>
          <a:prstGeom prst="rect">
            <a:avLst/>
          </a:prstGeom>
          <a:noFill/>
          <a:ln w="0">
            <a:noFill/>
            <a:prstDash val="solid"/>
          </a:ln>
        </p:spPr>
        <p:txBody>
          <a:bodyPr anchor="ctr"/>
          <a:lstStyle/>
          <a:p>
            <a:pPr algn="r">
              <a:defRPr sz="825" b="1">
                <a:solidFill>
                  <a:srgbClr val="777777"/>
                </a:solidFill>
              </a:defRPr>
            </a:pPr>
            <a:r>
              <a:rPr sz="825" b="1">
                <a:solidFill>
                  <a:srgbClr val="777777"/>
                </a:solidFill>
              </a:rPr>
              <a:t>04</a:t>
            </a:r>
          </a:p>
        </p:txBody>
      </p:sp>
    </p:spTree>
    <p:extLst>
      <p:ext uri="{BB962C8B-B14F-4D97-AF65-F5344CB8AC3E}">
        <p14:creationId xmlns:p14="http://schemas.microsoft.com/office/powerpoint/2010/main" val="2130118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1EE"/>
        </a:solidFill>
        <a:effectLst/>
      </p:bgPr>
    </p:bg>
    <p:spTree>
      <p:nvGrpSpPr>
        <p:cNvPr id="1" name=""/>
        <p:cNvGrpSpPr/>
        <p:nvPr/>
      </p:nvGrpSpPr>
      <p:grpSpPr>
        <a:xfrm>
          <a:off x="0" y="0"/>
          <a:ext cx="0" cy="0"/>
          <a:chOff x="0" y="0"/>
          <a:chExt cx="0" cy="0"/>
        </a:xfrm>
      </p:grpSpPr>
      <p:sp>
        <p:nvSpPr>
          <p:cNvPr id="10" name="Rectangle: Rounded Corners 9">
            <a:extLst>
              <a:ext uri="{FF2B5EF4-FFF2-40B4-BE49-F238E27FC236}">
                <a16:creationId xmlns:a16="http://schemas.microsoft.com/office/drawing/2014/main" id="{D39897C7-3421-4D6D-BADD-86ED41A03A14}"/>
              </a:ext>
            </a:extLst>
          </p:cNvPr>
          <p:cNvSpPr>
            <a:spLocks noGrp="1"/>
          </p:cNvSpPr>
          <p:nvPr/>
        </p:nvSpPr>
        <p:spPr>
          <a:xfrm>
            <a:off x="628650" y="457200"/>
            <a:ext cx="2000250" cy="285750"/>
          </a:xfrm>
          <a:prstGeom prst="roundRect">
            <a:avLst>
              <a:gd name="adj" fmla="val 40000"/>
            </a:avLst>
          </a:prstGeom>
          <a:solidFill>
            <a:srgbClr val="E60000"/>
          </a:solidFill>
          <a:ln w="0">
            <a:noFill/>
            <a:prstDash val="solid"/>
          </a:ln>
        </p:spPr>
        <p:txBody>
          <a:bodyPr/>
          <a:lstStyle/>
          <a:p>
            <a:endParaRPr lang="en-ZA"/>
          </a:p>
        </p:txBody>
      </p:sp>
      <p:sp>
        <p:nvSpPr>
          <p:cNvPr id="2" name="Rectangle 1">
            <a:extLst>
              <a:ext uri="{FF2B5EF4-FFF2-40B4-BE49-F238E27FC236}">
                <a16:creationId xmlns:a16="http://schemas.microsoft.com/office/drawing/2014/main" id="{B674659F-9A78-4112-BA12-ABECC82E8147}"/>
              </a:ext>
            </a:extLst>
          </p:cNvPr>
          <p:cNvSpPr>
            <a:spLocks noGrp="1"/>
          </p:cNvSpPr>
          <p:nvPr/>
        </p:nvSpPr>
        <p:spPr>
          <a:xfrm>
            <a:off x="628650" y="457200"/>
            <a:ext cx="2000250" cy="285750"/>
          </a:xfrm>
          <a:prstGeom prst="rect">
            <a:avLst/>
          </a:prstGeom>
          <a:noFill/>
          <a:ln w="0">
            <a:noFill/>
            <a:prstDash val="solid"/>
          </a:ln>
        </p:spPr>
        <p:txBody>
          <a:bodyPr anchor="ctr"/>
          <a:lstStyle/>
          <a:p>
            <a:pPr algn="ctr">
              <a:defRPr sz="975" b="1">
                <a:solidFill>
                  <a:srgbClr val="FFFFFF"/>
                </a:solidFill>
              </a:defRPr>
            </a:pPr>
            <a:r>
              <a:rPr sz="975" b="1">
                <a:solidFill>
                  <a:srgbClr val="FFFFFF"/>
                </a:solidFill>
              </a:rPr>
              <a:t>MIGRATION + ROLLOUT</a:t>
            </a:r>
          </a:p>
        </p:txBody>
      </p:sp>
      <p:sp>
        <p:nvSpPr>
          <p:cNvPr id="3" name="Rectangle 2">
            <a:extLst>
              <a:ext uri="{FF2B5EF4-FFF2-40B4-BE49-F238E27FC236}">
                <a16:creationId xmlns:a16="http://schemas.microsoft.com/office/drawing/2014/main" id="{0AC5C58A-089D-4F10-8965-91684AA87D00}"/>
              </a:ext>
            </a:extLst>
          </p:cNvPr>
          <p:cNvSpPr>
            <a:spLocks noGrp="1"/>
          </p:cNvSpPr>
          <p:nvPr/>
        </p:nvSpPr>
        <p:spPr>
          <a:xfrm>
            <a:off x="628650" y="876300"/>
            <a:ext cx="6191250" cy="1000125"/>
          </a:xfrm>
          <a:prstGeom prst="rect">
            <a:avLst/>
          </a:prstGeom>
          <a:noFill/>
          <a:ln w="0">
            <a:noFill/>
            <a:prstDash val="solid"/>
          </a:ln>
        </p:spPr>
        <p:txBody>
          <a:bodyPr anchor="ctr"/>
          <a:lstStyle/>
          <a:p>
            <a:pPr algn="l">
              <a:defRPr sz="3000" b="1">
                <a:solidFill>
                  <a:srgbClr val="171719"/>
                </a:solidFill>
              </a:defRPr>
            </a:pPr>
            <a:r>
              <a:rPr sz="3000" b="1">
                <a:solidFill>
                  <a:srgbClr val="171719"/>
                </a:solidFill>
              </a:rPr>
              <a:t>Prove it in parallel.</a:t>
            </a:r>
          </a:p>
          <a:p>
            <a:pPr algn="l">
              <a:defRPr sz="3000" b="1">
                <a:solidFill>
                  <a:srgbClr val="171719"/>
                </a:solidFill>
              </a:defRPr>
            </a:pPr>
            <a:r>
              <a:rPr sz="3000" b="1">
                <a:solidFill>
                  <a:srgbClr val="171719"/>
                </a:solidFill>
              </a:rPr>
              <a:t>Scale it with confidence.</a:t>
            </a:r>
          </a:p>
        </p:txBody>
      </p:sp>
      <p:pic>
        <p:nvPicPr>
          <p:cNvPr id="13" name="Picture 12"/>
          <p:cNvPicPr>
            <a:picLocks noChangeAspect="1"/>
          </p:cNvPicPr>
          <p:nvPr/>
        </p:nvPicPr>
        <p:blipFill>
          <a:blip r:embed="rId3"/>
          <a:stretch/>
        </p:blipFill>
        <p:spPr>
          <a:xfrm>
            <a:off x="2667000" y="1952625"/>
            <a:ext cx="6858000" cy="3857625"/>
          </a:xfrm>
          <a:prstGeom prst="rect">
            <a:avLst/>
          </a:prstGeom>
        </p:spPr>
      </p:pic>
      <p:sp>
        <p:nvSpPr>
          <p:cNvPr id="5" name="Rectangle 4">
            <a:extLst>
              <a:ext uri="{FF2B5EF4-FFF2-40B4-BE49-F238E27FC236}">
                <a16:creationId xmlns:a16="http://schemas.microsoft.com/office/drawing/2014/main" id="{45896AE7-29E4-43C1-98C3-F8804BE4345A}"/>
              </a:ext>
            </a:extLst>
          </p:cNvPr>
          <p:cNvSpPr>
            <a:spLocks noGrp="1"/>
          </p:cNvSpPr>
          <p:nvPr/>
        </p:nvSpPr>
        <p:spPr>
          <a:xfrm>
            <a:off x="628650" y="5924550"/>
            <a:ext cx="10858500" cy="19050"/>
          </a:xfrm>
          <a:prstGeom prst="rect">
            <a:avLst/>
          </a:prstGeom>
          <a:solidFill>
            <a:srgbClr val="171719"/>
          </a:solidFill>
          <a:ln w="0">
            <a:noFill/>
            <a:prstDash val="solid"/>
          </a:ln>
        </p:spPr>
        <p:txBody>
          <a:bodyPr/>
          <a:lstStyle/>
          <a:p>
            <a:endParaRPr lang="en-ZA"/>
          </a:p>
        </p:txBody>
      </p:sp>
      <p:sp>
        <p:nvSpPr>
          <p:cNvPr id="6" name="Rectangle 5">
            <a:extLst>
              <a:ext uri="{FF2B5EF4-FFF2-40B4-BE49-F238E27FC236}">
                <a16:creationId xmlns:a16="http://schemas.microsoft.com/office/drawing/2014/main" id="{E5D09F0B-E652-4318-ADA0-4BB5E6D4D5CF}"/>
              </a:ext>
            </a:extLst>
          </p:cNvPr>
          <p:cNvSpPr>
            <a:spLocks noGrp="1"/>
          </p:cNvSpPr>
          <p:nvPr/>
        </p:nvSpPr>
        <p:spPr>
          <a:xfrm>
            <a:off x="628650" y="6076950"/>
            <a:ext cx="1047750" cy="219075"/>
          </a:xfrm>
          <a:prstGeom prst="rect">
            <a:avLst/>
          </a:prstGeom>
          <a:noFill/>
          <a:ln w="0">
            <a:noFill/>
            <a:prstDash val="solid"/>
          </a:ln>
        </p:spPr>
        <p:txBody>
          <a:bodyPr anchor="ctr"/>
          <a:lstStyle/>
          <a:p>
            <a:pPr algn="l">
              <a:defRPr sz="1050" b="1">
                <a:solidFill>
                  <a:srgbClr val="E60000"/>
                </a:solidFill>
              </a:defRPr>
            </a:pPr>
            <a:r>
              <a:rPr sz="1050" b="1">
                <a:solidFill>
                  <a:srgbClr val="E60000"/>
                </a:solidFill>
              </a:rPr>
              <a:t>EXIT GATE</a:t>
            </a:r>
          </a:p>
        </p:txBody>
      </p:sp>
      <p:sp>
        <p:nvSpPr>
          <p:cNvPr id="7" name="Rectangle 6">
            <a:extLst>
              <a:ext uri="{FF2B5EF4-FFF2-40B4-BE49-F238E27FC236}">
                <a16:creationId xmlns:a16="http://schemas.microsoft.com/office/drawing/2014/main" id="{288F4FEA-C675-4631-8681-9746C1E8A02C}"/>
              </a:ext>
            </a:extLst>
          </p:cNvPr>
          <p:cNvSpPr>
            <a:spLocks noGrp="1"/>
          </p:cNvSpPr>
          <p:nvPr/>
        </p:nvSpPr>
        <p:spPr>
          <a:xfrm>
            <a:off x="1809750" y="6076950"/>
            <a:ext cx="6572250" cy="219075"/>
          </a:xfrm>
          <a:prstGeom prst="rect">
            <a:avLst/>
          </a:prstGeom>
          <a:noFill/>
          <a:ln w="0">
            <a:noFill/>
            <a:prstDash val="solid"/>
          </a:ln>
        </p:spPr>
        <p:txBody>
          <a:bodyPr anchor="ctr"/>
          <a:lstStyle/>
          <a:p>
            <a:pPr algn="l">
              <a:defRPr sz="1350" b="1">
                <a:solidFill>
                  <a:srgbClr val="171719"/>
                </a:solidFill>
              </a:defRPr>
            </a:pPr>
            <a:r>
              <a:rPr sz="1350" b="1">
                <a:solidFill>
                  <a:srgbClr val="171719"/>
                </a:solidFill>
              </a:rPr>
              <a:t>Accuracy + capability + operational readiness signed off</a:t>
            </a:r>
          </a:p>
        </p:txBody>
      </p:sp>
      <p:sp>
        <p:nvSpPr>
          <p:cNvPr id="8" name="Rectangle 7">
            <a:extLst>
              <a:ext uri="{FF2B5EF4-FFF2-40B4-BE49-F238E27FC236}">
                <a16:creationId xmlns:a16="http://schemas.microsoft.com/office/drawing/2014/main" id="{3CBA7C74-9B10-4289-8F09-D8C7DB6126C7}"/>
              </a:ext>
            </a:extLst>
          </p:cNvPr>
          <p:cNvSpPr>
            <a:spLocks noGrp="1"/>
          </p:cNvSpPr>
          <p:nvPr/>
        </p:nvSpPr>
        <p:spPr>
          <a:xfrm>
            <a:off x="628650" y="6419850"/>
            <a:ext cx="5334000" cy="171450"/>
          </a:xfrm>
          <a:prstGeom prst="rect">
            <a:avLst/>
          </a:prstGeom>
          <a:noFill/>
          <a:ln w="0">
            <a:noFill/>
            <a:prstDash val="solid"/>
          </a:ln>
        </p:spPr>
        <p:txBody>
          <a:bodyPr anchor="ctr"/>
          <a:lstStyle/>
          <a:p>
            <a:pPr algn="l">
              <a:defRPr sz="825" b="1">
                <a:solidFill>
                  <a:srgbClr val="8A8582"/>
                </a:solidFill>
              </a:defRPr>
            </a:pPr>
            <a:r>
              <a:rPr sz="825" b="1">
                <a:solidFill>
                  <a:srgbClr val="8A8582"/>
                </a:solidFill>
              </a:rPr>
              <a:t>VODACOM FINANCIAL SERVICES  •  DIGITAL ANALYTICS</a:t>
            </a:r>
          </a:p>
        </p:txBody>
      </p:sp>
      <p:sp>
        <p:nvSpPr>
          <p:cNvPr id="9" name="Rectangle 8">
            <a:extLst>
              <a:ext uri="{FF2B5EF4-FFF2-40B4-BE49-F238E27FC236}">
                <a16:creationId xmlns:a16="http://schemas.microsoft.com/office/drawing/2014/main" id="{AE8B3C91-0351-4EB3-A8D2-41AFD7BAE8FF}"/>
              </a:ext>
            </a:extLst>
          </p:cNvPr>
          <p:cNvSpPr>
            <a:spLocks noGrp="1"/>
          </p:cNvSpPr>
          <p:nvPr/>
        </p:nvSpPr>
        <p:spPr>
          <a:xfrm>
            <a:off x="11096625" y="6419850"/>
            <a:ext cx="457200" cy="171450"/>
          </a:xfrm>
          <a:prstGeom prst="rect">
            <a:avLst/>
          </a:prstGeom>
          <a:noFill/>
          <a:ln w="0">
            <a:noFill/>
            <a:prstDash val="solid"/>
          </a:ln>
        </p:spPr>
        <p:txBody>
          <a:bodyPr anchor="ctr"/>
          <a:lstStyle/>
          <a:p>
            <a:pPr algn="r">
              <a:defRPr sz="825" b="1">
                <a:solidFill>
                  <a:srgbClr val="8A8582"/>
                </a:solidFill>
              </a:defRPr>
            </a:pPr>
            <a:r>
              <a:rPr sz="825" b="1">
                <a:solidFill>
                  <a:srgbClr val="8A8582"/>
                </a:solidFill>
              </a:rPr>
              <a:t>05</a:t>
            </a:r>
          </a:p>
        </p:txBody>
      </p:sp>
    </p:spTree>
    <p:extLst>
      <p:ext uri="{BB962C8B-B14F-4D97-AF65-F5344CB8AC3E}">
        <p14:creationId xmlns:p14="http://schemas.microsoft.com/office/powerpoint/2010/main" val="81962902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359f705-2ba0-454b-9cfc-6ce5bcaac040}" enabled="1" method="Standard" siteId="{68283f3b-8487-4c86-adb3-a5228f18b893}" contentBits="2" removed="0"/>
</clbl:labelList>
</file>

<file path=docProps/app.xml><?xml version="1.0" encoding="utf-8"?>
<Properties xmlns="http://schemas.openxmlformats.org/officeDocument/2006/extended-properties" xmlns:vt="http://schemas.openxmlformats.org/officeDocument/2006/docPropsVTypes">
  <TotalTime>0</TotalTime>
  <Words>1146</Words>
  <Application>Microsoft Office PowerPoint</Application>
  <DocSecurity>0</DocSecurity>
  <PresentationFormat>Widescreen</PresentationFormat>
  <Paragraphs>217</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Aptos</vt:lpstr>
      <vt:lpstr>Calibri</vt:lpstr>
      <vt:lpstr>ChatGPT</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Nikhil Lakha, Vodacom</cp:lastModifiedBy>
  <cp:revision>2</cp:revision>
  <dcterms:created xsi:type="dcterms:W3CDTF">2026-08-24T11:41:00Z</dcterms:created>
  <dcterms:modified xsi:type="dcterms:W3CDTF">2026-08-24T17:43:32Z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ChatGPT:3</vt:lpwstr>
  </property>
  <property fmtid="{D5CDD505-2E9C-101B-9397-08002B2CF9AE}" pid="3" name="ClassificationContentMarkingFooterText">
    <vt:lpwstr>C2 General</vt:lpwstr>
  </property>
</Properties>
</file>