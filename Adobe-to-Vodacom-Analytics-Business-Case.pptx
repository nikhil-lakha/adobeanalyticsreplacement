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2"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commercial tension: approximately R250k per month. Let the chart animate. Then explain that AWS is not only a cost move—it creates a reusable behavioural data asset with direct access and flexible reporting.</a:t>
            </a:r>
          </a:p>
          <a:p>
            <a:endParaRPr/>
          </a:p>
          <a:p>
            <a:r>
              <a:t>[Sources]</a:t>
            </a:r>
          </a:p>
          <a:p>
            <a:r>
              <a:t>- User-provided “Pasted markdown.md”, 20 Aug 2026.</a:t>
            </a:r>
          </a:p>
          <a:p>
            <a:r>
              <a:t>- User-confirmed Adobe Analytics baseline: approximately R250,000 per month.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transparent. The new model increases control and reuse, but the team must own engineering, operations, governance and capability parity. Recommend a controlled pilot—not a big-bang replacement.</a:t>
            </a:r>
          </a:p>
          <a:p>
            <a:endParaRPr/>
          </a:p>
          <a:p>
            <a:r>
              <a:t>[Sources]</a:t>
            </a:r>
          </a:p>
          <a:p>
            <a:r>
              <a:t>- User-provided “Pasted markdown.md”, 20 Aug 2026.</a:t>
            </a:r>
          </a:p>
          <a:p>
            <a:r>
              <a:t>- User-confirmed Adobe Analytics baseline: approximately R250,000 per month.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AWS amounts as business-case hurdles, not forecasts. Base should demonstrate roughly a 90% reduction; stress should remain at least 50% below Adobe. Final approval needs a signed workload model.</a:t>
            </a:r>
          </a:p>
          <a:p>
            <a:endParaRPr/>
          </a:p>
          <a:p>
            <a:r>
              <a:t>[Sources]</a:t>
            </a:r>
          </a:p>
          <a:p>
            <a:r>
              <a:t>- User-provided “Pasted markdown.md”, 20 Aug 2026.</a:t>
            </a:r>
          </a:p>
          <a:p>
            <a:r>
              <a:t>- User-confirmed Adobe Analytics baseline: approximately R250,000 per month.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migration remains reversible until the evidence is strong. Pilot one journey, run Adobe and AWS in parallel, reconcile key metrics, then scale journey by journey. Adobe exits only after sign-off.</a:t>
            </a:r>
          </a:p>
          <a:p>
            <a:endParaRPr/>
          </a:p>
          <a:p>
            <a:r>
              <a:t>[Sources]</a:t>
            </a:r>
          </a:p>
          <a:p>
            <a:r>
              <a:t>- User-provided “Pasted markdown.md”, 20 Aug 2026.</a:t>
            </a:r>
          </a:p>
          <a:p>
            <a:r>
              <a:t>- User-confirmed Adobe Analytics baseline: approximately R250,000 per month.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into the dashboard demo: funnel, product, channel and error views. Close on reuse across Big Data, CVM, Marketing and Mushtaaq’s team. The decision requested is approval for a controlled production pilot.</a:t>
            </a:r>
          </a:p>
          <a:p>
            <a:endParaRPr/>
          </a:p>
          <a:p>
            <a:r>
              <a:t>[Sources]</a:t>
            </a:r>
          </a:p>
          <a:p>
            <a:r>
              <a:t>- User-provided “Pasted markdown.md”, 20 Aug 2026.</a:t>
            </a:r>
          </a:p>
          <a:p>
            <a:r>
              <a:t>- User-confirmed Adobe Analytics baseline: approximately R250,000 per month.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06E3-E686-57A1-83C7-A350A5870B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B96FC20B-09DE-AC91-3E4F-7E843DB1A1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6BCB8B38-C6FB-9BF0-8DBF-FCE5B090E646}"/>
              </a:ext>
            </a:extLst>
          </p:cNvPr>
          <p:cNvSpPr>
            <a:spLocks noGrp="1"/>
          </p:cNvSpPr>
          <p:nvPr>
            <p:ph type="dt" sz="half" idx="10"/>
          </p:nvPr>
        </p:nvSpPr>
        <p:spPr/>
        <p:txBody>
          <a:bodyPr/>
          <a:lstStyle/>
          <a:p>
            <a:fld id="{57F65F15-862E-461D-81AF-026004B4B3DF}" type="datetimeFigureOut">
              <a:rPr lang="en-ZA" smtClean="0"/>
              <a:t>2026/08/24</a:t>
            </a:fld>
            <a:endParaRPr lang="en-ZA"/>
          </a:p>
        </p:txBody>
      </p:sp>
      <p:sp>
        <p:nvSpPr>
          <p:cNvPr id="5" name="Footer Placeholder 4">
            <a:extLst>
              <a:ext uri="{FF2B5EF4-FFF2-40B4-BE49-F238E27FC236}">
                <a16:creationId xmlns:a16="http://schemas.microsoft.com/office/drawing/2014/main" id="{C651112E-D050-3AF1-B565-6BDF6CE5CC1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3A74ED2-97C7-6ACC-5074-7D4E8AFB9898}"/>
              </a:ext>
            </a:extLst>
          </p:cNvPr>
          <p:cNvSpPr>
            <a:spLocks noGrp="1"/>
          </p:cNvSpPr>
          <p:nvPr>
            <p:ph type="sldNum" sz="quarter" idx="12"/>
          </p:nvPr>
        </p:nvSpPr>
        <p:spPr/>
        <p:txBody>
          <a:bodyPr/>
          <a:lstStyle/>
          <a:p>
            <a:fld id="{358718B0-D621-4EEE-86B6-3209C0C413D8}" type="slidenum">
              <a:rPr lang="en-ZA" smtClean="0"/>
              <a:t>‹#›</a:t>
            </a:fld>
            <a:endParaRPr lang="en-ZA"/>
          </a:p>
        </p:txBody>
      </p:sp>
    </p:spTree>
    <p:extLst>
      <p:ext uri="{BB962C8B-B14F-4D97-AF65-F5344CB8AC3E}">
        <p14:creationId xmlns:p14="http://schemas.microsoft.com/office/powerpoint/2010/main" val="10023642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0B1134-59E4-5A06-F7EF-FB673D9B36BF}"/>
              </a:ext>
            </a:extLst>
          </p:cNvPr>
          <p:cNvSpPr txBox="1"/>
          <p:nvPr userDrawn="1">
            <p:extLst>
              <p:ext uri="{1162E1C5-73C7-4A58-AE30-91384D911F3F}">
                <p184:classification xmlns:p184="http://schemas.microsoft.com/office/powerpoint/2018/4/main" val="ftr"/>
              </p:ext>
            </p:extLst>
          </p:nvPr>
        </p:nvSpPr>
        <p:spPr>
          <a:xfrm>
            <a:off x="63500" y="6687820"/>
            <a:ext cx="454025" cy="106680"/>
          </a:xfrm>
          <a:prstGeom prst="rect">
            <a:avLst/>
          </a:prstGeom>
        </p:spPr>
        <p:txBody>
          <a:bodyPr horzOverflow="overflow" lIns="0" tIns="0" rIns="0" bIns="0">
            <a:spAutoFit/>
          </a:bodyPr>
          <a:lstStyle/>
          <a:p>
            <a:pPr algn="l"/>
            <a:r>
              <a:rPr lang="en-ZA" sz="700">
                <a:solidFill>
                  <a:srgbClr val="000000">
                    <a:alpha val="50000"/>
                  </a:srgbClr>
                </a:solidFill>
                <a:latin typeface="Aptos" panose="020B0004020202020204" pitchFamily="34" charset="0"/>
              </a:rPr>
              <a:t>C2 General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jpe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C"/>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B183039-A0E7-4AE2-B995-6E8BF8331C92}"/>
              </a:ext>
            </a:extLst>
          </p:cNvPr>
          <p:cNvSpPr>
            <a:spLocks noGrp="1"/>
          </p:cNvSpPr>
          <p:nvPr/>
        </p:nvSpPr>
        <p:spPr>
          <a:xfrm>
            <a:off x="0" y="0"/>
            <a:ext cx="171450" cy="6858000"/>
          </a:xfrm>
          <a:prstGeom prst="rect">
            <a:avLst/>
          </a:prstGeom>
          <a:solidFill>
            <a:srgbClr val="E60000"/>
          </a:solidFill>
          <a:ln w="0">
            <a:noFill/>
            <a:prstDash val="solid"/>
          </a:ln>
        </p:spPr>
        <p:txBody>
          <a:bodyPr/>
          <a:lstStyle/>
          <a:p>
            <a:endParaRPr lang="en-ZA"/>
          </a:p>
        </p:txBody>
      </p:sp>
      <p:sp>
        <p:nvSpPr>
          <p:cNvPr id="2" name="Rectangle 1">
            <a:extLst>
              <a:ext uri="{FF2B5EF4-FFF2-40B4-BE49-F238E27FC236}">
                <a16:creationId xmlns:a16="http://schemas.microsoft.com/office/drawing/2014/main" id="{5A85BC47-FD3A-4D82-ABE5-84C3BEEB4EFA}"/>
              </a:ext>
            </a:extLst>
          </p:cNvPr>
          <p:cNvSpPr>
            <a:spLocks noGrp="1"/>
          </p:cNvSpPr>
          <p:nvPr/>
        </p:nvSpPr>
        <p:spPr>
          <a:xfrm>
            <a:off x="361950" y="361950"/>
            <a:ext cx="11239500" cy="19050"/>
          </a:xfrm>
          <a:prstGeom prst="rect">
            <a:avLst/>
          </a:prstGeom>
          <a:solidFill>
            <a:srgbClr val="292929"/>
          </a:solidFill>
          <a:ln w="0">
            <a:noFill/>
            <a:prstDash val="solid"/>
          </a:ln>
        </p:spPr>
        <p:txBody>
          <a:bodyPr/>
          <a:lstStyle/>
          <a:p>
            <a:endParaRPr lang="en-ZA"/>
          </a:p>
        </p:txBody>
      </p:sp>
      <p:sp>
        <p:nvSpPr>
          <p:cNvPr id="3" name="Rectangle: Rounded Corners 2">
            <a:extLst>
              <a:ext uri="{FF2B5EF4-FFF2-40B4-BE49-F238E27FC236}">
                <a16:creationId xmlns:a16="http://schemas.microsoft.com/office/drawing/2014/main" id="{F9054810-F4EC-4528-998A-E4D2EDEEE6A6}"/>
              </a:ext>
            </a:extLst>
          </p:cNvPr>
          <p:cNvSpPr>
            <a:spLocks noGrp="1"/>
          </p:cNvSpPr>
          <p:nvPr/>
        </p:nvSpPr>
        <p:spPr>
          <a:xfrm>
            <a:off x="628650" y="552450"/>
            <a:ext cx="1428750" cy="285750"/>
          </a:xfrm>
          <a:prstGeom prst="roundRect">
            <a:avLst>
              <a:gd name="adj" fmla="val 40000"/>
            </a:avLst>
          </a:prstGeom>
          <a:solidFill>
            <a:srgbClr val="E60000"/>
          </a:solidFill>
          <a:ln w="0">
            <a:noFill/>
            <a:prstDash val="solid"/>
          </a:ln>
        </p:spPr>
        <p:txBody>
          <a:bodyPr/>
          <a:lstStyle/>
          <a:p>
            <a:endParaRPr lang="en-ZA"/>
          </a:p>
        </p:txBody>
      </p:sp>
      <p:sp>
        <p:nvSpPr>
          <p:cNvPr id="4" name="Rectangle 3">
            <a:extLst>
              <a:ext uri="{FF2B5EF4-FFF2-40B4-BE49-F238E27FC236}">
                <a16:creationId xmlns:a16="http://schemas.microsoft.com/office/drawing/2014/main" id="{88832021-9325-4316-8E63-885F493345ED}"/>
              </a:ext>
            </a:extLst>
          </p:cNvPr>
          <p:cNvSpPr>
            <a:spLocks noGrp="1"/>
          </p:cNvSpPr>
          <p:nvPr/>
        </p:nvSpPr>
        <p:spPr>
          <a:xfrm>
            <a:off x="628650" y="552450"/>
            <a:ext cx="14287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THE DECISION</a:t>
            </a:r>
          </a:p>
        </p:txBody>
      </p:sp>
      <p:sp>
        <p:nvSpPr>
          <p:cNvPr id="5" name="Rectangle 4">
            <a:extLst>
              <a:ext uri="{FF2B5EF4-FFF2-40B4-BE49-F238E27FC236}">
                <a16:creationId xmlns:a16="http://schemas.microsoft.com/office/drawing/2014/main" id="{D8E537B7-C115-432A-B4CA-EE26DFCF69B8}"/>
              </a:ext>
            </a:extLst>
          </p:cNvPr>
          <p:cNvSpPr>
            <a:spLocks noGrp="1"/>
          </p:cNvSpPr>
          <p:nvPr/>
        </p:nvSpPr>
        <p:spPr>
          <a:xfrm>
            <a:off x="628650" y="990600"/>
            <a:ext cx="5095875" cy="1428750"/>
          </a:xfrm>
          <a:prstGeom prst="rect">
            <a:avLst/>
          </a:prstGeom>
          <a:noFill/>
          <a:ln w="0">
            <a:noFill/>
            <a:prstDash val="solid"/>
          </a:ln>
        </p:spPr>
        <p:txBody>
          <a:bodyPr anchor="ctr"/>
          <a:lstStyle/>
          <a:p>
            <a:pPr algn="l">
              <a:defRPr sz="3225" b="1">
                <a:solidFill>
                  <a:srgbClr val="FFFFFF"/>
                </a:solidFill>
              </a:defRPr>
            </a:pPr>
            <a:r>
              <a:rPr sz="3225" b="1">
                <a:solidFill>
                  <a:srgbClr val="FFFFFF"/>
                </a:solidFill>
              </a:rPr>
              <a:t>We pay for access.</a:t>
            </a:r>
          </a:p>
          <a:p>
            <a:pPr algn="l">
              <a:defRPr sz="3225" b="1">
                <a:solidFill>
                  <a:srgbClr val="FFFFFF"/>
                </a:solidFill>
              </a:defRPr>
            </a:pPr>
            <a:r>
              <a:rPr sz="3225" b="1">
                <a:solidFill>
                  <a:srgbClr val="FFFFFF"/>
                </a:solidFill>
              </a:rPr>
              <a:t>AWS lets us own the capability.</a:t>
            </a:r>
          </a:p>
        </p:txBody>
      </p:sp>
      <p:sp>
        <p:nvSpPr>
          <p:cNvPr id="6" name="Rectangle 5">
            <a:extLst>
              <a:ext uri="{FF2B5EF4-FFF2-40B4-BE49-F238E27FC236}">
                <a16:creationId xmlns:a16="http://schemas.microsoft.com/office/drawing/2014/main" id="{0CCA62DE-3CC3-4A25-AAB3-8AFD644015BD}"/>
              </a:ext>
            </a:extLst>
          </p:cNvPr>
          <p:cNvSpPr>
            <a:spLocks noGrp="1"/>
          </p:cNvSpPr>
          <p:nvPr/>
        </p:nvSpPr>
        <p:spPr>
          <a:xfrm>
            <a:off x="628650" y="2714625"/>
            <a:ext cx="2857500" cy="714375"/>
          </a:xfrm>
          <a:prstGeom prst="rect">
            <a:avLst/>
          </a:prstGeom>
          <a:noFill/>
          <a:ln w="0">
            <a:noFill/>
            <a:prstDash val="solid"/>
          </a:ln>
        </p:spPr>
        <p:txBody>
          <a:bodyPr anchor="ctr"/>
          <a:lstStyle/>
          <a:p>
            <a:pPr algn="l">
              <a:defRPr sz="4350" b="1">
                <a:solidFill>
                  <a:srgbClr val="E60000"/>
                </a:solidFill>
              </a:defRPr>
            </a:pPr>
            <a:r>
              <a:rPr sz="4350" b="1">
                <a:solidFill>
                  <a:srgbClr val="E60000"/>
                </a:solidFill>
              </a:rPr>
              <a:t>~R250k</a:t>
            </a:r>
          </a:p>
        </p:txBody>
      </p:sp>
      <p:sp>
        <p:nvSpPr>
          <p:cNvPr id="7" name="Rectangle 6">
            <a:extLst>
              <a:ext uri="{FF2B5EF4-FFF2-40B4-BE49-F238E27FC236}">
                <a16:creationId xmlns:a16="http://schemas.microsoft.com/office/drawing/2014/main" id="{339EDE91-ED01-4A39-9A58-78EE07CE067F}"/>
              </a:ext>
            </a:extLst>
          </p:cNvPr>
          <p:cNvSpPr>
            <a:spLocks noGrp="1"/>
          </p:cNvSpPr>
          <p:nvPr/>
        </p:nvSpPr>
        <p:spPr>
          <a:xfrm>
            <a:off x="666750" y="3390900"/>
            <a:ext cx="1809750" cy="266700"/>
          </a:xfrm>
          <a:prstGeom prst="rect">
            <a:avLst/>
          </a:prstGeom>
          <a:noFill/>
          <a:ln w="0">
            <a:noFill/>
            <a:prstDash val="solid"/>
          </a:ln>
        </p:spPr>
        <p:txBody>
          <a:bodyPr anchor="ctr"/>
          <a:lstStyle/>
          <a:p>
            <a:pPr algn="l">
              <a:defRPr sz="1275" b="1">
                <a:solidFill>
                  <a:srgbClr val="B7B4B2"/>
                </a:solidFill>
              </a:defRPr>
            </a:pPr>
            <a:r>
              <a:rPr sz="1275" b="1">
                <a:solidFill>
                  <a:srgbClr val="B7B4B2"/>
                </a:solidFill>
              </a:rPr>
              <a:t>PER MONTH</a:t>
            </a:r>
          </a:p>
        </p:txBody>
      </p:sp>
      <p:sp>
        <p:nvSpPr>
          <p:cNvPr id="8" name="Rectangle 7">
            <a:extLst>
              <a:ext uri="{FF2B5EF4-FFF2-40B4-BE49-F238E27FC236}">
                <a16:creationId xmlns:a16="http://schemas.microsoft.com/office/drawing/2014/main" id="{82F57B2C-4C62-4183-B795-6CE526CFE654}"/>
              </a:ext>
            </a:extLst>
          </p:cNvPr>
          <p:cNvSpPr>
            <a:spLocks noGrp="1"/>
          </p:cNvSpPr>
          <p:nvPr/>
        </p:nvSpPr>
        <p:spPr>
          <a:xfrm>
            <a:off x="647700" y="3943350"/>
            <a:ext cx="333375" cy="247650"/>
          </a:xfrm>
          <a:prstGeom prst="rect">
            <a:avLst/>
          </a:prstGeom>
          <a:noFill/>
          <a:ln w="0">
            <a:noFill/>
            <a:prstDash val="solid"/>
          </a:ln>
        </p:spPr>
        <p:txBody>
          <a:bodyPr anchor="ctr"/>
          <a:lstStyle/>
          <a:p>
            <a:pPr algn="l">
              <a:defRPr sz="1125" b="1">
                <a:solidFill>
                  <a:srgbClr val="E60000"/>
                </a:solidFill>
              </a:defRPr>
            </a:pPr>
            <a:r>
              <a:rPr sz="1125" b="1">
                <a:solidFill>
                  <a:srgbClr val="E60000"/>
                </a:solidFill>
              </a:rPr>
              <a:t>01</a:t>
            </a:r>
          </a:p>
        </p:txBody>
      </p:sp>
      <p:sp>
        <p:nvSpPr>
          <p:cNvPr id="9" name="Rectangle 8">
            <a:extLst>
              <a:ext uri="{FF2B5EF4-FFF2-40B4-BE49-F238E27FC236}">
                <a16:creationId xmlns:a16="http://schemas.microsoft.com/office/drawing/2014/main" id="{53F622C3-373E-4664-9EC3-706512DA3F2C}"/>
              </a:ext>
            </a:extLst>
          </p:cNvPr>
          <p:cNvSpPr>
            <a:spLocks noGrp="1"/>
          </p:cNvSpPr>
          <p:nvPr/>
        </p:nvSpPr>
        <p:spPr>
          <a:xfrm>
            <a:off x="1104900" y="3943350"/>
            <a:ext cx="3714750" cy="247650"/>
          </a:xfrm>
          <a:prstGeom prst="rect">
            <a:avLst/>
          </a:prstGeom>
          <a:noFill/>
          <a:ln w="0">
            <a:noFill/>
            <a:prstDash val="solid"/>
          </a:ln>
        </p:spPr>
        <p:txBody>
          <a:bodyPr anchor="ctr"/>
          <a:lstStyle/>
          <a:p>
            <a:pPr algn="l">
              <a:defRPr sz="1425" b="1">
                <a:solidFill>
                  <a:srgbClr val="FFFFFF"/>
                </a:solidFill>
              </a:defRPr>
            </a:pPr>
            <a:r>
              <a:rPr sz="1425" b="1">
                <a:solidFill>
                  <a:srgbClr val="FFFFFF"/>
                </a:solidFill>
              </a:rPr>
              <a:t>High recurring platform cost</a:t>
            </a:r>
          </a:p>
        </p:txBody>
      </p:sp>
      <p:sp>
        <p:nvSpPr>
          <p:cNvPr id="10" name="Rectangle 9">
            <a:extLst>
              <a:ext uri="{FF2B5EF4-FFF2-40B4-BE49-F238E27FC236}">
                <a16:creationId xmlns:a16="http://schemas.microsoft.com/office/drawing/2014/main" id="{2FD186FD-644C-4B44-9819-8277490B4426}"/>
              </a:ext>
            </a:extLst>
          </p:cNvPr>
          <p:cNvSpPr>
            <a:spLocks noGrp="1"/>
          </p:cNvSpPr>
          <p:nvPr/>
        </p:nvSpPr>
        <p:spPr>
          <a:xfrm>
            <a:off x="647700" y="4305300"/>
            <a:ext cx="4000500" cy="9525"/>
          </a:xfrm>
          <a:prstGeom prst="rect">
            <a:avLst/>
          </a:prstGeom>
          <a:solidFill>
            <a:srgbClr val="323232"/>
          </a:solidFill>
          <a:ln w="0">
            <a:noFill/>
            <a:prstDash val="solid"/>
          </a:ln>
        </p:spPr>
        <p:txBody>
          <a:bodyPr/>
          <a:lstStyle/>
          <a:p>
            <a:endParaRPr lang="en-ZA"/>
          </a:p>
        </p:txBody>
      </p:sp>
      <p:sp>
        <p:nvSpPr>
          <p:cNvPr id="11" name="Rectangle 10">
            <a:extLst>
              <a:ext uri="{FF2B5EF4-FFF2-40B4-BE49-F238E27FC236}">
                <a16:creationId xmlns:a16="http://schemas.microsoft.com/office/drawing/2014/main" id="{0617E846-36E1-479A-9F3B-A60CE16E1DD4}"/>
              </a:ext>
            </a:extLst>
          </p:cNvPr>
          <p:cNvSpPr>
            <a:spLocks noGrp="1"/>
          </p:cNvSpPr>
          <p:nvPr/>
        </p:nvSpPr>
        <p:spPr>
          <a:xfrm>
            <a:off x="647700" y="4486275"/>
            <a:ext cx="333375" cy="247650"/>
          </a:xfrm>
          <a:prstGeom prst="rect">
            <a:avLst/>
          </a:prstGeom>
          <a:noFill/>
          <a:ln w="0">
            <a:noFill/>
            <a:prstDash val="solid"/>
          </a:ln>
        </p:spPr>
        <p:txBody>
          <a:bodyPr anchor="ctr"/>
          <a:lstStyle/>
          <a:p>
            <a:pPr algn="l">
              <a:defRPr sz="1125" b="1">
                <a:solidFill>
                  <a:srgbClr val="E60000"/>
                </a:solidFill>
              </a:defRPr>
            </a:pPr>
            <a:r>
              <a:rPr sz="1125" b="1">
                <a:solidFill>
                  <a:srgbClr val="E60000"/>
                </a:solidFill>
              </a:rPr>
              <a:t>02</a:t>
            </a:r>
          </a:p>
        </p:txBody>
      </p:sp>
      <p:sp>
        <p:nvSpPr>
          <p:cNvPr id="12" name="Rectangle 11">
            <a:extLst>
              <a:ext uri="{FF2B5EF4-FFF2-40B4-BE49-F238E27FC236}">
                <a16:creationId xmlns:a16="http://schemas.microsoft.com/office/drawing/2014/main" id="{9A104EC6-F643-41E9-BF93-11234386DFCE}"/>
              </a:ext>
            </a:extLst>
          </p:cNvPr>
          <p:cNvSpPr>
            <a:spLocks noGrp="1"/>
          </p:cNvSpPr>
          <p:nvPr/>
        </p:nvSpPr>
        <p:spPr>
          <a:xfrm>
            <a:off x="1104900" y="4486275"/>
            <a:ext cx="3714750" cy="247650"/>
          </a:xfrm>
          <a:prstGeom prst="rect">
            <a:avLst/>
          </a:prstGeom>
          <a:noFill/>
          <a:ln w="0">
            <a:noFill/>
            <a:prstDash val="solid"/>
          </a:ln>
        </p:spPr>
        <p:txBody>
          <a:bodyPr anchor="ctr"/>
          <a:lstStyle/>
          <a:p>
            <a:pPr algn="l">
              <a:defRPr sz="1425" b="1">
                <a:solidFill>
                  <a:srgbClr val="FFFFFF"/>
                </a:solidFill>
              </a:defRPr>
            </a:pPr>
            <a:r>
              <a:rPr sz="1425" b="1">
                <a:solidFill>
                  <a:srgbClr val="FFFFFF"/>
                </a:solidFill>
              </a:rPr>
              <a:t>Limited dashboard flexibility</a:t>
            </a:r>
          </a:p>
        </p:txBody>
      </p:sp>
      <p:sp>
        <p:nvSpPr>
          <p:cNvPr id="13" name="Rectangle 12">
            <a:extLst>
              <a:ext uri="{FF2B5EF4-FFF2-40B4-BE49-F238E27FC236}">
                <a16:creationId xmlns:a16="http://schemas.microsoft.com/office/drawing/2014/main" id="{AE3A41E3-8239-40D2-A573-352C0A069D21}"/>
              </a:ext>
            </a:extLst>
          </p:cNvPr>
          <p:cNvSpPr>
            <a:spLocks noGrp="1"/>
          </p:cNvSpPr>
          <p:nvPr/>
        </p:nvSpPr>
        <p:spPr>
          <a:xfrm>
            <a:off x="647700" y="4848225"/>
            <a:ext cx="4000500" cy="9525"/>
          </a:xfrm>
          <a:prstGeom prst="rect">
            <a:avLst/>
          </a:prstGeom>
          <a:solidFill>
            <a:srgbClr val="323232"/>
          </a:solidFill>
          <a:ln w="0">
            <a:noFill/>
            <a:prstDash val="solid"/>
          </a:ln>
        </p:spPr>
        <p:txBody>
          <a:bodyPr/>
          <a:lstStyle/>
          <a:p>
            <a:endParaRPr lang="en-ZA"/>
          </a:p>
        </p:txBody>
      </p:sp>
      <p:sp>
        <p:nvSpPr>
          <p:cNvPr id="14" name="Rectangle 13">
            <a:extLst>
              <a:ext uri="{FF2B5EF4-FFF2-40B4-BE49-F238E27FC236}">
                <a16:creationId xmlns:a16="http://schemas.microsoft.com/office/drawing/2014/main" id="{CCA16C1A-AD54-4729-B1EF-936FCF8368A7}"/>
              </a:ext>
            </a:extLst>
          </p:cNvPr>
          <p:cNvSpPr>
            <a:spLocks noGrp="1"/>
          </p:cNvSpPr>
          <p:nvPr/>
        </p:nvSpPr>
        <p:spPr>
          <a:xfrm>
            <a:off x="647700" y="5029200"/>
            <a:ext cx="333375" cy="247650"/>
          </a:xfrm>
          <a:prstGeom prst="rect">
            <a:avLst/>
          </a:prstGeom>
          <a:noFill/>
          <a:ln w="0">
            <a:noFill/>
            <a:prstDash val="solid"/>
          </a:ln>
        </p:spPr>
        <p:txBody>
          <a:bodyPr anchor="ctr"/>
          <a:lstStyle/>
          <a:p>
            <a:pPr algn="l">
              <a:defRPr sz="1125" b="1">
                <a:solidFill>
                  <a:srgbClr val="E60000"/>
                </a:solidFill>
              </a:defRPr>
            </a:pPr>
            <a:r>
              <a:rPr sz="1125" b="1">
                <a:solidFill>
                  <a:srgbClr val="E60000"/>
                </a:solidFill>
              </a:rPr>
              <a:t>03</a:t>
            </a:r>
          </a:p>
        </p:txBody>
      </p:sp>
      <p:sp>
        <p:nvSpPr>
          <p:cNvPr id="15" name="Rectangle 14">
            <a:extLst>
              <a:ext uri="{FF2B5EF4-FFF2-40B4-BE49-F238E27FC236}">
                <a16:creationId xmlns:a16="http://schemas.microsoft.com/office/drawing/2014/main" id="{E573B69C-4101-4873-964F-3D706CA06A60}"/>
              </a:ext>
            </a:extLst>
          </p:cNvPr>
          <p:cNvSpPr>
            <a:spLocks noGrp="1"/>
          </p:cNvSpPr>
          <p:nvPr/>
        </p:nvSpPr>
        <p:spPr>
          <a:xfrm>
            <a:off x="1104900" y="5029200"/>
            <a:ext cx="3714750" cy="247650"/>
          </a:xfrm>
          <a:prstGeom prst="rect">
            <a:avLst/>
          </a:prstGeom>
          <a:noFill/>
          <a:ln w="0">
            <a:noFill/>
            <a:prstDash val="solid"/>
          </a:ln>
        </p:spPr>
        <p:txBody>
          <a:bodyPr anchor="ctr"/>
          <a:lstStyle/>
          <a:p>
            <a:pPr algn="l">
              <a:defRPr sz="1425" b="1">
                <a:solidFill>
                  <a:srgbClr val="FFFFFF"/>
                </a:solidFill>
              </a:defRPr>
            </a:pPr>
            <a:r>
              <a:rPr sz="1425" b="1">
                <a:solidFill>
                  <a:srgbClr val="FFFFFF"/>
                </a:solidFill>
              </a:rPr>
              <a:t>Restricted SQL + Python access</a:t>
            </a:r>
          </a:p>
        </p:txBody>
      </p:sp>
      <p:sp>
        <p:nvSpPr>
          <p:cNvPr id="16" name="Rectangle 15">
            <a:extLst>
              <a:ext uri="{FF2B5EF4-FFF2-40B4-BE49-F238E27FC236}">
                <a16:creationId xmlns:a16="http://schemas.microsoft.com/office/drawing/2014/main" id="{8582EAFD-4AF2-4D6A-B9F5-1AD3CF0184A4}"/>
              </a:ext>
            </a:extLst>
          </p:cNvPr>
          <p:cNvSpPr>
            <a:spLocks noGrp="1"/>
          </p:cNvSpPr>
          <p:nvPr/>
        </p:nvSpPr>
        <p:spPr>
          <a:xfrm>
            <a:off x="647700" y="5391150"/>
            <a:ext cx="4000500" cy="9525"/>
          </a:xfrm>
          <a:prstGeom prst="rect">
            <a:avLst/>
          </a:prstGeom>
          <a:solidFill>
            <a:srgbClr val="323232"/>
          </a:solidFill>
          <a:ln w="0">
            <a:noFill/>
            <a:prstDash val="solid"/>
          </a:ln>
        </p:spPr>
        <p:txBody>
          <a:bodyPr/>
          <a:lstStyle/>
          <a:p>
            <a:endParaRPr lang="en-ZA"/>
          </a:p>
        </p:txBody>
      </p:sp>
      <p:pic>
        <p:nvPicPr>
          <p:cNvPr id="38" name="Picture 37"/>
          <p:cNvPicPr>
            <a:picLocks noChangeAspect="1"/>
          </p:cNvPicPr>
          <p:nvPr/>
        </p:nvPicPr>
        <p:blipFill>
          <a:blip r:embed="rId3"/>
          <a:stretch/>
        </p:blipFill>
        <p:spPr>
          <a:xfrm>
            <a:off x="5953125" y="1050131"/>
            <a:ext cx="5429250" cy="4071938"/>
          </a:xfrm>
          <a:prstGeom prst="rect">
            <a:avLst/>
          </a:prstGeom>
        </p:spPr>
      </p:pic>
      <p:sp>
        <p:nvSpPr>
          <p:cNvPr id="18" name="Rectangle 17">
            <a:extLst>
              <a:ext uri="{FF2B5EF4-FFF2-40B4-BE49-F238E27FC236}">
                <a16:creationId xmlns:a16="http://schemas.microsoft.com/office/drawing/2014/main" id="{8B56C058-4BF3-4A3E-A5E4-B99BA60C04FF}"/>
              </a:ext>
            </a:extLst>
          </p:cNvPr>
          <p:cNvSpPr>
            <a:spLocks noGrp="1"/>
          </p:cNvSpPr>
          <p:nvPr/>
        </p:nvSpPr>
        <p:spPr>
          <a:xfrm>
            <a:off x="6191250" y="5362575"/>
            <a:ext cx="1428750" cy="238125"/>
          </a:xfrm>
          <a:prstGeom prst="rect">
            <a:avLst/>
          </a:prstGeom>
          <a:noFill/>
          <a:ln w="0">
            <a:noFill/>
            <a:prstDash val="solid"/>
          </a:ln>
        </p:spPr>
        <p:txBody>
          <a:bodyPr anchor="ctr"/>
          <a:lstStyle/>
          <a:p>
            <a:pPr algn="l">
              <a:defRPr sz="1050" b="1">
                <a:solidFill>
                  <a:srgbClr val="E60000"/>
                </a:solidFill>
              </a:defRPr>
            </a:pPr>
            <a:r>
              <a:rPr sz="1050" b="1">
                <a:solidFill>
                  <a:srgbClr val="E60000"/>
                </a:solidFill>
              </a:rPr>
              <a:t>THE UNLOCK</a:t>
            </a:r>
          </a:p>
        </p:txBody>
      </p:sp>
      <p:sp>
        <p:nvSpPr>
          <p:cNvPr id="19" name="Rectangle 18">
            <a:extLst>
              <a:ext uri="{FF2B5EF4-FFF2-40B4-BE49-F238E27FC236}">
                <a16:creationId xmlns:a16="http://schemas.microsoft.com/office/drawing/2014/main" id="{70FF9F2A-2370-4EF2-8743-EC65C7B38448}"/>
              </a:ext>
            </a:extLst>
          </p:cNvPr>
          <p:cNvSpPr>
            <a:spLocks noGrp="1"/>
          </p:cNvSpPr>
          <p:nvPr/>
        </p:nvSpPr>
        <p:spPr>
          <a:xfrm>
            <a:off x="6191250" y="5629275"/>
            <a:ext cx="5095875" cy="38100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Direct querying • flexible reporting • reusable behavioural data</a:t>
            </a:r>
          </a:p>
        </p:txBody>
      </p:sp>
      <p:sp>
        <p:nvSpPr>
          <p:cNvPr id="20" name="Rectangle 19">
            <a:extLst>
              <a:ext uri="{FF2B5EF4-FFF2-40B4-BE49-F238E27FC236}">
                <a16:creationId xmlns:a16="http://schemas.microsoft.com/office/drawing/2014/main" id="{0FF8F918-9EE5-4EFD-85FD-BBA1938B9F25}"/>
              </a:ext>
            </a:extLst>
          </p:cNvPr>
          <p:cNvSpPr>
            <a:spLocks noGrp="1"/>
          </p:cNvSpPr>
          <p:nvPr/>
        </p:nvSpPr>
        <p:spPr>
          <a:xfrm>
            <a:off x="628650" y="6419850"/>
            <a:ext cx="5334000" cy="171450"/>
          </a:xfrm>
          <a:prstGeom prst="rect">
            <a:avLst/>
          </a:prstGeom>
          <a:noFill/>
          <a:ln w="0">
            <a:noFill/>
            <a:prstDash val="solid"/>
          </a:ln>
        </p:spPr>
        <p:txBody>
          <a:bodyPr anchor="ctr"/>
          <a:lstStyle/>
          <a:p>
            <a:pPr algn="l">
              <a:defRPr sz="825" b="1">
                <a:solidFill>
                  <a:srgbClr val="777777"/>
                </a:solidFill>
              </a:defRPr>
            </a:pPr>
            <a:r>
              <a:rPr sz="825" b="1">
                <a:solidFill>
                  <a:srgbClr val="777777"/>
                </a:solidFill>
              </a:rPr>
              <a:t>VODACOM FINANCIAL SERVICES  •  DIGITAL ANALYTICS</a:t>
            </a:r>
          </a:p>
        </p:txBody>
      </p:sp>
      <p:sp>
        <p:nvSpPr>
          <p:cNvPr id="21" name="Rectangle 20">
            <a:extLst>
              <a:ext uri="{FF2B5EF4-FFF2-40B4-BE49-F238E27FC236}">
                <a16:creationId xmlns:a16="http://schemas.microsoft.com/office/drawing/2014/main" id="{743E2D63-DB41-498E-9E27-F784AC51B4C5}"/>
              </a:ext>
            </a:extLst>
          </p:cNvPr>
          <p:cNvSpPr>
            <a:spLocks noGrp="1"/>
          </p:cNvSpPr>
          <p:nvPr/>
        </p:nvSpPr>
        <p:spPr>
          <a:xfrm>
            <a:off x="11096625" y="6419850"/>
            <a:ext cx="457200" cy="171450"/>
          </a:xfrm>
          <a:prstGeom prst="rect">
            <a:avLst/>
          </a:prstGeom>
          <a:noFill/>
          <a:ln w="0">
            <a:noFill/>
            <a:prstDash val="solid"/>
          </a:ln>
        </p:spPr>
        <p:txBody>
          <a:bodyPr anchor="ctr"/>
          <a:lstStyle/>
          <a:p>
            <a:pPr algn="r">
              <a:defRPr sz="825" b="1">
                <a:solidFill>
                  <a:srgbClr val="777777"/>
                </a:solidFill>
              </a:defRPr>
            </a:pPr>
            <a:r>
              <a:rPr sz="825" b="1">
                <a:solidFill>
                  <a:srgbClr val="777777"/>
                </a:solidFill>
              </a:rPr>
              <a:t>01</a:t>
            </a:r>
          </a:p>
        </p:txBody>
      </p:sp>
    </p:spTree>
    <p:extLst>
      <p:ext uri="{BB962C8B-B14F-4D97-AF65-F5344CB8AC3E}">
        <p14:creationId xmlns:p14="http://schemas.microsoft.com/office/powerpoint/2010/main" val="19996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194A-1677-DC71-8D18-36E6756E9BC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4269BFF-D64F-4B93-12BB-2C0A0938DE2F}"/>
              </a:ext>
            </a:extLst>
          </p:cNvPr>
          <p:cNvSpPr/>
          <p:nvPr/>
        </p:nvSpPr>
        <p:spPr>
          <a:xfrm>
            <a:off x="119744" y="957943"/>
            <a:ext cx="1201779" cy="3907971"/>
          </a:xfrm>
          <a:prstGeom prst="roundRect">
            <a:avLst/>
          </a:prstGeom>
          <a:solidFill>
            <a:schemeClr val="accent6">
              <a:lumMod val="20000"/>
              <a:lumOff val="80000"/>
              <a:alpha val="32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0" name="TextBox 19">
            <a:extLst>
              <a:ext uri="{FF2B5EF4-FFF2-40B4-BE49-F238E27FC236}">
                <a16:creationId xmlns:a16="http://schemas.microsoft.com/office/drawing/2014/main" id="{A0FC31B1-962D-3633-0627-64D55900DD54}"/>
              </a:ext>
            </a:extLst>
          </p:cNvPr>
          <p:cNvSpPr txBox="1"/>
          <p:nvPr/>
        </p:nvSpPr>
        <p:spPr>
          <a:xfrm>
            <a:off x="319597" y="1032224"/>
            <a:ext cx="970137" cy="246221"/>
          </a:xfrm>
          <a:prstGeom prst="rect">
            <a:avLst/>
          </a:prstGeom>
          <a:noFill/>
        </p:spPr>
        <p:txBody>
          <a:bodyPr wrap="none" rtlCol="0">
            <a:spAutoFit/>
          </a:bodyPr>
          <a:lstStyle/>
          <a:p>
            <a:r>
              <a:rPr lang="en-ZA" sz="1000" b="1" dirty="0">
                <a:solidFill>
                  <a:schemeClr val="accent6"/>
                </a:solidFill>
                <a:latin typeface="Vodafone Medium" panose="020B0603020202020204" pitchFamily="34" charset="0"/>
                <a:cs typeface="Vodafone Medium" panose="020B0603020202020204" pitchFamily="34" charset="0"/>
              </a:rPr>
              <a:t>1. Data Sources</a:t>
            </a:r>
          </a:p>
        </p:txBody>
      </p:sp>
      <p:grpSp>
        <p:nvGrpSpPr>
          <p:cNvPr id="1030" name="Group 1029">
            <a:extLst>
              <a:ext uri="{FF2B5EF4-FFF2-40B4-BE49-F238E27FC236}">
                <a16:creationId xmlns:a16="http://schemas.microsoft.com/office/drawing/2014/main" id="{E0D6CFC2-053A-026A-5939-B67243E7294C}"/>
              </a:ext>
            </a:extLst>
          </p:cNvPr>
          <p:cNvGrpSpPr/>
          <p:nvPr/>
        </p:nvGrpSpPr>
        <p:grpSpPr>
          <a:xfrm>
            <a:off x="174171" y="1264456"/>
            <a:ext cx="1163246" cy="1090957"/>
            <a:chOff x="174171" y="1829211"/>
            <a:chExt cx="1163246" cy="1090957"/>
          </a:xfrm>
        </p:grpSpPr>
        <p:sp>
          <p:nvSpPr>
            <p:cNvPr id="9" name="Rectangle: Rounded Corners 8">
              <a:extLst>
                <a:ext uri="{FF2B5EF4-FFF2-40B4-BE49-F238E27FC236}">
                  <a16:creationId xmlns:a16="http://schemas.microsoft.com/office/drawing/2014/main" id="{7091CB4C-5703-63CC-252B-CC891CC4587C}"/>
                </a:ext>
              </a:extLst>
            </p:cNvPr>
            <p:cNvSpPr/>
            <p:nvPr/>
          </p:nvSpPr>
          <p:spPr>
            <a:xfrm>
              <a:off x="174171" y="1829211"/>
              <a:ext cx="1115563" cy="1090957"/>
            </a:xfrm>
            <a:prstGeom prst="roundRect">
              <a:avLst/>
            </a:prstGeom>
            <a:solidFill>
              <a:schemeClr val="bg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25" name="Picture 24">
              <a:extLst>
                <a:ext uri="{FF2B5EF4-FFF2-40B4-BE49-F238E27FC236}">
                  <a16:creationId xmlns:a16="http://schemas.microsoft.com/office/drawing/2014/main" id="{64D08E86-ED82-CC72-B7DF-CAC4348DB5D5}"/>
                </a:ext>
              </a:extLst>
            </p:cNvPr>
            <p:cNvPicPr>
              <a:picLocks noChangeAspect="1"/>
            </p:cNvPicPr>
            <p:nvPr/>
          </p:nvPicPr>
          <p:blipFill>
            <a:blip r:embed="rId2"/>
            <a:stretch>
              <a:fillRect/>
            </a:stretch>
          </p:blipFill>
          <p:spPr>
            <a:xfrm>
              <a:off x="274820" y="2186976"/>
              <a:ext cx="252144" cy="223482"/>
            </a:xfrm>
            <a:prstGeom prst="rect">
              <a:avLst/>
            </a:prstGeom>
          </p:spPr>
        </p:pic>
        <p:sp>
          <p:nvSpPr>
            <p:cNvPr id="32" name="TextBox 31">
              <a:extLst>
                <a:ext uri="{FF2B5EF4-FFF2-40B4-BE49-F238E27FC236}">
                  <a16:creationId xmlns:a16="http://schemas.microsoft.com/office/drawing/2014/main" id="{E06765BA-BB7B-70AF-F902-5998C21C9DBE}"/>
                </a:ext>
              </a:extLst>
            </p:cNvPr>
            <p:cNvSpPr txBox="1"/>
            <p:nvPr/>
          </p:nvSpPr>
          <p:spPr>
            <a:xfrm>
              <a:off x="503534" y="2190587"/>
              <a:ext cx="833883" cy="200055"/>
            </a:xfrm>
            <a:prstGeom prst="rect">
              <a:avLst/>
            </a:prstGeom>
            <a:noFill/>
          </p:spPr>
          <p:txBody>
            <a:bodyPr wrap="none" rtlCol="0">
              <a:spAutoFit/>
            </a:bodyPr>
            <a:lstStyle/>
            <a:p>
              <a:r>
                <a:rPr lang="en-ZA" sz="700" dirty="0" err="1">
                  <a:latin typeface="Vodafone Medium" panose="020B0603020202020204" pitchFamily="34" charset="0"/>
                  <a:cs typeface="Vodafone Medium" panose="020B0603020202020204" pitchFamily="34" charset="0"/>
                </a:rPr>
                <a:t>Vodapay</a:t>
              </a:r>
              <a:r>
                <a:rPr lang="en-ZA" sz="700" dirty="0">
                  <a:latin typeface="Vodafone Medium" panose="020B0603020202020204" pitchFamily="34" charset="0"/>
                  <a:cs typeface="Vodafone Medium" panose="020B0603020202020204" pitchFamily="34" charset="0"/>
                </a:rPr>
                <a:t> WebView</a:t>
              </a:r>
            </a:p>
          </p:txBody>
        </p:sp>
      </p:grpSp>
      <p:sp>
        <p:nvSpPr>
          <p:cNvPr id="35" name="TextBox 34">
            <a:extLst>
              <a:ext uri="{FF2B5EF4-FFF2-40B4-BE49-F238E27FC236}">
                <a16:creationId xmlns:a16="http://schemas.microsoft.com/office/drawing/2014/main" id="{33AAB3CE-EF28-3F1A-F1F4-516FE2DA31FB}"/>
              </a:ext>
            </a:extLst>
          </p:cNvPr>
          <p:cNvSpPr txBox="1"/>
          <p:nvPr/>
        </p:nvSpPr>
        <p:spPr>
          <a:xfrm>
            <a:off x="2576832" y="0"/>
            <a:ext cx="7666625" cy="461665"/>
          </a:xfrm>
          <a:prstGeom prst="rect">
            <a:avLst/>
          </a:prstGeom>
          <a:noFill/>
        </p:spPr>
        <p:txBody>
          <a:bodyPr wrap="square" rtlCol="0">
            <a:spAutoFit/>
          </a:bodyPr>
          <a:lstStyle/>
          <a:p>
            <a:r>
              <a:rPr lang="en-ZA" sz="2400" dirty="0">
                <a:latin typeface="Vodafone ExB" panose="02000503000000020004" pitchFamily="2" charset="0"/>
              </a:rPr>
              <a:t>Digital Analytics Data Ingestion Architecture (POC)</a:t>
            </a:r>
          </a:p>
        </p:txBody>
      </p:sp>
      <p:sp>
        <p:nvSpPr>
          <p:cNvPr id="36" name="TextBox 35">
            <a:extLst>
              <a:ext uri="{FF2B5EF4-FFF2-40B4-BE49-F238E27FC236}">
                <a16:creationId xmlns:a16="http://schemas.microsoft.com/office/drawing/2014/main" id="{E9067B36-679E-F700-1863-C58887045AC5}"/>
              </a:ext>
            </a:extLst>
          </p:cNvPr>
          <p:cNvSpPr txBox="1"/>
          <p:nvPr/>
        </p:nvSpPr>
        <p:spPr>
          <a:xfrm>
            <a:off x="1209509" y="476199"/>
            <a:ext cx="9878268" cy="369332"/>
          </a:xfrm>
          <a:prstGeom prst="rect">
            <a:avLst/>
          </a:prstGeom>
          <a:noFill/>
        </p:spPr>
        <p:txBody>
          <a:bodyPr wrap="square" rtlCol="0">
            <a:spAutoFit/>
          </a:bodyPr>
          <a:lstStyle/>
          <a:p>
            <a:pPr algn="ctr"/>
            <a:r>
              <a:rPr lang="en-ZA" i="1" dirty="0">
                <a:solidFill>
                  <a:schemeClr val="bg1">
                    <a:lumMod val="50000"/>
                  </a:schemeClr>
                </a:solidFill>
                <a:latin typeface="Vodafone Book" panose="020B0403020202020204" pitchFamily="34" charset="0"/>
                <a:cs typeface="Vodafone Book" panose="020B0403020202020204" pitchFamily="34" charset="0"/>
              </a:rPr>
              <a:t>Tealium  → API Gateway (WAF) → Stream  → Firehose  → S3 → Glue → Lakehouse  → Analytics </a:t>
            </a:r>
          </a:p>
        </p:txBody>
      </p:sp>
      <p:grpSp>
        <p:nvGrpSpPr>
          <p:cNvPr id="1031" name="Group 1030">
            <a:extLst>
              <a:ext uri="{FF2B5EF4-FFF2-40B4-BE49-F238E27FC236}">
                <a16:creationId xmlns:a16="http://schemas.microsoft.com/office/drawing/2014/main" id="{4F0DB6F7-0FF3-E902-80C1-9A724496705A}"/>
              </a:ext>
            </a:extLst>
          </p:cNvPr>
          <p:cNvGrpSpPr/>
          <p:nvPr/>
        </p:nvGrpSpPr>
        <p:grpSpPr>
          <a:xfrm>
            <a:off x="174171" y="2500102"/>
            <a:ext cx="1160318" cy="1090957"/>
            <a:chOff x="174171" y="3004328"/>
            <a:chExt cx="1160318" cy="1090957"/>
          </a:xfrm>
        </p:grpSpPr>
        <p:sp>
          <p:nvSpPr>
            <p:cNvPr id="63" name="Rectangle: Rounded Corners 62">
              <a:extLst>
                <a:ext uri="{FF2B5EF4-FFF2-40B4-BE49-F238E27FC236}">
                  <a16:creationId xmlns:a16="http://schemas.microsoft.com/office/drawing/2014/main" id="{7E035B5B-47D4-B949-2FE2-01EEE5D76A6D}"/>
                </a:ext>
              </a:extLst>
            </p:cNvPr>
            <p:cNvSpPr/>
            <p:nvPr/>
          </p:nvSpPr>
          <p:spPr>
            <a:xfrm>
              <a:off x="174171" y="3004328"/>
              <a:ext cx="1115563" cy="1090957"/>
            </a:xfrm>
            <a:prstGeom prst="roundRect">
              <a:avLst/>
            </a:prstGeom>
            <a:solidFill>
              <a:schemeClr val="bg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24" name="TextBox 1023">
              <a:extLst>
                <a:ext uri="{FF2B5EF4-FFF2-40B4-BE49-F238E27FC236}">
                  <a16:creationId xmlns:a16="http://schemas.microsoft.com/office/drawing/2014/main" id="{7857F8FF-218E-4E8E-D0A5-76FCA63B5EE3}"/>
                </a:ext>
              </a:extLst>
            </p:cNvPr>
            <p:cNvSpPr txBox="1"/>
            <p:nvPr/>
          </p:nvSpPr>
          <p:spPr>
            <a:xfrm>
              <a:off x="438090" y="3423380"/>
              <a:ext cx="896399" cy="200055"/>
            </a:xfrm>
            <a:prstGeom prst="rect">
              <a:avLst/>
            </a:prstGeom>
            <a:noFill/>
          </p:spPr>
          <p:txBody>
            <a:bodyPr wrap="none" rtlCol="0">
              <a:spAutoFit/>
            </a:bodyPr>
            <a:lstStyle/>
            <a:p>
              <a:r>
                <a:rPr lang="en-ZA" sz="700" dirty="0" err="1">
                  <a:latin typeface="Vodafone Medium" panose="020B0603020202020204" pitchFamily="34" charset="0"/>
                  <a:cs typeface="Vodafone Medium" panose="020B0603020202020204" pitchFamily="34" charset="0"/>
                </a:rPr>
                <a:t>Vodapay</a:t>
              </a:r>
              <a:r>
                <a:rPr lang="en-ZA" sz="700" dirty="0">
                  <a:latin typeface="Vodafone Medium" panose="020B0603020202020204" pitchFamily="34" charset="0"/>
                  <a:cs typeface="Vodafone Medium" panose="020B0603020202020204" pitchFamily="34" charset="0"/>
                </a:rPr>
                <a:t> Native App</a:t>
              </a:r>
            </a:p>
          </p:txBody>
        </p:sp>
        <p:pic>
          <p:nvPicPr>
            <p:cNvPr id="1025" name="Picture 1024">
              <a:extLst>
                <a:ext uri="{FF2B5EF4-FFF2-40B4-BE49-F238E27FC236}">
                  <a16:creationId xmlns:a16="http://schemas.microsoft.com/office/drawing/2014/main" id="{26E309AA-7D70-966F-4C43-173DC374350B}"/>
                </a:ext>
              </a:extLst>
            </p:cNvPr>
            <p:cNvPicPr>
              <a:picLocks noChangeAspect="1"/>
            </p:cNvPicPr>
            <p:nvPr/>
          </p:nvPicPr>
          <p:blipFill>
            <a:blip r:embed="rId3"/>
            <a:stretch>
              <a:fillRect/>
            </a:stretch>
          </p:blipFill>
          <p:spPr>
            <a:xfrm>
              <a:off x="262298" y="3299823"/>
              <a:ext cx="217077" cy="432854"/>
            </a:xfrm>
            <a:prstGeom prst="rect">
              <a:avLst/>
            </a:prstGeom>
          </p:spPr>
        </p:pic>
      </p:grpSp>
      <p:grpSp>
        <p:nvGrpSpPr>
          <p:cNvPr id="1032" name="Group 1031">
            <a:extLst>
              <a:ext uri="{FF2B5EF4-FFF2-40B4-BE49-F238E27FC236}">
                <a16:creationId xmlns:a16="http://schemas.microsoft.com/office/drawing/2014/main" id="{0C16193A-BEAE-7C07-E6D3-F9FC2D5AE3F6}"/>
              </a:ext>
            </a:extLst>
          </p:cNvPr>
          <p:cNvGrpSpPr/>
          <p:nvPr/>
        </p:nvGrpSpPr>
        <p:grpSpPr>
          <a:xfrm>
            <a:off x="174171" y="3682863"/>
            <a:ext cx="1115563" cy="1090957"/>
            <a:chOff x="174171" y="4148771"/>
            <a:chExt cx="1115563" cy="1090957"/>
          </a:xfrm>
        </p:grpSpPr>
        <p:sp>
          <p:nvSpPr>
            <p:cNvPr id="1027" name="Rectangle: Rounded Corners 1026">
              <a:extLst>
                <a:ext uri="{FF2B5EF4-FFF2-40B4-BE49-F238E27FC236}">
                  <a16:creationId xmlns:a16="http://schemas.microsoft.com/office/drawing/2014/main" id="{49442EE9-DFB7-EEC4-C300-BAD40AC80D55}"/>
                </a:ext>
              </a:extLst>
            </p:cNvPr>
            <p:cNvSpPr/>
            <p:nvPr/>
          </p:nvSpPr>
          <p:spPr>
            <a:xfrm>
              <a:off x="174171" y="4148771"/>
              <a:ext cx="1115563" cy="1090957"/>
            </a:xfrm>
            <a:prstGeom prst="roundRect">
              <a:avLst/>
            </a:prstGeom>
            <a:solidFill>
              <a:schemeClr val="bg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28" name="TextBox 1027">
              <a:extLst>
                <a:ext uri="{FF2B5EF4-FFF2-40B4-BE49-F238E27FC236}">
                  <a16:creationId xmlns:a16="http://schemas.microsoft.com/office/drawing/2014/main" id="{B794B152-D84B-9F93-8AAB-8FDFE6779D43}"/>
                </a:ext>
              </a:extLst>
            </p:cNvPr>
            <p:cNvSpPr txBox="1"/>
            <p:nvPr/>
          </p:nvSpPr>
          <p:spPr>
            <a:xfrm>
              <a:off x="580185" y="4511314"/>
              <a:ext cx="643291" cy="246221"/>
            </a:xfrm>
            <a:prstGeom prst="rect">
              <a:avLst/>
            </a:prstGeom>
            <a:noFill/>
          </p:spPr>
          <p:txBody>
            <a:bodyPr wrap="square" rtlCol="0">
              <a:spAutoFit/>
            </a:bodyPr>
            <a:lstStyle/>
            <a:p>
              <a:r>
                <a:rPr lang="en-ZA" sz="500" dirty="0">
                  <a:latin typeface="Vodafone Medium" panose="020B0603020202020204" pitchFamily="34" charset="0"/>
                  <a:cs typeface="Vodafone Medium" panose="020B0603020202020204" pitchFamily="34" charset="0"/>
                </a:rPr>
                <a:t>Other Future Digital Channels</a:t>
              </a:r>
            </a:p>
          </p:txBody>
        </p:sp>
        <p:pic>
          <p:nvPicPr>
            <p:cNvPr id="1029" name="Picture 1028">
              <a:extLst>
                <a:ext uri="{FF2B5EF4-FFF2-40B4-BE49-F238E27FC236}">
                  <a16:creationId xmlns:a16="http://schemas.microsoft.com/office/drawing/2014/main" id="{023B034B-23EB-48BC-797C-C72C23C69481}"/>
                </a:ext>
              </a:extLst>
            </p:cNvPr>
            <p:cNvPicPr>
              <a:picLocks noChangeAspect="1"/>
            </p:cNvPicPr>
            <p:nvPr/>
          </p:nvPicPr>
          <p:blipFill>
            <a:blip r:embed="rId4"/>
            <a:stretch>
              <a:fillRect/>
            </a:stretch>
          </p:blipFill>
          <p:spPr>
            <a:xfrm>
              <a:off x="224766" y="4450276"/>
              <a:ext cx="384258" cy="487946"/>
            </a:xfrm>
            <a:prstGeom prst="rect">
              <a:avLst/>
            </a:prstGeom>
          </p:spPr>
        </p:pic>
      </p:grpSp>
      <p:grpSp>
        <p:nvGrpSpPr>
          <p:cNvPr id="1041" name="Group 1040">
            <a:extLst>
              <a:ext uri="{FF2B5EF4-FFF2-40B4-BE49-F238E27FC236}">
                <a16:creationId xmlns:a16="http://schemas.microsoft.com/office/drawing/2014/main" id="{5E957E85-EEB6-4E72-570B-2DCC61F03FA8}"/>
              </a:ext>
            </a:extLst>
          </p:cNvPr>
          <p:cNvGrpSpPr/>
          <p:nvPr/>
        </p:nvGrpSpPr>
        <p:grpSpPr>
          <a:xfrm>
            <a:off x="1624589" y="957943"/>
            <a:ext cx="1301630" cy="3907971"/>
            <a:chOff x="2619112" y="1099457"/>
            <a:chExt cx="1301630" cy="3907971"/>
          </a:xfrm>
        </p:grpSpPr>
        <p:sp>
          <p:nvSpPr>
            <p:cNvPr id="1033" name="Rectangle: Rounded Corners 1032">
              <a:extLst>
                <a:ext uri="{FF2B5EF4-FFF2-40B4-BE49-F238E27FC236}">
                  <a16:creationId xmlns:a16="http://schemas.microsoft.com/office/drawing/2014/main" id="{16FF8AD2-6A72-058C-13DD-8E82EDB4C5C2}"/>
                </a:ext>
              </a:extLst>
            </p:cNvPr>
            <p:cNvSpPr/>
            <p:nvPr/>
          </p:nvSpPr>
          <p:spPr>
            <a:xfrm>
              <a:off x="2619112" y="1099457"/>
              <a:ext cx="1202400" cy="3907971"/>
            </a:xfrm>
            <a:prstGeom prst="roundRect">
              <a:avLst/>
            </a:prstGeom>
            <a:solidFill>
              <a:schemeClr val="tx2">
                <a:lumMod val="25000"/>
                <a:lumOff val="75000"/>
                <a:alpha val="32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34" name="TextBox 1033">
              <a:extLst>
                <a:ext uri="{FF2B5EF4-FFF2-40B4-BE49-F238E27FC236}">
                  <a16:creationId xmlns:a16="http://schemas.microsoft.com/office/drawing/2014/main" id="{E3E6E9EF-7704-8D61-F3BA-CF19F4A6FA8E}"/>
                </a:ext>
              </a:extLst>
            </p:cNvPr>
            <p:cNvSpPr txBox="1"/>
            <p:nvPr/>
          </p:nvSpPr>
          <p:spPr>
            <a:xfrm>
              <a:off x="2825355" y="1169559"/>
              <a:ext cx="716863" cy="246221"/>
            </a:xfrm>
            <a:prstGeom prst="rect">
              <a:avLst/>
            </a:prstGeom>
            <a:noFill/>
          </p:spPr>
          <p:txBody>
            <a:bodyPr wrap="none" rtlCol="0">
              <a:spAutoFit/>
            </a:bodyPr>
            <a:lstStyle/>
            <a:p>
              <a:r>
                <a:rPr lang="en-ZA" sz="1000" b="1" dirty="0">
                  <a:solidFill>
                    <a:schemeClr val="tx2">
                      <a:lumMod val="50000"/>
                      <a:lumOff val="50000"/>
                    </a:schemeClr>
                  </a:solidFill>
                  <a:latin typeface="Vodafone Medium" panose="020B0603020202020204" pitchFamily="34" charset="0"/>
                  <a:cs typeface="Vodafone Medium" panose="020B0603020202020204" pitchFamily="34" charset="0"/>
                </a:rPr>
                <a:t>2. Tealium</a:t>
              </a:r>
            </a:p>
          </p:txBody>
        </p:sp>
        <p:pic>
          <p:nvPicPr>
            <p:cNvPr id="1036" name="Picture 1035">
              <a:extLst>
                <a:ext uri="{FF2B5EF4-FFF2-40B4-BE49-F238E27FC236}">
                  <a16:creationId xmlns:a16="http://schemas.microsoft.com/office/drawing/2014/main" id="{7C6B39E7-7BC9-C16E-1336-3E9FEC16B72E}"/>
                </a:ext>
              </a:extLst>
            </p:cNvPr>
            <p:cNvPicPr>
              <a:picLocks noChangeAspect="1"/>
            </p:cNvPicPr>
            <p:nvPr/>
          </p:nvPicPr>
          <p:blipFill>
            <a:blip r:embed="rId5"/>
            <a:stretch>
              <a:fillRect/>
            </a:stretch>
          </p:blipFill>
          <p:spPr>
            <a:xfrm>
              <a:off x="2705431" y="1574465"/>
              <a:ext cx="1070005" cy="742013"/>
            </a:xfrm>
            <a:prstGeom prst="rect">
              <a:avLst/>
            </a:prstGeom>
          </p:spPr>
        </p:pic>
        <p:grpSp>
          <p:nvGrpSpPr>
            <p:cNvPr id="1038" name="Group 1037">
              <a:extLst>
                <a:ext uri="{FF2B5EF4-FFF2-40B4-BE49-F238E27FC236}">
                  <a16:creationId xmlns:a16="http://schemas.microsoft.com/office/drawing/2014/main" id="{505CA163-024E-FE69-89BF-E809565462AC}"/>
                </a:ext>
              </a:extLst>
            </p:cNvPr>
            <p:cNvGrpSpPr/>
            <p:nvPr/>
          </p:nvGrpSpPr>
          <p:grpSpPr>
            <a:xfrm>
              <a:off x="2686135" y="3873955"/>
              <a:ext cx="1234607" cy="995660"/>
              <a:chOff x="4849238" y="5137482"/>
              <a:chExt cx="1234607" cy="995660"/>
            </a:xfrm>
          </p:grpSpPr>
          <p:sp>
            <p:nvSpPr>
              <p:cNvPr id="40" name="Rectangle: Rounded Corners 39">
                <a:extLst>
                  <a:ext uri="{FF2B5EF4-FFF2-40B4-BE49-F238E27FC236}">
                    <a16:creationId xmlns:a16="http://schemas.microsoft.com/office/drawing/2014/main" id="{6D45FA6A-68FF-DEEE-37CB-AD9F15C7B27C}"/>
                  </a:ext>
                </a:extLst>
              </p:cNvPr>
              <p:cNvSpPr/>
              <p:nvPr/>
            </p:nvSpPr>
            <p:spPr>
              <a:xfrm>
                <a:off x="4849238" y="5137482"/>
                <a:ext cx="1089302" cy="995660"/>
              </a:xfrm>
              <a:prstGeom prst="roundRect">
                <a:avLst/>
              </a:prstGeom>
              <a:solidFill>
                <a:schemeClr val="bg1"/>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7" name="TextBox 56">
                <a:extLst>
                  <a:ext uri="{FF2B5EF4-FFF2-40B4-BE49-F238E27FC236}">
                    <a16:creationId xmlns:a16="http://schemas.microsoft.com/office/drawing/2014/main" id="{374A0DF8-EEB8-FDB6-554A-88A98DDA8BE5}"/>
                  </a:ext>
                </a:extLst>
              </p:cNvPr>
              <p:cNvSpPr txBox="1"/>
              <p:nvPr/>
            </p:nvSpPr>
            <p:spPr>
              <a:xfrm>
                <a:off x="5292143" y="5183058"/>
                <a:ext cx="791702" cy="338554"/>
              </a:xfrm>
              <a:prstGeom prst="rect">
                <a:avLst/>
              </a:prstGeom>
              <a:noFill/>
            </p:spPr>
            <p:txBody>
              <a:bodyPr wrap="square" rtlCol="0">
                <a:spAutoFit/>
              </a:bodyPr>
              <a:lstStyle/>
              <a:p>
                <a:r>
                  <a:rPr lang="en-ZA" sz="800" b="1" dirty="0">
                    <a:latin typeface="Vodafone Medium" panose="020B0603020202020204" pitchFamily="34" charset="0"/>
                    <a:cs typeface="Vodafone Medium" panose="020B0603020202020204" pitchFamily="34" charset="0"/>
                  </a:rPr>
                  <a:t>Tealium Tag (</a:t>
                </a:r>
                <a:r>
                  <a:rPr lang="en-ZA" sz="800" b="1" dirty="0" err="1">
                    <a:latin typeface="Vodafone Medium" panose="020B0603020202020204" pitchFamily="34" charset="0"/>
                    <a:cs typeface="Vodafone Medium" panose="020B0603020202020204" pitchFamily="34" charset="0"/>
                  </a:rPr>
                  <a:t>Javascript</a:t>
                </a:r>
                <a:r>
                  <a:rPr lang="en-ZA" sz="800" b="1" dirty="0">
                    <a:latin typeface="Vodafone Medium" panose="020B0603020202020204" pitchFamily="34" charset="0"/>
                    <a:cs typeface="Vodafone Medium" panose="020B0603020202020204" pitchFamily="34" charset="0"/>
                  </a:rPr>
                  <a:t>)</a:t>
                </a:r>
              </a:p>
            </p:txBody>
          </p:sp>
          <p:pic>
            <p:nvPicPr>
              <p:cNvPr id="59" name="Picture 58">
                <a:extLst>
                  <a:ext uri="{FF2B5EF4-FFF2-40B4-BE49-F238E27FC236}">
                    <a16:creationId xmlns:a16="http://schemas.microsoft.com/office/drawing/2014/main" id="{8C4D3516-8ECC-F077-320B-92AABB688CC8}"/>
                  </a:ext>
                </a:extLst>
              </p:cNvPr>
              <p:cNvPicPr>
                <a:picLocks noChangeAspect="1"/>
              </p:cNvPicPr>
              <p:nvPr/>
            </p:nvPicPr>
            <p:blipFill>
              <a:blip r:embed="rId6"/>
              <a:stretch>
                <a:fillRect/>
              </a:stretch>
            </p:blipFill>
            <p:spPr>
              <a:xfrm>
                <a:off x="4999378" y="5247697"/>
                <a:ext cx="355457" cy="321883"/>
              </a:xfrm>
              <a:prstGeom prst="rect">
                <a:avLst/>
              </a:prstGeom>
            </p:spPr>
          </p:pic>
          <p:sp>
            <p:nvSpPr>
              <p:cNvPr id="1037" name="TextBox 1036">
                <a:extLst>
                  <a:ext uri="{FF2B5EF4-FFF2-40B4-BE49-F238E27FC236}">
                    <a16:creationId xmlns:a16="http://schemas.microsoft.com/office/drawing/2014/main" id="{96AAE217-40B2-C635-6FFA-F8EDC264DAD7}"/>
                  </a:ext>
                </a:extLst>
              </p:cNvPr>
              <p:cNvSpPr txBox="1"/>
              <p:nvPr/>
            </p:nvSpPr>
            <p:spPr>
              <a:xfrm>
                <a:off x="4965670" y="5711093"/>
                <a:ext cx="839024" cy="276999"/>
              </a:xfrm>
              <a:prstGeom prst="rect">
                <a:avLst/>
              </a:prstGeom>
              <a:noFill/>
            </p:spPr>
            <p:txBody>
              <a:bodyPr wrap="square" rtlCol="0">
                <a:spAutoFit/>
              </a:bodyPr>
              <a:lstStyle/>
              <a:p>
                <a:r>
                  <a:rPr lang="en-ZA" sz="600" dirty="0">
                    <a:latin typeface="Vodafone Medium" panose="020B0603020202020204" pitchFamily="34" charset="0"/>
                    <a:cs typeface="Vodafone Medium" panose="020B0603020202020204" pitchFamily="34" charset="0"/>
                  </a:rPr>
                  <a:t>Sends events to </a:t>
                </a:r>
                <a:r>
                  <a:rPr lang="en-ZA" sz="600" dirty="0" err="1">
                    <a:latin typeface="Vodafone Medium" panose="020B0603020202020204" pitchFamily="34" charset="0"/>
                    <a:cs typeface="Vodafone Medium" panose="020B0603020202020204" pitchFamily="34" charset="0"/>
                  </a:rPr>
                  <a:t>Vodapay</a:t>
                </a:r>
                <a:r>
                  <a:rPr lang="en-ZA" sz="600" dirty="0">
                    <a:latin typeface="Vodafone Medium" panose="020B0603020202020204" pitchFamily="34" charset="0"/>
                    <a:cs typeface="Vodafone Medium" panose="020B0603020202020204" pitchFamily="34" charset="0"/>
                  </a:rPr>
                  <a:t> endpoint</a:t>
                </a:r>
              </a:p>
            </p:txBody>
          </p:sp>
        </p:grpSp>
        <p:grpSp>
          <p:nvGrpSpPr>
            <p:cNvPr id="56" name="Group 55">
              <a:extLst>
                <a:ext uri="{FF2B5EF4-FFF2-40B4-BE49-F238E27FC236}">
                  <a16:creationId xmlns:a16="http://schemas.microsoft.com/office/drawing/2014/main" id="{9BA8936D-4074-6B2A-AE9C-C153D37469C2}"/>
                </a:ext>
              </a:extLst>
            </p:cNvPr>
            <p:cNvGrpSpPr/>
            <p:nvPr/>
          </p:nvGrpSpPr>
          <p:grpSpPr>
            <a:xfrm>
              <a:off x="2654925" y="2520335"/>
              <a:ext cx="1120511" cy="1289869"/>
              <a:chOff x="3746552" y="3205709"/>
              <a:chExt cx="1203496" cy="1238827"/>
            </a:xfrm>
          </p:grpSpPr>
          <p:sp>
            <p:nvSpPr>
              <p:cNvPr id="39" name="Rectangle: Rounded Corners 38">
                <a:extLst>
                  <a:ext uri="{FF2B5EF4-FFF2-40B4-BE49-F238E27FC236}">
                    <a16:creationId xmlns:a16="http://schemas.microsoft.com/office/drawing/2014/main" id="{5AFE3D77-CDC7-26BC-76E2-269215A7FFBC}"/>
                  </a:ext>
                </a:extLst>
              </p:cNvPr>
              <p:cNvSpPr/>
              <p:nvPr/>
            </p:nvSpPr>
            <p:spPr>
              <a:xfrm>
                <a:off x="3746552" y="3205709"/>
                <a:ext cx="1203496" cy="1238827"/>
              </a:xfrm>
              <a:prstGeom prst="roundRect">
                <a:avLst/>
              </a:prstGeom>
              <a:solidFill>
                <a:schemeClr val="bg1"/>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900" dirty="0"/>
              </a:p>
            </p:txBody>
          </p:sp>
          <p:sp>
            <p:nvSpPr>
              <p:cNvPr id="46" name="TextBox 45">
                <a:extLst>
                  <a:ext uri="{FF2B5EF4-FFF2-40B4-BE49-F238E27FC236}">
                    <a16:creationId xmlns:a16="http://schemas.microsoft.com/office/drawing/2014/main" id="{51A3477F-9532-15F8-6161-8FC2CFF4A1A5}"/>
                  </a:ext>
                </a:extLst>
              </p:cNvPr>
              <p:cNvSpPr txBox="1"/>
              <p:nvPr/>
            </p:nvSpPr>
            <p:spPr>
              <a:xfrm>
                <a:off x="3792737" y="3234112"/>
                <a:ext cx="1086750" cy="177358"/>
              </a:xfrm>
              <a:prstGeom prst="rect">
                <a:avLst/>
              </a:prstGeom>
              <a:noFill/>
            </p:spPr>
            <p:txBody>
              <a:bodyPr wrap="none" rtlCol="0">
                <a:spAutoFit/>
              </a:bodyPr>
              <a:lstStyle/>
              <a:p>
                <a:r>
                  <a:rPr lang="en-ZA" sz="600" b="1" dirty="0">
                    <a:latin typeface="Vodafone Medium" panose="020B0603020202020204" pitchFamily="34" charset="0"/>
                    <a:cs typeface="Vodafone Medium" panose="020B0603020202020204" pitchFamily="34" charset="0"/>
                  </a:rPr>
                  <a:t>Client-Side Data Collection</a:t>
                </a:r>
              </a:p>
            </p:txBody>
          </p:sp>
          <p:sp>
            <p:nvSpPr>
              <p:cNvPr id="55" name="TextBox 54">
                <a:extLst>
                  <a:ext uri="{FF2B5EF4-FFF2-40B4-BE49-F238E27FC236}">
                    <a16:creationId xmlns:a16="http://schemas.microsoft.com/office/drawing/2014/main" id="{CFCB4160-FE03-10C4-9A5C-BB1BEA992105}"/>
                  </a:ext>
                </a:extLst>
              </p:cNvPr>
              <p:cNvSpPr txBox="1"/>
              <p:nvPr/>
            </p:nvSpPr>
            <p:spPr>
              <a:xfrm>
                <a:off x="3860106" y="3455839"/>
                <a:ext cx="1019381" cy="886791"/>
              </a:xfrm>
              <a:prstGeom prst="rect">
                <a:avLst/>
              </a:prstGeom>
              <a:noFill/>
            </p:spPr>
            <p:txBody>
              <a:bodyPr wrap="square" rtlCol="0">
                <a:spAutoFit/>
              </a:bodyPr>
              <a:lstStyle/>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Page Views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Clicks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Form Interactions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Journey Analytics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Custom Events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Device/Geo/User Data</a:t>
                </a:r>
              </a:p>
            </p:txBody>
          </p:sp>
        </p:grpSp>
      </p:grpSp>
      <p:cxnSp>
        <p:nvCxnSpPr>
          <p:cNvPr id="1044" name="Straight Arrow Connector 1043">
            <a:extLst>
              <a:ext uri="{FF2B5EF4-FFF2-40B4-BE49-F238E27FC236}">
                <a16:creationId xmlns:a16="http://schemas.microsoft.com/office/drawing/2014/main" id="{506FC360-DD1B-F4AF-7D94-72A296BE38F7}"/>
              </a:ext>
            </a:extLst>
          </p:cNvPr>
          <p:cNvCxnSpPr>
            <a:cxnSpLocks/>
            <a:stCxn id="1024" idx="3"/>
            <a:endCxn id="39" idx="1"/>
          </p:cNvCxnSpPr>
          <p:nvPr/>
        </p:nvCxnSpPr>
        <p:spPr>
          <a:xfrm>
            <a:off x="1334489" y="3019182"/>
            <a:ext cx="325913" cy="457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45" name="Straight Arrow Connector 1044">
            <a:extLst>
              <a:ext uri="{FF2B5EF4-FFF2-40B4-BE49-F238E27FC236}">
                <a16:creationId xmlns:a16="http://schemas.microsoft.com/office/drawing/2014/main" id="{4FDC6216-7190-7B3A-60F4-8EC8D44C9373}"/>
              </a:ext>
            </a:extLst>
          </p:cNvPr>
          <p:cNvCxnSpPr>
            <a:cxnSpLocks/>
            <a:stCxn id="1027" idx="3"/>
            <a:endCxn id="40" idx="1"/>
          </p:cNvCxnSpPr>
          <p:nvPr/>
        </p:nvCxnSpPr>
        <p:spPr>
          <a:xfrm>
            <a:off x="1289734" y="4228342"/>
            <a:ext cx="401878" cy="192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E0A73E8A-DAD6-C707-9CAA-B5A4D979BC0B}"/>
              </a:ext>
            </a:extLst>
          </p:cNvPr>
          <p:cNvGrpSpPr/>
          <p:nvPr/>
        </p:nvGrpSpPr>
        <p:grpSpPr>
          <a:xfrm>
            <a:off x="4632963" y="957942"/>
            <a:ext cx="1371600" cy="3907971"/>
            <a:chOff x="4721482" y="957943"/>
            <a:chExt cx="1371600" cy="3907971"/>
          </a:xfrm>
        </p:grpSpPr>
        <p:sp>
          <p:nvSpPr>
            <p:cNvPr id="1047" name="Rectangle: Rounded Corners 1046">
              <a:extLst>
                <a:ext uri="{FF2B5EF4-FFF2-40B4-BE49-F238E27FC236}">
                  <a16:creationId xmlns:a16="http://schemas.microsoft.com/office/drawing/2014/main" id="{418CB0EB-EC01-9D8F-7EA4-7671BA250401}"/>
                </a:ext>
              </a:extLst>
            </p:cNvPr>
            <p:cNvSpPr/>
            <p:nvPr/>
          </p:nvSpPr>
          <p:spPr>
            <a:xfrm>
              <a:off x="4786267" y="957943"/>
              <a:ext cx="1202400" cy="3907971"/>
            </a:xfrm>
            <a:prstGeom prst="roundRect">
              <a:avLst/>
            </a:prstGeom>
            <a:solidFill>
              <a:schemeClr val="accent2">
                <a:lumMod val="40000"/>
                <a:lumOff val="60000"/>
                <a:alpha val="32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2050" name="Picture 2">
              <a:extLst>
                <a:ext uri="{FF2B5EF4-FFF2-40B4-BE49-F238E27FC236}">
                  <a16:creationId xmlns:a16="http://schemas.microsoft.com/office/drawing/2014/main" id="{DE4B5C3B-7D50-09F6-CAC0-6CA23BD706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9978" y="4485924"/>
              <a:ext cx="355785" cy="213100"/>
            </a:xfrm>
            <a:prstGeom prst="rect">
              <a:avLst/>
            </a:prstGeom>
            <a:noFill/>
            <a:extLst>
              <a:ext uri="{909E8E84-426E-40DD-AFC4-6F175D3DCCD1}">
                <a14:hiddenFill xmlns:a14="http://schemas.microsoft.com/office/drawing/2010/main">
                  <a:solidFill>
                    <a:srgbClr val="FFFFFF"/>
                  </a:solidFill>
                </a14:hiddenFill>
              </a:ext>
            </a:extLst>
          </p:spPr>
        </p:pic>
        <p:sp>
          <p:nvSpPr>
            <p:cNvPr id="1048" name="TextBox 1047">
              <a:extLst>
                <a:ext uri="{FF2B5EF4-FFF2-40B4-BE49-F238E27FC236}">
                  <a16:creationId xmlns:a16="http://schemas.microsoft.com/office/drawing/2014/main" id="{5F59C620-C5B3-6E32-1D6C-F00F4D3F15A2}"/>
                </a:ext>
              </a:extLst>
            </p:cNvPr>
            <p:cNvSpPr txBox="1"/>
            <p:nvPr/>
          </p:nvSpPr>
          <p:spPr>
            <a:xfrm>
              <a:off x="4809328" y="1018235"/>
              <a:ext cx="1047644" cy="400110"/>
            </a:xfrm>
            <a:prstGeom prst="rect">
              <a:avLst/>
            </a:prstGeom>
            <a:noFill/>
          </p:spPr>
          <p:txBody>
            <a:bodyPr wrap="square" rtlCol="0">
              <a:spAutoFit/>
            </a:bodyPr>
            <a:lstStyle/>
            <a:p>
              <a:r>
                <a:rPr lang="en-ZA" sz="1000" b="1" dirty="0">
                  <a:solidFill>
                    <a:schemeClr val="tx2">
                      <a:lumMod val="50000"/>
                      <a:lumOff val="50000"/>
                    </a:schemeClr>
                  </a:solidFill>
                  <a:latin typeface="Vodafone Medium" panose="020B0603020202020204" pitchFamily="34" charset="0"/>
                  <a:cs typeface="Vodafone Medium" panose="020B0603020202020204" pitchFamily="34" charset="0"/>
                </a:rPr>
                <a:t>4. AWS Ingestion Pipeline</a:t>
              </a:r>
            </a:p>
          </p:txBody>
        </p:sp>
        <p:grpSp>
          <p:nvGrpSpPr>
            <p:cNvPr id="22" name="Group 21">
              <a:extLst>
                <a:ext uri="{FF2B5EF4-FFF2-40B4-BE49-F238E27FC236}">
                  <a16:creationId xmlns:a16="http://schemas.microsoft.com/office/drawing/2014/main" id="{26CE5A41-49F9-D77E-D3DA-25E6F01D9E2C}"/>
                </a:ext>
              </a:extLst>
            </p:cNvPr>
            <p:cNvGrpSpPr/>
            <p:nvPr/>
          </p:nvGrpSpPr>
          <p:grpSpPr>
            <a:xfrm>
              <a:off x="4721482" y="1725859"/>
              <a:ext cx="1371600" cy="2354687"/>
              <a:chOff x="6378481" y="2071905"/>
              <a:chExt cx="1371600" cy="2354687"/>
            </a:xfrm>
          </p:grpSpPr>
          <p:sp>
            <p:nvSpPr>
              <p:cNvPr id="1051" name="Rectangle: Rounded Corners 1050">
                <a:extLst>
                  <a:ext uri="{FF2B5EF4-FFF2-40B4-BE49-F238E27FC236}">
                    <a16:creationId xmlns:a16="http://schemas.microsoft.com/office/drawing/2014/main" id="{5850A5CB-349E-A5AB-D291-66F0C9C23DFB}"/>
                  </a:ext>
                </a:extLst>
              </p:cNvPr>
              <p:cNvSpPr/>
              <p:nvPr/>
            </p:nvSpPr>
            <p:spPr>
              <a:xfrm>
                <a:off x="6432046" y="2071905"/>
                <a:ext cx="1202400" cy="2354687"/>
              </a:xfrm>
              <a:prstGeom prst="roundRect">
                <a:avLst/>
              </a:prstGeom>
              <a:solidFill>
                <a:schemeClr val="bg1"/>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53" name="TextBox 1052">
                <a:extLst>
                  <a:ext uri="{FF2B5EF4-FFF2-40B4-BE49-F238E27FC236}">
                    <a16:creationId xmlns:a16="http://schemas.microsoft.com/office/drawing/2014/main" id="{B89CB7B0-2B44-20D6-D60E-F1EB3A1C37E4}"/>
                  </a:ext>
                </a:extLst>
              </p:cNvPr>
              <p:cNvSpPr txBox="1"/>
              <p:nvPr/>
            </p:nvSpPr>
            <p:spPr>
              <a:xfrm>
                <a:off x="6457932" y="2130308"/>
                <a:ext cx="1159292" cy="230832"/>
              </a:xfrm>
              <a:prstGeom prst="rect">
                <a:avLst/>
              </a:prstGeom>
              <a:noFill/>
            </p:spPr>
            <p:txBody>
              <a:bodyPr wrap="none" rtlCol="0">
                <a:spAutoFit/>
              </a:bodyPr>
              <a:lstStyle/>
              <a:p>
                <a:r>
                  <a:rPr lang="en-ZA" sz="900" b="1" dirty="0">
                    <a:latin typeface="Vodafone Medium" panose="020B0603020202020204" pitchFamily="34" charset="0"/>
                    <a:cs typeface="Vodafone Medium" panose="020B0603020202020204" pitchFamily="34" charset="0"/>
                  </a:rPr>
                  <a:t>Kinesis Data Firehose</a:t>
                </a:r>
              </a:p>
            </p:txBody>
          </p:sp>
          <p:pic>
            <p:nvPicPr>
              <p:cNvPr id="2054" name="Picture 6">
                <a:extLst>
                  <a:ext uri="{FF2B5EF4-FFF2-40B4-BE49-F238E27FC236}">
                    <a16:creationId xmlns:a16="http://schemas.microsoft.com/office/drawing/2014/main" id="{278E9E74-9F6A-D01A-ADBA-F9CA7843FB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7683" y="2405952"/>
                <a:ext cx="666484" cy="666484"/>
              </a:xfrm>
              <a:prstGeom prst="rect">
                <a:avLst/>
              </a:prstGeom>
              <a:noFill/>
              <a:extLst>
                <a:ext uri="{909E8E84-426E-40DD-AFC4-6F175D3DCCD1}">
                  <a14:hiddenFill xmlns:a14="http://schemas.microsoft.com/office/drawing/2010/main">
                    <a:solidFill>
                      <a:srgbClr val="FFFFFF"/>
                    </a:solidFill>
                  </a14:hiddenFill>
                </a:ext>
              </a:extLst>
            </p:spPr>
          </p:pic>
          <p:sp>
            <p:nvSpPr>
              <p:cNvPr id="1055" name="TextBox 1054">
                <a:extLst>
                  <a:ext uri="{FF2B5EF4-FFF2-40B4-BE49-F238E27FC236}">
                    <a16:creationId xmlns:a16="http://schemas.microsoft.com/office/drawing/2014/main" id="{25DB2D75-516E-3C72-E956-27FA34A72737}"/>
                  </a:ext>
                </a:extLst>
              </p:cNvPr>
              <p:cNvSpPr txBox="1"/>
              <p:nvPr/>
            </p:nvSpPr>
            <p:spPr>
              <a:xfrm>
                <a:off x="6378481" y="3344566"/>
                <a:ext cx="1371600" cy="369332"/>
              </a:xfrm>
              <a:prstGeom prst="rect">
                <a:avLst/>
              </a:prstGeom>
              <a:noFill/>
            </p:spPr>
            <p:txBody>
              <a:bodyPr wrap="square" rtlCol="0">
                <a:spAutoFit/>
              </a:bodyPr>
              <a:lstStyle/>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Reads from Kinesis Stream</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Buffers &amp; batches events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Delivers to S3</a:t>
                </a:r>
              </a:p>
            </p:txBody>
          </p:sp>
        </p:grpSp>
      </p:grpSp>
      <p:cxnSp>
        <p:nvCxnSpPr>
          <p:cNvPr id="1056" name="Straight Arrow Connector 1055">
            <a:extLst>
              <a:ext uri="{FF2B5EF4-FFF2-40B4-BE49-F238E27FC236}">
                <a16:creationId xmlns:a16="http://schemas.microsoft.com/office/drawing/2014/main" id="{4B7B4AA3-267F-F5E4-22F4-6520D016811C}"/>
              </a:ext>
            </a:extLst>
          </p:cNvPr>
          <p:cNvCxnSpPr>
            <a:cxnSpLocks/>
            <a:stCxn id="55" idx="3"/>
          </p:cNvCxnSpPr>
          <p:nvPr/>
        </p:nvCxnSpPr>
        <p:spPr>
          <a:xfrm>
            <a:off x="2715217" y="3100921"/>
            <a:ext cx="471335"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187CA494-9074-5A59-DC70-A1CCDB70B0D6}"/>
              </a:ext>
            </a:extLst>
          </p:cNvPr>
          <p:cNvGrpSpPr/>
          <p:nvPr/>
        </p:nvGrpSpPr>
        <p:grpSpPr>
          <a:xfrm>
            <a:off x="10799627" y="957943"/>
            <a:ext cx="1624375" cy="3907971"/>
            <a:chOff x="10061621" y="957943"/>
            <a:chExt cx="1624375" cy="3907971"/>
          </a:xfrm>
        </p:grpSpPr>
        <p:sp>
          <p:nvSpPr>
            <p:cNvPr id="1077" name="Rectangle: Rounded Corners 1076">
              <a:extLst>
                <a:ext uri="{FF2B5EF4-FFF2-40B4-BE49-F238E27FC236}">
                  <a16:creationId xmlns:a16="http://schemas.microsoft.com/office/drawing/2014/main" id="{8E151E79-CC80-410F-2579-91CC436E78D6}"/>
                </a:ext>
              </a:extLst>
            </p:cNvPr>
            <p:cNvSpPr/>
            <p:nvPr/>
          </p:nvSpPr>
          <p:spPr>
            <a:xfrm>
              <a:off x="10176490" y="957943"/>
              <a:ext cx="1202400" cy="3907971"/>
            </a:xfrm>
            <a:prstGeom prst="roundRect">
              <a:avLst/>
            </a:prstGeom>
            <a:solidFill>
              <a:schemeClr val="accent5">
                <a:lumMod val="20000"/>
                <a:lumOff val="80000"/>
                <a:alpha val="32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79" name="TextBox 1078">
              <a:extLst>
                <a:ext uri="{FF2B5EF4-FFF2-40B4-BE49-F238E27FC236}">
                  <a16:creationId xmlns:a16="http://schemas.microsoft.com/office/drawing/2014/main" id="{DB1F708A-AFA8-DD7F-C983-D3E8CDABAD6E}"/>
                </a:ext>
              </a:extLst>
            </p:cNvPr>
            <p:cNvSpPr txBox="1"/>
            <p:nvPr/>
          </p:nvSpPr>
          <p:spPr>
            <a:xfrm>
              <a:off x="10061621" y="1050817"/>
              <a:ext cx="1465245" cy="230832"/>
            </a:xfrm>
            <a:prstGeom prst="rect">
              <a:avLst/>
            </a:prstGeom>
            <a:noFill/>
          </p:spPr>
          <p:txBody>
            <a:bodyPr wrap="square" rtlCol="0">
              <a:spAutoFit/>
            </a:bodyPr>
            <a:lstStyle/>
            <a:p>
              <a:pPr algn="ctr"/>
              <a:r>
                <a:rPr lang="en-ZA" sz="900" b="1" dirty="0">
                  <a:solidFill>
                    <a:schemeClr val="accent5">
                      <a:lumMod val="60000"/>
                      <a:lumOff val="40000"/>
                    </a:schemeClr>
                  </a:solidFill>
                  <a:latin typeface="Vodafone Medium" panose="020B0603020202020204" pitchFamily="34" charset="0"/>
                  <a:cs typeface="Vodafone Medium" panose="020B0603020202020204" pitchFamily="34" charset="0"/>
                </a:rPr>
                <a:t>7. Processing &amp; Analytics</a:t>
              </a:r>
            </a:p>
          </p:txBody>
        </p:sp>
        <p:sp>
          <p:nvSpPr>
            <p:cNvPr id="1084" name="Rectangle: Rounded Corners 1083">
              <a:extLst>
                <a:ext uri="{FF2B5EF4-FFF2-40B4-BE49-F238E27FC236}">
                  <a16:creationId xmlns:a16="http://schemas.microsoft.com/office/drawing/2014/main" id="{DFB28096-E28E-7A07-155A-F8CE0B5EF104}"/>
                </a:ext>
              </a:extLst>
            </p:cNvPr>
            <p:cNvSpPr/>
            <p:nvPr/>
          </p:nvSpPr>
          <p:spPr>
            <a:xfrm>
              <a:off x="10221439" y="1466652"/>
              <a:ext cx="1077402" cy="1696157"/>
            </a:xfrm>
            <a:prstGeom prst="roundRect">
              <a:avLst/>
            </a:prstGeom>
            <a:solidFill>
              <a:schemeClr val="bg1"/>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85" name="Rectangle: Rounded Corners 1084">
              <a:extLst>
                <a:ext uri="{FF2B5EF4-FFF2-40B4-BE49-F238E27FC236}">
                  <a16:creationId xmlns:a16="http://schemas.microsoft.com/office/drawing/2014/main" id="{65339AAC-F99F-E03F-685C-4BEFAF473FDC}"/>
                </a:ext>
              </a:extLst>
            </p:cNvPr>
            <p:cNvSpPr/>
            <p:nvPr/>
          </p:nvSpPr>
          <p:spPr>
            <a:xfrm>
              <a:off x="10221438" y="3210163"/>
              <a:ext cx="1077403" cy="1608397"/>
            </a:xfrm>
            <a:prstGeom prst="roundRect">
              <a:avLst/>
            </a:prstGeom>
            <a:solidFill>
              <a:schemeClr val="bg1"/>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86" name="TextBox 1085">
              <a:extLst>
                <a:ext uri="{FF2B5EF4-FFF2-40B4-BE49-F238E27FC236}">
                  <a16:creationId xmlns:a16="http://schemas.microsoft.com/office/drawing/2014/main" id="{A8F88806-E6EA-9C95-EBF2-8F42F55D8E35}"/>
                </a:ext>
              </a:extLst>
            </p:cNvPr>
            <p:cNvSpPr txBox="1"/>
            <p:nvPr/>
          </p:nvSpPr>
          <p:spPr>
            <a:xfrm>
              <a:off x="10105975" y="1515016"/>
              <a:ext cx="1284039" cy="369332"/>
            </a:xfrm>
            <a:prstGeom prst="rect">
              <a:avLst/>
            </a:prstGeom>
            <a:noFill/>
          </p:spPr>
          <p:txBody>
            <a:bodyPr wrap="square" rtlCol="0">
              <a:spAutoFit/>
            </a:bodyPr>
            <a:lstStyle/>
            <a:p>
              <a:pPr algn="ctr"/>
              <a:r>
                <a:rPr lang="en-ZA" sz="900" b="1" dirty="0">
                  <a:latin typeface="Vodafone Medium" panose="020B0603020202020204" pitchFamily="34" charset="0"/>
                  <a:cs typeface="Vodafone Medium" panose="020B0603020202020204" pitchFamily="34" charset="0"/>
                </a:rPr>
                <a:t>Data Processing (Optional / Future)</a:t>
              </a:r>
            </a:p>
          </p:txBody>
        </p:sp>
        <p:pic>
          <p:nvPicPr>
            <p:cNvPr id="2060" name="Picture 12">
              <a:extLst>
                <a:ext uri="{FF2B5EF4-FFF2-40B4-BE49-F238E27FC236}">
                  <a16:creationId xmlns:a16="http://schemas.microsoft.com/office/drawing/2014/main" id="{226AD74D-467C-2805-E3C8-0C623790B9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58888" y="1915799"/>
              <a:ext cx="369332" cy="369332"/>
            </a:xfrm>
            <a:prstGeom prst="rect">
              <a:avLst/>
            </a:prstGeom>
            <a:noFill/>
            <a:extLst>
              <a:ext uri="{909E8E84-426E-40DD-AFC4-6F175D3DCCD1}">
                <a14:hiddenFill xmlns:a14="http://schemas.microsoft.com/office/drawing/2010/main">
                  <a:solidFill>
                    <a:srgbClr val="FFFFFF"/>
                  </a:solidFill>
                </a14:hiddenFill>
              </a:ext>
            </a:extLst>
          </p:spPr>
        </p:pic>
        <p:sp>
          <p:nvSpPr>
            <p:cNvPr id="1087" name="TextBox 1086">
              <a:extLst>
                <a:ext uri="{FF2B5EF4-FFF2-40B4-BE49-F238E27FC236}">
                  <a16:creationId xmlns:a16="http://schemas.microsoft.com/office/drawing/2014/main" id="{999F0CB7-51BA-BC34-620D-8CA1D2268705}"/>
                </a:ext>
              </a:extLst>
            </p:cNvPr>
            <p:cNvSpPr txBox="1"/>
            <p:nvPr/>
          </p:nvSpPr>
          <p:spPr>
            <a:xfrm>
              <a:off x="10763253" y="1909710"/>
              <a:ext cx="511300" cy="323165"/>
            </a:xfrm>
            <a:prstGeom prst="rect">
              <a:avLst/>
            </a:prstGeom>
            <a:noFill/>
          </p:spPr>
          <p:txBody>
            <a:bodyPr wrap="square" rtlCol="0">
              <a:spAutoFit/>
            </a:bodyPr>
            <a:lstStyle/>
            <a:p>
              <a:r>
                <a:rPr lang="en-ZA" sz="500" dirty="0">
                  <a:latin typeface="Vodafone Medium" panose="020B0603020202020204" pitchFamily="34" charset="0"/>
                  <a:cs typeface="Vodafone Medium" panose="020B0603020202020204" pitchFamily="34" charset="0"/>
                </a:rPr>
                <a:t>AWS Glue / ETL Data Pipeline</a:t>
              </a:r>
            </a:p>
          </p:txBody>
        </p:sp>
        <p:sp>
          <p:nvSpPr>
            <p:cNvPr id="2048" name="TextBox 2047">
              <a:extLst>
                <a:ext uri="{FF2B5EF4-FFF2-40B4-BE49-F238E27FC236}">
                  <a16:creationId xmlns:a16="http://schemas.microsoft.com/office/drawing/2014/main" id="{BCC3D1EF-3166-A23C-6C3A-36D57BA516D2}"/>
                </a:ext>
              </a:extLst>
            </p:cNvPr>
            <p:cNvSpPr txBox="1"/>
            <p:nvPr/>
          </p:nvSpPr>
          <p:spPr>
            <a:xfrm>
              <a:off x="10314396" y="2410151"/>
              <a:ext cx="1371600" cy="369332"/>
            </a:xfrm>
            <a:prstGeom prst="rect">
              <a:avLst/>
            </a:prstGeom>
            <a:noFill/>
          </p:spPr>
          <p:txBody>
            <a:bodyPr wrap="square" rtlCol="0">
              <a:spAutoFit/>
            </a:bodyPr>
            <a:lstStyle/>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Validate</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Transform</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Enrich</a:t>
              </a:r>
            </a:p>
          </p:txBody>
        </p:sp>
        <p:sp>
          <p:nvSpPr>
            <p:cNvPr id="2049" name="TextBox 2048">
              <a:extLst>
                <a:ext uri="{FF2B5EF4-FFF2-40B4-BE49-F238E27FC236}">
                  <a16:creationId xmlns:a16="http://schemas.microsoft.com/office/drawing/2014/main" id="{7D7A4FB6-BA9D-9FC3-74AA-8E9AE36D8CF2}"/>
                </a:ext>
              </a:extLst>
            </p:cNvPr>
            <p:cNvSpPr txBox="1"/>
            <p:nvPr/>
          </p:nvSpPr>
          <p:spPr>
            <a:xfrm>
              <a:off x="10066903" y="3268194"/>
              <a:ext cx="1398758" cy="215444"/>
            </a:xfrm>
            <a:prstGeom prst="rect">
              <a:avLst/>
            </a:prstGeom>
            <a:noFill/>
          </p:spPr>
          <p:txBody>
            <a:bodyPr wrap="square" rtlCol="0">
              <a:spAutoFit/>
            </a:bodyPr>
            <a:lstStyle/>
            <a:p>
              <a:pPr algn="ctr"/>
              <a:r>
                <a:rPr lang="en-ZA" sz="800" b="1" dirty="0">
                  <a:latin typeface="Vodafone Medium" panose="020B0603020202020204" pitchFamily="34" charset="0"/>
                  <a:cs typeface="Vodafone Medium" panose="020B0603020202020204" pitchFamily="34" charset="0"/>
                </a:rPr>
                <a:t>Analytics &amp; Visualization</a:t>
              </a:r>
            </a:p>
          </p:txBody>
        </p:sp>
        <p:pic>
          <p:nvPicPr>
            <p:cNvPr id="2064" name="Picture 16">
              <a:extLst>
                <a:ext uri="{FF2B5EF4-FFF2-40B4-BE49-F238E27FC236}">
                  <a16:creationId xmlns:a16="http://schemas.microsoft.com/office/drawing/2014/main" id="{3AB7504F-A376-AE89-772D-90812E9CC6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14396" y="3533088"/>
              <a:ext cx="244929" cy="244929"/>
            </a:xfrm>
            <a:prstGeom prst="rect">
              <a:avLst/>
            </a:prstGeom>
            <a:noFill/>
            <a:extLst>
              <a:ext uri="{909E8E84-426E-40DD-AFC4-6F175D3DCCD1}">
                <a14:hiddenFill xmlns:a14="http://schemas.microsoft.com/office/drawing/2010/main">
                  <a:solidFill>
                    <a:srgbClr val="FFFFFF"/>
                  </a:solidFill>
                </a14:hiddenFill>
              </a:ext>
            </a:extLst>
          </p:spPr>
        </p:pic>
        <p:sp>
          <p:nvSpPr>
            <p:cNvPr id="2051" name="TextBox 2050">
              <a:extLst>
                <a:ext uri="{FF2B5EF4-FFF2-40B4-BE49-F238E27FC236}">
                  <a16:creationId xmlns:a16="http://schemas.microsoft.com/office/drawing/2014/main" id="{D61BC44E-D2C6-63CC-7259-72647A77CF33}"/>
                </a:ext>
              </a:extLst>
            </p:cNvPr>
            <p:cNvSpPr txBox="1"/>
            <p:nvPr/>
          </p:nvSpPr>
          <p:spPr>
            <a:xfrm>
              <a:off x="10588390" y="3540136"/>
              <a:ext cx="676788" cy="184666"/>
            </a:xfrm>
            <a:prstGeom prst="rect">
              <a:avLst/>
            </a:prstGeom>
            <a:noFill/>
          </p:spPr>
          <p:txBody>
            <a:bodyPr wrap="none" rtlCol="0">
              <a:spAutoFit/>
            </a:bodyPr>
            <a:lstStyle/>
            <a:p>
              <a:r>
                <a:rPr lang="en-ZA" sz="600" dirty="0">
                  <a:latin typeface="Vodafone Medium" panose="020B0603020202020204" pitchFamily="34" charset="0"/>
                  <a:cs typeface="Vodafone Medium" panose="020B0603020202020204" pitchFamily="34" charset="0"/>
                </a:rPr>
                <a:t>Amazon Athena</a:t>
              </a:r>
            </a:p>
          </p:txBody>
        </p:sp>
        <p:pic>
          <p:nvPicPr>
            <p:cNvPr id="2068" name="Picture 20">
              <a:extLst>
                <a:ext uri="{FF2B5EF4-FFF2-40B4-BE49-F238E27FC236}">
                  <a16:creationId xmlns:a16="http://schemas.microsoft.com/office/drawing/2014/main" id="{D06A62D1-FEE4-E095-FC67-84466702BB4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36168" y="3866389"/>
              <a:ext cx="201405" cy="201405"/>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D138F5B0-D9A6-8F54-B706-1386811A5A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36169" y="4167216"/>
              <a:ext cx="227510" cy="244929"/>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a:extLst>
                <a:ext uri="{FF2B5EF4-FFF2-40B4-BE49-F238E27FC236}">
                  <a16:creationId xmlns:a16="http://schemas.microsoft.com/office/drawing/2014/main" id="{6DDBCB36-B07D-ED4C-2135-47DC05BE0E6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49221" y="4511567"/>
              <a:ext cx="201405" cy="201405"/>
            </a:xfrm>
            <a:prstGeom prst="rect">
              <a:avLst/>
            </a:prstGeom>
            <a:noFill/>
            <a:extLst>
              <a:ext uri="{909E8E84-426E-40DD-AFC4-6F175D3DCCD1}">
                <a14:hiddenFill xmlns:a14="http://schemas.microsoft.com/office/drawing/2010/main">
                  <a:solidFill>
                    <a:srgbClr val="FFFFFF"/>
                  </a:solidFill>
                </a14:hiddenFill>
              </a:ext>
            </a:extLst>
          </p:spPr>
        </p:pic>
        <p:sp>
          <p:nvSpPr>
            <p:cNvPr id="2055" name="TextBox 2054">
              <a:extLst>
                <a:ext uri="{FF2B5EF4-FFF2-40B4-BE49-F238E27FC236}">
                  <a16:creationId xmlns:a16="http://schemas.microsoft.com/office/drawing/2014/main" id="{D956E79D-F308-2009-7362-D5F1B52616F5}"/>
                </a:ext>
              </a:extLst>
            </p:cNvPr>
            <p:cNvSpPr txBox="1"/>
            <p:nvPr/>
          </p:nvSpPr>
          <p:spPr>
            <a:xfrm>
              <a:off x="10588390" y="3862876"/>
              <a:ext cx="821059" cy="184666"/>
            </a:xfrm>
            <a:prstGeom prst="rect">
              <a:avLst/>
            </a:prstGeom>
            <a:noFill/>
          </p:spPr>
          <p:txBody>
            <a:bodyPr wrap="none" rtlCol="0">
              <a:spAutoFit/>
            </a:bodyPr>
            <a:lstStyle/>
            <a:p>
              <a:r>
                <a:rPr lang="en-ZA" sz="600" dirty="0">
                  <a:latin typeface="Vodafone Medium" panose="020B0603020202020204" pitchFamily="34" charset="0"/>
                  <a:cs typeface="Vodafone Medium" panose="020B0603020202020204" pitchFamily="34" charset="0"/>
                </a:rPr>
                <a:t>Amazon </a:t>
              </a:r>
              <a:r>
                <a:rPr lang="en-ZA" sz="600" dirty="0" err="1">
                  <a:latin typeface="Vodafone Medium" panose="020B0603020202020204" pitchFamily="34" charset="0"/>
                  <a:cs typeface="Vodafone Medium" panose="020B0603020202020204" pitchFamily="34" charset="0"/>
                </a:rPr>
                <a:t>QuickSights</a:t>
              </a:r>
              <a:endParaRPr lang="en-ZA" sz="600" dirty="0">
                <a:latin typeface="Vodafone Medium" panose="020B0603020202020204" pitchFamily="34" charset="0"/>
                <a:cs typeface="Vodafone Medium" panose="020B0603020202020204" pitchFamily="34" charset="0"/>
              </a:endParaRPr>
            </a:p>
          </p:txBody>
        </p:sp>
        <p:sp>
          <p:nvSpPr>
            <p:cNvPr id="2057" name="TextBox 2056">
              <a:extLst>
                <a:ext uri="{FF2B5EF4-FFF2-40B4-BE49-F238E27FC236}">
                  <a16:creationId xmlns:a16="http://schemas.microsoft.com/office/drawing/2014/main" id="{04D6F754-A861-DF72-707C-0FBFDEA4644C}"/>
                </a:ext>
              </a:extLst>
            </p:cNvPr>
            <p:cNvSpPr txBox="1"/>
            <p:nvPr/>
          </p:nvSpPr>
          <p:spPr>
            <a:xfrm>
              <a:off x="10588390" y="4185616"/>
              <a:ext cx="710451" cy="184666"/>
            </a:xfrm>
            <a:prstGeom prst="rect">
              <a:avLst/>
            </a:prstGeom>
            <a:noFill/>
          </p:spPr>
          <p:txBody>
            <a:bodyPr wrap="none" rtlCol="0">
              <a:spAutoFit/>
            </a:bodyPr>
            <a:lstStyle/>
            <a:p>
              <a:r>
                <a:rPr lang="en-ZA" sz="600" dirty="0">
                  <a:latin typeface="Vodafone Medium" panose="020B0603020202020204" pitchFamily="34" charset="0"/>
                  <a:cs typeface="Vodafone Medium" panose="020B0603020202020204" pitchFamily="34" charset="0"/>
                </a:rPr>
                <a:t>Amazon Redshift</a:t>
              </a:r>
            </a:p>
          </p:txBody>
        </p:sp>
        <p:sp>
          <p:nvSpPr>
            <p:cNvPr id="2059" name="TextBox 2058">
              <a:extLst>
                <a:ext uri="{FF2B5EF4-FFF2-40B4-BE49-F238E27FC236}">
                  <a16:creationId xmlns:a16="http://schemas.microsoft.com/office/drawing/2014/main" id="{1BE962BA-AC5C-4A18-61BF-9511C9EF3B47}"/>
                </a:ext>
              </a:extLst>
            </p:cNvPr>
            <p:cNvSpPr txBox="1"/>
            <p:nvPr/>
          </p:nvSpPr>
          <p:spPr>
            <a:xfrm>
              <a:off x="10588390" y="4508355"/>
              <a:ext cx="434734" cy="184666"/>
            </a:xfrm>
            <a:prstGeom prst="rect">
              <a:avLst/>
            </a:prstGeom>
            <a:noFill/>
          </p:spPr>
          <p:txBody>
            <a:bodyPr wrap="none" rtlCol="0">
              <a:spAutoFit/>
            </a:bodyPr>
            <a:lstStyle/>
            <a:p>
              <a:r>
                <a:rPr lang="en-ZA" sz="600" dirty="0" err="1">
                  <a:latin typeface="Vodafone Medium" panose="020B0603020202020204" pitchFamily="34" charset="0"/>
                  <a:cs typeface="Vodafone Medium" panose="020B0603020202020204" pitchFamily="34" charset="0"/>
                </a:rPr>
                <a:t>PowerBI</a:t>
              </a:r>
              <a:endParaRPr lang="en-ZA" sz="600" dirty="0">
                <a:latin typeface="Vodafone Medium" panose="020B0603020202020204" pitchFamily="34" charset="0"/>
                <a:cs typeface="Vodafone Medium" panose="020B0603020202020204" pitchFamily="34" charset="0"/>
              </a:endParaRPr>
            </a:p>
          </p:txBody>
        </p:sp>
      </p:grpSp>
      <p:sp>
        <p:nvSpPr>
          <p:cNvPr id="2061" name="Rectangle: Rounded Corners 2060">
            <a:extLst>
              <a:ext uri="{FF2B5EF4-FFF2-40B4-BE49-F238E27FC236}">
                <a16:creationId xmlns:a16="http://schemas.microsoft.com/office/drawing/2014/main" id="{CACDBA6A-4B15-435A-D716-7842E4F60F2A}"/>
              </a:ext>
            </a:extLst>
          </p:cNvPr>
          <p:cNvSpPr/>
          <p:nvPr/>
        </p:nvSpPr>
        <p:spPr>
          <a:xfrm>
            <a:off x="106044" y="5054081"/>
            <a:ext cx="5218614" cy="1727717"/>
          </a:xfrm>
          <a:prstGeom prst="roundRect">
            <a:avLst/>
          </a:prstGeom>
          <a:noFill/>
          <a:ln>
            <a:solidFill>
              <a:schemeClr val="tx2">
                <a:lumMod val="25000"/>
                <a:lumOff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065" name="TextBox 2064">
            <a:extLst>
              <a:ext uri="{FF2B5EF4-FFF2-40B4-BE49-F238E27FC236}">
                <a16:creationId xmlns:a16="http://schemas.microsoft.com/office/drawing/2014/main" id="{E935069E-D814-6756-6EE9-8BB811F86D3F}"/>
              </a:ext>
            </a:extLst>
          </p:cNvPr>
          <p:cNvSpPr txBox="1"/>
          <p:nvPr/>
        </p:nvSpPr>
        <p:spPr>
          <a:xfrm>
            <a:off x="609024" y="5082704"/>
            <a:ext cx="1200970" cy="246221"/>
          </a:xfrm>
          <a:prstGeom prst="rect">
            <a:avLst/>
          </a:prstGeom>
          <a:noFill/>
        </p:spPr>
        <p:txBody>
          <a:bodyPr wrap="none" rtlCol="0">
            <a:spAutoFit/>
          </a:bodyPr>
          <a:lstStyle/>
          <a:p>
            <a:r>
              <a:rPr lang="en-ZA" sz="1000" b="1" dirty="0">
                <a:solidFill>
                  <a:schemeClr val="tx2">
                    <a:lumMod val="50000"/>
                    <a:lumOff val="50000"/>
                  </a:schemeClr>
                </a:solidFill>
                <a:latin typeface="Vodafone Medium" panose="020B0603020202020204" pitchFamily="34" charset="0"/>
                <a:cs typeface="Vodafone Medium" panose="020B0603020202020204" pitchFamily="34" charset="0"/>
              </a:rPr>
              <a:t>Data Flow Summary</a:t>
            </a:r>
          </a:p>
        </p:txBody>
      </p:sp>
      <p:sp>
        <p:nvSpPr>
          <p:cNvPr id="2066" name="TextBox 2065">
            <a:extLst>
              <a:ext uri="{FF2B5EF4-FFF2-40B4-BE49-F238E27FC236}">
                <a16:creationId xmlns:a16="http://schemas.microsoft.com/office/drawing/2014/main" id="{D67A9333-810D-E7BB-D55D-93726C1AF245}"/>
              </a:ext>
            </a:extLst>
          </p:cNvPr>
          <p:cNvSpPr txBox="1"/>
          <p:nvPr/>
        </p:nvSpPr>
        <p:spPr>
          <a:xfrm>
            <a:off x="597855" y="5409604"/>
            <a:ext cx="3910045" cy="1200329"/>
          </a:xfrm>
          <a:prstGeom prst="rect">
            <a:avLst/>
          </a:prstGeom>
          <a:noFill/>
        </p:spPr>
        <p:txBody>
          <a:bodyPr wrap="none" rtlCol="0">
            <a:spAutoFit/>
          </a:bodyPr>
          <a:lstStyle/>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User interacts with </a:t>
            </a:r>
            <a:r>
              <a:rPr lang="en-ZA" sz="900" dirty="0" err="1">
                <a:latin typeface="Vodafone Medium" panose="020B0603020202020204" pitchFamily="34" charset="0"/>
                <a:cs typeface="Vodafone Medium" panose="020B0603020202020204" pitchFamily="34" charset="0"/>
              </a:rPr>
              <a:t>Vodapay</a:t>
            </a:r>
            <a:r>
              <a:rPr lang="en-ZA" sz="900" dirty="0">
                <a:latin typeface="Vodafone Medium" panose="020B0603020202020204" pitchFamily="34" charset="0"/>
                <a:cs typeface="Vodafone Medium" panose="020B0603020202020204" pitchFamily="34" charset="0"/>
              </a:rPr>
              <a:t> App (Native or </a:t>
            </a:r>
            <a:r>
              <a:rPr lang="en-ZA" sz="900" dirty="0" err="1">
                <a:latin typeface="Vodafone Medium" panose="020B0603020202020204" pitchFamily="34" charset="0"/>
                <a:cs typeface="Vodafone Medium" panose="020B0603020202020204" pitchFamily="34" charset="0"/>
              </a:rPr>
              <a:t>Webview</a:t>
            </a:r>
            <a:r>
              <a:rPr lang="en-ZA" sz="900" dirty="0">
                <a:latin typeface="Vodafone Medium" panose="020B0603020202020204" pitchFamily="34" charset="0"/>
                <a:cs typeface="Vodafone Medium" panose="020B0603020202020204" pitchFamily="34" charset="0"/>
              </a:rPr>
              <a:t>)</a:t>
            </a: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Tealium collections events via JavaScript </a:t>
            </a:r>
            <a:r>
              <a:rPr lang="en-ZA" sz="900" dirty="0" err="1">
                <a:latin typeface="Vodafone Medium" panose="020B0603020202020204" pitchFamily="34" charset="0"/>
                <a:cs typeface="Vodafone Medium" panose="020B0603020202020204" pitchFamily="34" charset="0"/>
              </a:rPr>
              <a:t>extrension</a:t>
            </a:r>
            <a:endParaRPr lang="en-ZA" sz="900" dirty="0">
              <a:latin typeface="Vodafone Medium" panose="020B0603020202020204" pitchFamily="34" charset="0"/>
              <a:cs typeface="Vodafone Medium" panose="020B0603020202020204" pitchFamily="34" charset="0"/>
            </a:endParaRP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Events are sent to </a:t>
            </a:r>
            <a:r>
              <a:rPr lang="en-ZA" sz="900" dirty="0" err="1">
                <a:latin typeface="Vodafone Medium" panose="020B0603020202020204" pitchFamily="34" charset="0"/>
                <a:cs typeface="Vodafone Medium" panose="020B0603020202020204" pitchFamily="34" charset="0"/>
              </a:rPr>
              <a:t>Vodapay</a:t>
            </a:r>
            <a:r>
              <a:rPr lang="en-ZA" sz="900" dirty="0">
                <a:latin typeface="Vodafone Medium" panose="020B0603020202020204" pitchFamily="34" charset="0"/>
                <a:cs typeface="Vodafone Medium" panose="020B0603020202020204" pitchFamily="34" charset="0"/>
              </a:rPr>
              <a:t> endpoint</a:t>
            </a: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Kinesis Data Stream ingests event in real time</a:t>
            </a: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Kinesis Firehose buffers and delivers data to S3</a:t>
            </a: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Data land in S3 Lakehouse Landing Zone</a:t>
            </a: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Data is processed using AWS Glue/ ETL Data Pipeline (Future development)</a:t>
            </a:r>
          </a:p>
          <a:p>
            <a:pPr marL="285750" indent="-285750">
              <a:buFont typeface="+mj-lt"/>
              <a:buAutoNum type="arabicPeriod"/>
            </a:pPr>
            <a:r>
              <a:rPr lang="en-ZA" sz="900" dirty="0">
                <a:latin typeface="Vodafone Medium" panose="020B0603020202020204" pitchFamily="34" charset="0"/>
                <a:cs typeface="Vodafone Medium" panose="020B0603020202020204" pitchFamily="34" charset="0"/>
              </a:rPr>
              <a:t>Data is queried and visualized in preferred analytics tool</a:t>
            </a:r>
          </a:p>
        </p:txBody>
      </p:sp>
      <p:pic>
        <p:nvPicPr>
          <p:cNvPr id="2074" name="Picture 26">
            <a:extLst>
              <a:ext uri="{FF2B5EF4-FFF2-40B4-BE49-F238E27FC236}">
                <a16:creationId xmlns:a16="http://schemas.microsoft.com/office/drawing/2014/main" id="{FD68A792-0D08-2CB4-F692-FCE4BCB8A5B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1917" y="5194696"/>
            <a:ext cx="331233" cy="331233"/>
          </a:xfrm>
          <a:prstGeom prst="rect">
            <a:avLst/>
          </a:prstGeom>
          <a:noFill/>
          <a:extLst>
            <a:ext uri="{909E8E84-426E-40DD-AFC4-6F175D3DCCD1}">
              <a14:hiddenFill xmlns:a14="http://schemas.microsoft.com/office/drawing/2010/main">
                <a:solidFill>
                  <a:srgbClr val="FFFFFF"/>
                </a:solidFill>
              </a14:hiddenFill>
            </a:ext>
          </a:extLst>
        </p:spPr>
      </p:pic>
      <p:sp>
        <p:nvSpPr>
          <p:cNvPr id="2067" name="Rectangle: Rounded Corners 2066">
            <a:extLst>
              <a:ext uri="{FF2B5EF4-FFF2-40B4-BE49-F238E27FC236}">
                <a16:creationId xmlns:a16="http://schemas.microsoft.com/office/drawing/2014/main" id="{37D5C649-6FD1-2481-FCB2-EEEDE7F7F030}"/>
              </a:ext>
            </a:extLst>
          </p:cNvPr>
          <p:cNvSpPr/>
          <p:nvPr/>
        </p:nvSpPr>
        <p:spPr>
          <a:xfrm>
            <a:off x="5547871" y="5054081"/>
            <a:ext cx="3792072" cy="1727717"/>
          </a:xfrm>
          <a:prstGeom prst="round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069" name="TextBox 2068">
            <a:extLst>
              <a:ext uri="{FF2B5EF4-FFF2-40B4-BE49-F238E27FC236}">
                <a16:creationId xmlns:a16="http://schemas.microsoft.com/office/drawing/2014/main" id="{1785C144-4EBF-0283-5B82-9EA4EEE78EB3}"/>
              </a:ext>
            </a:extLst>
          </p:cNvPr>
          <p:cNvSpPr txBox="1"/>
          <p:nvPr/>
        </p:nvSpPr>
        <p:spPr>
          <a:xfrm>
            <a:off x="6114740" y="5106165"/>
            <a:ext cx="819455" cy="246221"/>
          </a:xfrm>
          <a:prstGeom prst="rect">
            <a:avLst/>
          </a:prstGeom>
          <a:noFill/>
        </p:spPr>
        <p:txBody>
          <a:bodyPr wrap="none" rtlCol="0">
            <a:spAutoFit/>
          </a:bodyPr>
          <a:lstStyle/>
          <a:p>
            <a:r>
              <a:rPr lang="en-ZA" sz="1000" b="1" dirty="0">
                <a:solidFill>
                  <a:schemeClr val="accent6"/>
                </a:solidFill>
                <a:latin typeface="Vodafone Medium" panose="020B0603020202020204" pitchFamily="34" charset="0"/>
                <a:cs typeface="Vodafone Medium" panose="020B0603020202020204" pitchFamily="34" charset="0"/>
              </a:rPr>
              <a:t>Key Benefits</a:t>
            </a:r>
          </a:p>
        </p:txBody>
      </p:sp>
      <p:pic>
        <p:nvPicPr>
          <p:cNvPr id="2076" name="Picture 28">
            <a:extLst>
              <a:ext uri="{FF2B5EF4-FFF2-40B4-BE49-F238E27FC236}">
                <a16:creationId xmlns:a16="http://schemas.microsoft.com/office/drawing/2014/main" id="{242EF460-5385-586D-D670-D2D60038AF8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53411" y="5153005"/>
            <a:ext cx="414613" cy="414613"/>
          </a:xfrm>
          <a:prstGeom prst="rect">
            <a:avLst/>
          </a:prstGeom>
          <a:noFill/>
          <a:extLst>
            <a:ext uri="{909E8E84-426E-40DD-AFC4-6F175D3DCCD1}">
              <a14:hiddenFill xmlns:a14="http://schemas.microsoft.com/office/drawing/2010/main">
                <a:solidFill>
                  <a:srgbClr val="FFFFFF"/>
                </a:solidFill>
              </a14:hiddenFill>
            </a:ext>
          </a:extLst>
        </p:spPr>
      </p:pic>
      <p:sp>
        <p:nvSpPr>
          <p:cNvPr id="2071" name="TextBox 2070">
            <a:extLst>
              <a:ext uri="{FF2B5EF4-FFF2-40B4-BE49-F238E27FC236}">
                <a16:creationId xmlns:a16="http://schemas.microsoft.com/office/drawing/2014/main" id="{785F84F1-4038-69E7-66EA-D2A3849C57C6}"/>
              </a:ext>
            </a:extLst>
          </p:cNvPr>
          <p:cNvSpPr txBox="1"/>
          <p:nvPr/>
        </p:nvSpPr>
        <p:spPr>
          <a:xfrm>
            <a:off x="6032772" y="5473462"/>
            <a:ext cx="2923897" cy="784830"/>
          </a:xfrm>
          <a:prstGeom prst="rect">
            <a:avLst/>
          </a:prstGeom>
          <a:noFill/>
        </p:spPr>
        <p:txBody>
          <a:bodyPr wrap="square" rtlCol="0">
            <a:spAutoFit/>
          </a:bodyPr>
          <a:lstStyle/>
          <a:p>
            <a:pPr marL="285750" indent="-285750">
              <a:buFont typeface="Arial" panose="020B0604020202020204" pitchFamily="34" charset="0"/>
              <a:buChar char="•"/>
            </a:pPr>
            <a:r>
              <a:rPr lang="en-ZA" sz="900" dirty="0">
                <a:latin typeface="Vodafone Medium" panose="020B0603020202020204" pitchFamily="34" charset="0"/>
                <a:cs typeface="Vodafone Medium" panose="020B0603020202020204" pitchFamily="34" charset="0"/>
              </a:rPr>
              <a:t>Highly scalable for millions of events</a:t>
            </a:r>
          </a:p>
          <a:p>
            <a:pPr marL="285750" indent="-285750">
              <a:buFont typeface="Arial" panose="020B0604020202020204" pitchFamily="34" charset="0"/>
              <a:buChar char="•"/>
            </a:pPr>
            <a:r>
              <a:rPr lang="en-ZA" sz="900" dirty="0">
                <a:latin typeface="Vodafone Medium" panose="020B0603020202020204" pitchFamily="34" charset="0"/>
                <a:cs typeface="Vodafone Medium" panose="020B0603020202020204" pitchFamily="34" charset="0"/>
              </a:rPr>
              <a:t>Serverless and managed AWS services</a:t>
            </a:r>
          </a:p>
          <a:p>
            <a:pPr marL="285750" indent="-285750">
              <a:buFont typeface="Arial" panose="020B0604020202020204" pitchFamily="34" charset="0"/>
              <a:buChar char="•"/>
            </a:pPr>
            <a:r>
              <a:rPr lang="en-ZA" sz="900" dirty="0">
                <a:latin typeface="Vodafone Medium" panose="020B0603020202020204" pitchFamily="34" charset="0"/>
                <a:cs typeface="Vodafone Medium" panose="020B0603020202020204" pitchFamily="34" charset="0"/>
              </a:rPr>
              <a:t>Real time ingestion with durability</a:t>
            </a:r>
          </a:p>
          <a:p>
            <a:pPr marL="285750" indent="-285750">
              <a:buFont typeface="Arial" panose="020B0604020202020204" pitchFamily="34" charset="0"/>
              <a:buChar char="•"/>
            </a:pPr>
            <a:r>
              <a:rPr lang="en-ZA" sz="900" dirty="0">
                <a:latin typeface="Vodafone Medium" panose="020B0603020202020204" pitchFamily="34" charset="0"/>
                <a:cs typeface="Vodafone Medium" panose="020B0603020202020204" pitchFamily="34" charset="0"/>
              </a:rPr>
              <a:t>Aligns with </a:t>
            </a:r>
            <a:r>
              <a:rPr lang="en-ZA" sz="900" dirty="0" err="1">
                <a:latin typeface="Vodafone Medium" panose="020B0603020202020204" pitchFamily="34" charset="0"/>
                <a:cs typeface="Vodafone Medium" panose="020B0603020202020204" pitchFamily="34" charset="0"/>
              </a:rPr>
              <a:t>Vodaocm</a:t>
            </a:r>
            <a:r>
              <a:rPr lang="en-ZA" sz="900" dirty="0">
                <a:latin typeface="Vodafone Medium" panose="020B0603020202020204" pitchFamily="34" charset="0"/>
                <a:cs typeface="Vodafone Medium" panose="020B0603020202020204" pitchFamily="34" charset="0"/>
              </a:rPr>
              <a:t> Lakehouse standards</a:t>
            </a:r>
          </a:p>
          <a:p>
            <a:pPr marL="285750" indent="-285750">
              <a:buFont typeface="Arial" panose="020B0604020202020204" pitchFamily="34" charset="0"/>
              <a:buChar char="•"/>
            </a:pPr>
            <a:r>
              <a:rPr lang="en-ZA" sz="900" dirty="0">
                <a:latin typeface="Vodafone Medium" panose="020B0603020202020204" pitchFamily="34" charset="0"/>
                <a:cs typeface="Vodafone Medium" panose="020B0603020202020204" pitchFamily="34" charset="0"/>
              </a:rPr>
              <a:t>Cost efficient and future proof</a:t>
            </a:r>
          </a:p>
        </p:txBody>
      </p:sp>
      <p:sp>
        <p:nvSpPr>
          <p:cNvPr id="2" name="TextBox 1">
            <a:extLst>
              <a:ext uri="{FF2B5EF4-FFF2-40B4-BE49-F238E27FC236}">
                <a16:creationId xmlns:a16="http://schemas.microsoft.com/office/drawing/2014/main" id="{5D3485FC-E626-82AE-2ABA-88C1AED7F980}"/>
              </a:ext>
            </a:extLst>
          </p:cNvPr>
          <p:cNvSpPr txBox="1"/>
          <p:nvPr/>
        </p:nvSpPr>
        <p:spPr>
          <a:xfrm>
            <a:off x="10597221" y="6657945"/>
            <a:ext cx="1045479" cy="200055"/>
          </a:xfrm>
          <a:prstGeom prst="rect">
            <a:avLst/>
          </a:prstGeom>
          <a:noFill/>
        </p:spPr>
        <p:txBody>
          <a:bodyPr wrap="none" rtlCol="0">
            <a:spAutoFit/>
          </a:bodyPr>
          <a:lstStyle/>
          <a:p>
            <a:r>
              <a:rPr lang="en-ZA" sz="700" b="1" dirty="0">
                <a:latin typeface="Vodafone Book" panose="020B0403020202020204" pitchFamily="34" charset="0"/>
                <a:cs typeface="Vodafone Book" panose="020B0403020202020204" pitchFamily="34" charset="0"/>
              </a:rPr>
              <a:t>Prepared by Nikhil Lakha</a:t>
            </a:r>
          </a:p>
        </p:txBody>
      </p:sp>
      <p:cxnSp>
        <p:nvCxnSpPr>
          <p:cNvPr id="49" name="Straight Arrow Connector 48">
            <a:extLst>
              <a:ext uri="{FF2B5EF4-FFF2-40B4-BE49-F238E27FC236}">
                <a16:creationId xmlns:a16="http://schemas.microsoft.com/office/drawing/2014/main" id="{C7017168-863F-9C57-AEB5-F09F6CC2CC40}"/>
              </a:ext>
            </a:extLst>
          </p:cNvPr>
          <p:cNvCxnSpPr>
            <a:cxnSpLocks/>
            <a:stCxn id="9" idx="3"/>
            <a:endCxn id="1036" idx="1"/>
          </p:cNvCxnSpPr>
          <p:nvPr/>
        </p:nvCxnSpPr>
        <p:spPr>
          <a:xfrm flipV="1">
            <a:off x="1289734" y="1803958"/>
            <a:ext cx="421174" cy="5977"/>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FF25CA0D-E863-2B21-CC36-647D6CD64053}"/>
              </a:ext>
            </a:extLst>
          </p:cNvPr>
          <p:cNvSpPr/>
          <p:nvPr/>
        </p:nvSpPr>
        <p:spPr>
          <a:xfrm>
            <a:off x="3157487" y="965168"/>
            <a:ext cx="1202400" cy="3907971"/>
          </a:xfrm>
          <a:prstGeom prst="roundRect">
            <a:avLst/>
          </a:prstGeom>
          <a:solidFill>
            <a:schemeClr val="accent5">
              <a:lumMod val="20000"/>
              <a:lumOff val="80000"/>
              <a:alpha val="32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33" name="TextBox 32">
            <a:extLst>
              <a:ext uri="{FF2B5EF4-FFF2-40B4-BE49-F238E27FC236}">
                <a16:creationId xmlns:a16="http://schemas.microsoft.com/office/drawing/2014/main" id="{AA180DD2-408F-7741-F04E-A3C07178DA6D}"/>
              </a:ext>
            </a:extLst>
          </p:cNvPr>
          <p:cNvSpPr txBox="1"/>
          <p:nvPr/>
        </p:nvSpPr>
        <p:spPr>
          <a:xfrm>
            <a:off x="3233304" y="1008993"/>
            <a:ext cx="1111202" cy="246221"/>
          </a:xfrm>
          <a:prstGeom prst="rect">
            <a:avLst/>
          </a:prstGeom>
          <a:noFill/>
        </p:spPr>
        <p:txBody>
          <a:bodyPr wrap="none" rtlCol="0">
            <a:spAutoFit/>
          </a:bodyPr>
          <a:lstStyle/>
          <a:p>
            <a:r>
              <a:rPr lang="en-ZA" sz="1000" b="1" dirty="0">
                <a:solidFill>
                  <a:schemeClr val="accent5">
                    <a:lumMod val="60000"/>
                    <a:lumOff val="40000"/>
                  </a:schemeClr>
                </a:solidFill>
                <a:latin typeface="Vodafone Medium" panose="020B0603020202020204" pitchFamily="34" charset="0"/>
                <a:cs typeface="Vodafone Medium" panose="020B0603020202020204" pitchFamily="34" charset="0"/>
              </a:rPr>
              <a:t>3. Security &amp; Edge</a:t>
            </a:r>
          </a:p>
        </p:txBody>
      </p:sp>
      <p:sp>
        <p:nvSpPr>
          <p:cNvPr id="38" name="Rectangle: Rounded Corners 37">
            <a:extLst>
              <a:ext uri="{FF2B5EF4-FFF2-40B4-BE49-F238E27FC236}">
                <a16:creationId xmlns:a16="http://schemas.microsoft.com/office/drawing/2014/main" id="{958108C2-C7D3-9615-C318-7D660C8D99F2}"/>
              </a:ext>
            </a:extLst>
          </p:cNvPr>
          <p:cNvSpPr/>
          <p:nvPr/>
        </p:nvSpPr>
        <p:spPr>
          <a:xfrm>
            <a:off x="3190741" y="1264456"/>
            <a:ext cx="1120511" cy="1778041"/>
          </a:xfrm>
          <a:prstGeom prst="roundRect">
            <a:avLst/>
          </a:prstGeom>
          <a:solidFill>
            <a:schemeClr val="bg1"/>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900" dirty="0"/>
          </a:p>
        </p:txBody>
      </p:sp>
      <p:sp>
        <p:nvSpPr>
          <p:cNvPr id="41" name="TextBox 40">
            <a:extLst>
              <a:ext uri="{FF2B5EF4-FFF2-40B4-BE49-F238E27FC236}">
                <a16:creationId xmlns:a16="http://schemas.microsoft.com/office/drawing/2014/main" id="{58DE8407-F5EA-CA2F-DEF9-31C5A291F027}"/>
              </a:ext>
            </a:extLst>
          </p:cNvPr>
          <p:cNvSpPr txBox="1"/>
          <p:nvPr/>
        </p:nvSpPr>
        <p:spPr>
          <a:xfrm>
            <a:off x="3221565" y="1945645"/>
            <a:ext cx="1058861" cy="830997"/>
          </a:xfrm>
          <a:prstGeom prst="rect">
            <a:avLst/>
          </a:prstGeom>
          <a:noFill/>
        </p:spPr>
        <p:txBody>
          <a:bodyPr wrap="square" rtlCol="0">
            <a:spAutoFit/>
          </a:bodyPr>
          <a:lstStyle/>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Protects ingestion endpoints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Filters malicious requests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Rate Limiting</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IP reputation &amp; Geo Rules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Bot Control</a:t>
            </a:r>
          </a:p>
        </p:txBody>
      </p:sp>
      <p:sp>
        <p:nvSpPr>
          <p:cNvPr id="42" name="TextBox 41">
            <a:extLst>
              <a:ext uri="{FF2B5EF4-FFF2-40B4-BE49-F238E27FC236}">
                <a16:creationId xmlns:a16="http://schemas.microsoft.com/office/drawing/2014/main" id="{64F7FBBB-3306-2051-CA0E-621AA5396CFB}"/>
              </a:ext>
            </a:extLst>
          </p:cNvPr>
          <p:cNvSpPr txBox="1"/>
          <p:nvPr/>
        </p:nvSpPr>
        <p:spPr>
          <a:xfrm>
            <a:off x="3286562" y="1667454"/>
            <a:ext cx="961513" cy="276999"/>
          </a:xfrm>
          <a:prstGeom prst="rect">
            <a:avLst/>
          </a:prstGeom>
          <a:noFill/>
        </p:spPr>
        <p:txBody>
          <a:bodyPr wrap="square" rtlCol="0">
            <a:spAutoFit/>
          </a:bodyPr>
          <a:lstStyle/>
          <a:p>
            <a:pPr algn="ctr"/>
            <a:r>
              <a:rPr lang="en-ZA" sz="600" b="1" dirty="0">
                <a:latin typeface="Vodafone Medium" panose="020B0603020202020204" pitchFamily="34" charset="0"/>
                <a:cs typeface="Vodafone Medium" panose="020B0603020202020204" pitchFamily="34" charset="0"/>
              </a:rPr>
              <a:t>AWS WAF (Web Application Firewall</a:t>
            </a:r>
          </a:p>
        </p:txBody>
      </p:sp>
      <p:pic>
        <p:nvPicPr>
          <p:cNvPr id="44" name="Picture 43">
            <a:extLst>
              <a:ext uri="{FF2B5EF4-FFF2-40B4-BE49-F238E27FC236}">
                <a16:creationId xmlns:a16="http://schemas.microsoft.com/office/drawing/2014/main" id="{11BA9B9E-02F2-3E94-0D70-9730B6CD5128}"/>
              </a:ext>
            </a:extLst>
          </p:cNvPr>
          <p:cNvPicPr>
            <a:picLocks noChangeAspect="1"/>
          </p:cNvPicPr>
          <p:nvPr/>
        </p:nvPicPr>
        <p:blipFill>
          <a:blip r:embed="rId16"/>
          <a:stretch>
            <a:fillRect/>
          </a:stretch>
        </p:blipFill>
        <p:spPr>
          <a:xfrm>
            <a:off x="3583617" y="1340530"/>
            <a:ext cx="350138" cy="326924"/>
          </a:xfrm>
          <a:prstGeom prst="rect">
            <a:avLst/>
          </a:prstGeom>
        </p:spPr>
      </p:pic>
      <p:sp>
        <p:nvSpPr>
          <p:cNvPr id="45" name="Rectangle: Rounded Corners 44">
            <a:extLst>
              <a:ext uri="{FF2B5EF4-FFF2-40B4-BE49-F238E27FC236}">
                <a16:creationId xmlns:a16="http://schemas.microsoft.com/office/drawing/2014/main" id="{8B4B2FDE-36CF-040C-C586-98A208A10C0E}"/>
              </a:ext>
            </a:extLst>
          </p:cNvPr>
          <p:cNvSpPr/>
          <p:nvPr/>
        </p:nvSpPr>
        <p:spPr>
          <a:xfrm>
            <a:off x="3191941" y="3134889"/>
            <a:ext cx="1120511" cy="1484646"/>
          </a:xfrm>
          <a:prstGeom prst="roundRect">
            <a:avLst/>
          </a:prstGeom>
          <a:solidFill>
            <a:schemeClr val="bg1"/>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900" dirty="0"/>
          </a:p>
        </p:txBody>
      </p:sp>
      <p:pic>
        <p:nvPicPr>
          <p:cNvPr id="48" name="Picture 47">
            <a:extLst>
              <a:ext uri="{FF2B5EF4-FFF2-40B4-BE49-F238E27FC236}">
                <a16:creationId xmlns:a16="http://schemas.microsoft.com/office/drawing/2014/main" id="{2D6569D4-2112-006A-77DD-96B3692ACAC7}"/>
              </a:ext>
            </a:extLst>
          </p:cNvPr>
          <p:cNvPicPr>
            <a:picLocks noChangeAspect="1"/>
          </p:cNvPicPr>
          <p:nvPr/>
        </p:nvPicPr>
        <p:blipFill>
          <a:blip r:embed="rId17"/>
          <a:stretch>
            <a:fillRect/>
          </a:stretch>
        </p:blipFill>
        <p:spPr>
          <a:xfrm>
            <a:off x="3626155" y="3239010"/>
            <a:ext cx="241238" cy="244253"/>
          </a:xfrm>
          <a:prstGeom prst="rect">
            <a:avLst/>
          </a:prstGeom>
        </p:spPr>
      </p:pic>
      <p:sp>
        <p:nvSpPr>
          <p:cNvPr id="50" name="TextBox 49">
            <a:extLst>
              <a:ext uri="{FF2B5EF4-FFF2-40B4-BE49-F238E27FC236}">
                <a16:creationId xmlns:a16="http://schemas.microsoft.com/office/drawing/2014/main" id="{7ED23CC0-84B5-25B7-B014-A6160981FCC3}"/>
              </a:ext>
            </a:extLst>
          </p:cNvPr>
          <p:cNvSpPr txBox="1"/>
          <p:nvPr/>
        </p:nvSpPr>
        <p:spPr>
          <a:xfrm>
            <a:off x="3266017" y="3504508"/>
            <a:ext cx="961513" cy="184666"/>
          </a:xfrm>
          <a:prstGeom prst="rect">
            <a:avLst/>
          </a:prstGeom>
          <a:noFill/>
        </p:spPr>
        <p:txBody>
          <a:bodyPr wrap="square" rtlCol="0">
            <a:spAutoFit/>
          </a:bodyPr>
          <a:lstStyle/>
          <a:p>
            <a:pPr algn="ctr"/>
            <a:r>
              <a:rPr lang="en-ZA" sz="600" b="1" dirty="0">
                <a:latin typeface="Vodafone Medium" panose="020B0603020202020204" pitchFamily="34" charset="0"/>
                <a:cs typeface="Vodafone Medium" panose="020B0603020202020204" pitchFamily="34" charset="0"/>
              </a:rPr>
              <a:t>API Gateway</a:t>
            </a:r>
          </a:p>
        </p:txBody>
      </p:sp>
      <p:sp>
        <p:nvSpPr>
          <p:cNvPr id="51" name="TextBox 50">
            <a:extLst>
              <a:ext uri="{FF2B5EF4-FFF2-40B4-BE49-F238E27FC236}">
                <a16:creationId xmlns:a16="http://schemas.microsoft.com/office/drawing/2014/main" id="{EC4A6558-C79D-B79B-DB1A-7D21C9704304}"/>
              </a:ext>
            </a:extLst>
          </p:cNvPr>
          <p:cNvSpPr txBox="1"/>
          <p:nvPr/>
        </p:nvSpPr>
        <p:spPr>
          <a:xfrm>
            <a:off x="3161841" y="3689809"/>
            <a:ext cx="1058861" cy="738664"/>
          </a:xfrm>
          <a:prstGeom prst="rect">
            <a:avLst/>
          </a:prstGeom>
          <a:noFill/>
        </p:spPr>
        <p:txBody>
          <a:bodyPr wrap="square" rtlCol="0">
            <a:spAutoFit/>
          </a:bodyPr>
          <a:lstStyle/>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HTTPS endpoint</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Request validation</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Throttling</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Auth (API Key/JWT)</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Monitoring &amp; logging</a:t>
            </a:r>
          </a:p>
        </p:txBody>
      </p:sp>
      <p:cxnSp>
        <p:nvCxnSpPr>
          <p:cNvPr id="53" name="Straight Arrow Connector 52">
            <a:extLst>
              <a:ext uri="{FF2B5EF4-FFF2-40B4-BE49-F238E27FC236}">
                <a16:creationId xmlns:a16="http://schemas.microsoft.com/office/drawing/2014/main" id="{BC995CD2-D093-F45C-9474-E2FDCCF635EF}"/>
              </a:ext>
            </a:extLst>
          </p:cNvPr>
          <p:cNvCxnSpPr>
            <a:cxnSpLocks/>
          </p:cNvCxnSpPr>
          <p:nvPr/>
        </p:nvCxnSpPr>
        <p:spPr>
          <a:xfrm>
            <a:off x="4359887" y="3094511"/>
            <a:ext cx="337861"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4" name="Rectangle: Rounded Corners 53">
            <a:extLst>
              <a:ext uri="{FF2B5EF4-FFF2-40B4-BE49-F238E27FC236}">
                <a16:creationId xmlns:a16="http://schemas.microsoft.com/office/drawing/2014/main" id="{8899AC74-34B3-A69C-4F50-6A9F641F2906}"/>
              </a:ext>
            </a:extLst>
          </p:cNvPr>
          <p:cNvSpPr/>
          <p:nvPr/>
        </p:nvSpPr>
        <p:spPr>
          <a:xfrm>
            <a:off x="9502729" y="957942"/>
            <a:ext cx="1202400" cy="3907971"/>
          </a:xfrm>
          <a:prstGeom prst="roundRect">
            <a:avLst/>
          </a:prstGeom>
          <a:solidFill>
            <a:schemeClr val="accent6">
              <a:lumMod val="20000"/>
              <a:lumOff val="80000"/>
              <a:alpha val="32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cxnSp>
        <p:nvCxnSpPr>
          <p:cNvPr id="58" name="Straight Arrow Connector 57">
            <a:extLst>
              <a:ext uri="{FF2B5EF4-FFF2-40B4-BE49-F238E27FC236}">
                <a16:creationId xmlns:a16="http://schemas.microsoft.com/office/drawing/2014/main" id="{98F29756-7ED8-A656-AFA5-55288953A4A4}"/>
              </a:ext>
            </a:extLst>
          </p:cNvPr>
          <p:cNvCxnSpPr>
            <a:cxnSpLocks/>
          </p:cNvCxnSpPr>
          <p:nvPr/>
        </p:nvCxnSpPr>
        <p:spPr>
          <a:xfrm>
            <a:off x="9222779" y="3094511"/>
            <a:ext cx="323689"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48DEFA14-C7DD-301A-BF04-3BC26C31EB36}"/>
              </a:ext>
            </a:extLst>
          </p:cNvPr>
          <p:cNvSpPr txBox="1"/>
          <p:nvPr/>
        </p:nvSpPr>
        <p:spPr>
          <a:xfrm>
            <a:off x="9662942" y="1030993"/>
            <a:ext cx="934279" cy="400110"/>
          </a:xfrm>
          <a:prstGeom prst="rect">
            <a:avLst/>
          </a:prstGeom>
          <a:noFill/>
        </p:spPr>
        <p:txBody>
          <a:bodyPr wrap="square" rtlCol="0">
            <a:spAutoFit/>
          </a:bodyPr>
          <a:lstStyle/>
          <a:p>
            <a:r>
              <a:rPr lang="en-ZA" sz="1000" b="1" dirty="0">
                <a:solidFill>
                  <a:schemeClr val="accent6"/>
                </a:solidFill>
                <a:latin typeface="Vodafone Medium" panose="020B0603020202020204" pitchFamily="34" charset="0"/>
                <a:cs typeface="Vodafone Medium" panose="020B0603020202020204" pitchFamily="34" charset="0"/>
              </a:rPr>
              <a:t>7. Processing &amp; Data Lakes</a:t>
            </a:r>
          </a:p>
        </p:txBody>
      </p:sp>
      <p:pic>
        <p:nvPicPr>
          <p:cNvPr id="62" name="Picture 61">
            <a:extLst>
              <a:ext uri="{FF2B5EF4-FFF2-40B4-BE49-F238E27FC236}">
                <a16:creationId xmlns:a16="http://schemas.microsoft.com/office/drawing/2014/main" id="{DA380AF6-BE42-3218-60E9-7D519AB354D8}"/>
              </a:ext>
            </a:extLst>
          </p:cNvPr>
          <p:cNvPicPr>
            <a:picLocks noChangeAspect="1"/>
          </p:cNvPicPr>
          <p:nvPr/>
        </p:nvPicPr>
        <p:blipFill>
          <a:blip r:embed="rId18"/>
          <a:stretch>
            <a:fillRect/>
          </a:stretch>
        </p:blipFill>
        <p:spPr>
          <a:xfrm>
            <a:off x="9873050" y="1431103"/>
            <a:ext cx="461758" cy="472019"/>
          </a:xfrm>
          <a:prstGeom prst="rect">
            <a:avLst/>
          </a:prstGeom>
        </p:spPr>
      </p:pic>
      <p:sp>
        <p:nvSpPr>
          <p:cNvPr id="1026" name="TextBox 1025">
            <a:extLst>
              <a:ext uri="{FF2B5EF4-FFF2-40B4-BE49-F238E27FC236}">
                <a16:creationId xmlns:a16="http://schemas.microsoft.com/office/drawing/2014/main" id="{082C7270-6510-BAAC-01B3-CC751A11B7B0}"/>
              </a:ext>
            </a:extLst>
          </p:cNvPr>
          <p:cNvSpPr txBox="1"/>
          <p:nvPr/>
        </p:nvSpPr>
        <p:spPr>
          <a:xfrm>
            <a:off x="9571724" y="1934231"/>
            <a:ext cx="1133405" cy="184666"/>
          </a:xfrm>
          <a:prstGeom prst="rect">
            <a:avLst/>
          </a:prstGeom>
          <a:noFill/>
        </p:spPr>
        <p:txBody>
          <a:bodyPr wrap="square" rtlCol="0">
            <a:spAutoFit/>
          </a:bodyPr>
          <a:lstStyle/>
          <a:p>
            <a:pPr algn="ctr"/>
            <a:r>
              <a:rPr lang="en-ZA" sz="600" b="1" dirty="0">
                <a:latin typeface="Vodafone Medium" panose="020B0603020202020204" pitchFamily="34" charset="0"/>
                <a:cs typeface="Vodafone Medium" panose="020B0603020202020204" pitchFamily="34" charset="0"/>
              </a:rPr>
              <a:t>AWS Glue</a:t>
            </a:r>
          </a:p>
        </p:txBody>
      </p:sp>
      <p:sp>
        <p:nvSpPr>
          <p:cNvPr id="1035" name="TextBox 1034">
            <a:extLst>
              <a:ext uri="{FF2B5EF4-FFF2-40B4-BE49-F238E27FC236}">
                <a16:creationId xmlns:a16="http://schemas.microsoft.com/office/drawing/2014/main" id="{7BC0F3F4-D67C-EDE5-D259-1169605FC6BD}"/>
              </a:ext>
            </a:extLst>
          </p:cNvPr>
          <p:cNvSpPr txBox="1"/>
          <p:nvPr/>
        </p:nvSpPr>
        <p:spPr>
          <a:xfrm>
            <a:off x="9452626" y="2176477"/>
            <a:ext cx="1371600" cy="553998"/>
          </a:xfrm>
          <a:prstGeom prst="rect">
            <a:avLst/>
          </a:prstGeom>
          <a:noFill/>
        </p:spPr>
        <p:txBody>
          <a:bodyPr wrap="square" rtlCol="0">
            <a:spAutoFit/>
          </a:bodyPr>
          <a:lstStyle/>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Crawlers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Data </a:t>
            </a:r>
            <a:r>
              <a:rPr lang="en-ZA" sz="600" dirty="0" err="1">
                <a:latin typeface="Vodafone Medium" panose="020B0603020202020204" pitchFamily="34" charset="0"/>
                <a:cs typeface="Vodafone Medium" panose="020B0603020202020204" pitchFamily="34" charset="0"/>
              </a:rPr>
              <a:t>Catalog</a:t>
            </a:r>
            <a:endParaRPr lang="en-ZA" sz="600" dirty="0">
              <a:latin typeface="Vodafone Medium" panose="020B0603020202020204" pitchFamily="34" charset="0"/>
              <a:cs typeface="Vodafone Medium" panose="020B0603020202020204" pitchFamily="34" charset="0"/>
            </a:endParaRP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ETL Jobs</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Data Quality Check</a:t>
            </a:r>
          </a:p>
          <a:p>
            <a:pPr marL="285750" indent="-285750">
              <a:buFont typeface="Arial" panose="020B0604020202020204" pitchFamily="34" charset="0"/>
              <a:buChar char="•"/>
            </a:pPr>
            <a:r>
              <a:rPr lang="en-ZA" sz="600" dirty="0">
                <a:latin typeface="Vodafone Medium" panose="020B0603020202020204" pitchFamily="34" charset="0"/>
                <a:cs typeface="Vodafone Medium" panose="020B0603020202020204" pitchFamily="34" charset="0"/>
              </a:rPr>
              <a:t>Formats: Parquet</a:t>
            </a:r>
          </a:p>
        </p:txBody>
      </p:sp>
      <p:pic>
        <p:nvPicPr>
          <p:cNvPr id="1040" name="Picture 1039">
            <a:extLst>
              <a:ext uri="{FF2B5EF4-FFF2-40B4-BE49-F238E27FC236}">
                <a16:creationId xmlns:a16="http://schemas.microsoft.com/office/drawing/2014/main" id="{1EEC42DE-B746-B550-5098-B5462F70FA6A}"/>
              </a:ext>
            </a:extLst>
          </p:cNvPr>
          <p:cNvPicPr>
            <a:picLocks noChangeAspect="1"/>
          </p:cNvPicPr>
          <p:nvPr/>
        </p:nvPicPr>
        <p:blipFill>
          <a:blip r:embed="rId19"/>
          <a:stretch>
            <a:fillRect/>
          </a:stretch>
        </p:blipFill>
        <p:spPr>
          <a:xfrm>
            <a:off x="10874974" y="5114903"/>
            <a:ext cx="1125109" cy="1336522"/>
          </a:xfrm>
          <a:prstGeom prst="rect">
            <a:avLst/>
          </a:prstGeom>
        </p:spPr>
      </p:pic>
      <p:cxnSp>
        <p:nvCxnSpPr>
          <p:cNvPr id="1078" name="Straight Arrow Connector 1077">
            <a:extLst>
              <a:ext uri="{FF2B5EF4-FFF2-40B4-BE49-F238E27FC236}">
                <a16:creationId xmlns:a16="http://schemas.microsoft.com/office/drawing/2014/main" id="{5AE65405-6BE8-0756-E802-749BB534671E}"/>
              </a:ext>
            </a:extLst>
          </p:cNvPr>
          <p:cNvCxnSpPr>
            <a:cxnSpLocks/>
          </p:cNvCxnSpPr>
          <p:nvPr/>
        </p:nvCxnSpPr>
        <p:spPr>
          <a:xfrm>
            <a:off x="10597221" y="3094511"/>
            <a:ext cx="38005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16CE50FF-1008-0950-3FB8-602F67E79F30}"/>
              </a:ext>
            </a:extLst>
          </p:cNvPr>
          <p:cNvGrpSpPr/>
          <p:nvPr/>
        </p:nvGrpSpPr>
        <p:grpSpPr>
          <a:xfrm>
            <a:off x="6159670" y="957941"/>
            <a:ext cx="1223708" cy="3907971"/>
            <a:chOff x="6714989" y="965168"/>
            <a:chExt cx="1223708" cy="3907971"/>
          </a:xfrm>
        </p:grpSpPr>
        <p:grpSp>
          <p:nvGrpSpPr>
            <p:cNvPr id="3" name="Group 2">
              <a:extLst>
                <a:ext uri="{FF2B5EF4-FFF2-40B4-BE49-F238E27FC236}">
                  <a16:creationId xmlns:a16="http://schemas.microsoft.com/office/drawing/2014/main" id="{74FB0356-3994-E976-4806-567098724670}"/>
                </a:ext>
              </a:extLst>
            </p:cNvPr>
            <p:cNvGrpSpPr/>
            <p:nvPr/>
          </p:nvGrpSpPr>
          <p:grpSpPr>
            <a:xfrm>
              <a:off x="6736297" y="965168"/>
              <a:ext cx="1202400" cy="3907971"/>
              <a:chOff x="8020379" y="957943"/>
              <a:chExt cx="1202400" cy="3907971"/>
            </a:xfrm>
          </p:grpSpPr>
          <p:sp>
            <p:nvSpPr>
              <p:cNvPr id="1064" name="Rectangle: Rounded Corners 1063">
                <a:extLst>
                  <a:ext uri="{FF2B5EF4-FFF2-40B4-BE49-F238E27FC236}">
                    <a16:creationId xmlns:a16="http://schemas.microsoft.com/office/drawing/2014/main" id="{94C6A36F-BD7A-0E2C-5E10-7A1137809199}"/>
                  </a:ext>
                </a:extLst>
              </p:cNvPr>
              <p:cNvSpPr/>
              <p:nvPr/>
            </p:nvSpPr>
            <p:spPr>
              <a:xfrm>
                <a:off x="8020379" y="957943"/>
                <a:ext cx="1202400" cy="3907971"/>
              </a:xfrm>
              <a:prstGeom prst="roundRect">
                <a:avLst/>
              </a:prstGeom>
              <a:solidFill>
                <a:schemeClr val="accent6">
                  <a:lumMod val="20000"/>
                  <a:lumOff val="80000"/>
                  <a:alpha val="32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65" name="Rectangle: Rounded Corners 1064">
                <a:extLst>
                  <a:ext uri="{FF2B5EF4-FFF2-40B4-BE49-F238E27FC236}">
                    <a16:creationId xmlns:a16="http://schemas.microsoft.com/office/drawing/2014/main" id="{8CC42887-6EBE-3E40-3790-DBABAF9EB450}"/>
                  </a:ext>
                </a:extLst>
              </p:cNvPr>
              <p:cNvSpPr/>
              <p:nvPr/>
            </p:nvSpPr>
            <p:spPr>
              <a:xfrm>
                <a:off x="8040030" y="1328464"/>
                <a:ext cx="1133405" cy="2262595"/>
              </a:xfrm>
              <a:prstGeom prst="roundRect">
                <a:avLst/>
              </a:prstGeom>
              <a:solidFill>
                <a:schemeClr val="bg1"/>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66" name="TextBox 1065">
                <a:extLst>
                  <a:ext uri="{FF2B5EF4-FFF2-40B4-BE49-F238E27FC236}">
                    <a16:creationId xmlns:a16="http://schemas.microsoft.com/office/drawing/2014/main" id="{6B7FBB57-E6CC-59F2-31E7-50E0A8C40384}"/>
                  </a:ext>
                </a:extLst>
              </p:cNvPr>
              <p:cNvSpPr txBox="1"/>
              <p:nvPr/>
            </p:nvSpPr>
            <p:spPr>
              <a:xfrm>
                <a:off x="8131255" y="963018"/>
                <a:ext cx="961958" cy="400110"/>
              </a:xfrm>
              <a:prstGeom prst="rect">
                <a:avLst/>
              </a:prstGeom>
              <a:noFill/>
            </p:spPr>
            <p:txBody>
              <a:bodyPr wrap="square" rtlCol="0">
                <a:spAutoFit/>
              </a:bodyPr>
              <a:lstStyle/>
              <a:p>
                <a:r>
                  <a:rPr lang="en-ZA" sz="1000" b="1" dirty="0">
                    <a:solidFill>
                      <a:schemeClr val="accent6"/>
                    </a:solidFill>
                    <a:latin typeface="Vodafone Medium" panose="020B0603020202020204" pitchFamily="34" charset="0"/>
                    <a:cs typeface="Vodafone Medium" panose="020B0603020202020204" pitchFamily="34" charset="0"/>
                  </a:rPr>
                  <a:t>5. Amazon S3 (Raw Zone)</a:t>
                </a:r>
              </a:p>
            </p:txBody>
          </p:sp>
          <p:pic>
            <p:nvPicPr>
              <p:cNvPr id="1067" name="Picture 8">
                <a:extLst>
                  <a:ext uri="{FF2B5EF4-FFF2-40B4-BE49-F238E27FC236}">
                    <a16:creationId xmlns:a16="http://schemas.microsoft.com/office/drawing/2014/main" id="{2373C74E-8D49-27CE-ACA2-DB5A2447613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449139" y="1385259"/>
                <a:ext cx="298390" cy="298390"/>
              </a:xfrm>
              <a:prstGeom prst="rect">
                <a:avLst/>
              </a:prstGeom>
              <a:noFill/>
              <a:extLst>
                <a:ext uri="{909E8E84-426E-40DD-AFC4-6F175D3DCCD1}">
                  <a14:hiddenFill xmlns:a14="http://schemas.microsoft.com/office/drawing/2010/main">
                    <a:solidFill>
                      <a:srgbClr val="FFFFFF"/>
                    </a:solidFill>
                  </a14:hiddenFill>
                </a:ext>
              </a:extLst>
            </p:spPr>
          </p:pic>
          <p:sp>
            <p:nvSpPr>
              <p:cNvPr id="1068" name="TextBox 1067">
                <a:extLst>
                  <a:ext uri="{FF2B5EF4-FFF2-40B4-BE49-F238E27FC236}">
                    <a16:creationId xmlns:a16="http://schemas.microsoft.com/office/drawing/2014/main" id="{7C43BF96-8F9A-2200-65E9-22E2D6B1BD7A}"/>
                  </a:ext>
                </a:extLst>
              </p:cNvPr>
              <p:cNvSpPr txBox="1"/>
              <p:nvPr/>
            </p:nvSpPr>
            <p:spPr>
              <a:xfrm>
                <a:off x="8070047" y="1759789"/>
                <a:ext cx="1133405" cy="184666"/>
              </a:xfrm>
              <a:prstGeom prst="rect">
                <a:avLst/>
              </a:prstGeom>
              <a:noFill/>
            </p:spPr>
            <p:txBody>
              <a:bodyPr wrap="square" rtlCol="0">
                <a:spAutoFit/>
              </a:bodyPr>
              <a:lstStyle/>
              <a:p>
                <a:r>
                  <a:rPr lang="en-ZA" sz="600" b="1" dirty="0">
                    <a:latin typeface="Vodafone Medium" panose="020B0603020202020204" pitchFamily="34" charset="0"/>
                    <a:cs typeface="Vodafone Medium" panose="020B0603020202020204" pitchFamily="34" charset="0"/>
                  </a:rPr>
                  <a:t>S3 Raw Bucket (Landing Zone)</a:t>
                </a:r>
              </a:p>
            </p:txBody>
          </p:sp>
          <p:sp>
            <p:nvSpPr>
              <p:cNvPr id="1069" name="Rectangle: Rounded Corners 1068">
                <a:extLst>
                  <a:ext uri="{FF2B5EF4-FFF2-40B4-BE49-F238E27FC236}">
                    <a16:creationId xmlns:a16="http://schemas.microsoft.com/office/drawing/2014/main" id="{0A7F55F0-DF58-B1D1-93F4-F4C4E70CC499}"/>
                  </a:ext>
                </a:extLst>
              </p:cNvPr>
              <p:cNvSpPr/>
              <p:nvPr/>
            </p:nvSpPr>
            <p:spPr>
              <a:xfrm>
                <a:off x="8053494" y="3682865"/>
                <a:ext cx="1119941" cy="1123743"/>
              </a:xfrm>
              <a:prstGeom prst="roundRect">
                <a:avLst/>
              </a:prstGeom>
              <a:solidFill>
                <a:schemeClr val="bg1"/>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grpSp>
        <p:sp>
          <p:nvSpPr>
            <p:cNvPr id="6" name="TextBox 5">
              <a:extLst>
                <a:ext uri="{FF2B5EF4-FFF2-40B4-BE49-F238E27FC236}">
                  <a16:creationId xmlns:a16="http://schemas.microsoft.com/office/drawing/2014/main" id="{9D2A6CFF-16D8-8C59-2B2C-97E90DE47F47}"/>
                </a:ext>
              </a:extLst>
            </p:cNvPr>
            <p:cNvSpPr txBox="1"/>
            <p:nvPr/>
          </p:nvSpPr>
          <p:spPr>
            <a:xfrm>
              <a:off x="6714989" y="3817511"/>
              <a:ext cx="1202400" cy="882737"/>
            </a:xfrm>
            <a:prstGeom prst="rect">
              <a:avLst/>
            </a:prstGeom>
            <a:noFill/>
          </p:spPr>
          <p:txBody>
            <a:bodyPr wrap="square" lIns="36000" tIns="36000" rIns="0" rtlCol="0">
              <a:spAutoFit/>
            </a:bodyPr>
            <a:lstStyle/>
            <a:p>
              <a:pPr marL="360000" indent="-285750">
                <a:buBlip>
                  <a:blip r:embed="rId21"/>
                </a:buBlip>
              </a:pPr>
              <a:r>
                <a:rPr lang="en-ZA" sz="400" dirty="0">
                  <a:latin typeface="Vodafone Medium" panose="020B0603020202020204" pitchFamily="34" charset="0"/>
                  <a:cs typeface="Vodafone Medium" panose="020B0603020202020204" pitchFamily="34" charset="0"/>
                </a:rPr>
                <a:t>Dev</a:t>
              </a:r>
            </a:p>
            <a:p>
              <a:pPr marL="360000" lvl="1" indent="-108000">
                <a:buBlip>
                  <a:blip r:embed="rId21"/>
                </a:buBlip>
              </a:pPr>
              <a:r>
                <a:rPr lang="en-ZA" sz="400" dirty="0">
                  <a:latin typeface="Vodafone Medium" panose="020B0603020202020204" pitchFamily="34" charset="0"/>
                  <a:cs typeface="Vodafone Medium" panose="020B0603020202020204" pitchFamily="34" charset="0"/>
                </a:rPr>
                <a:t>Landing</a:t>
              </a:r>
            </a:p>
            <a:p>
              <a:pPr marL="468000" lvl="3" indent="-108000">
                <a:buBlip>
                  <a:blip r:embed="rId21"/>
                </a:buBlip>
              </a:pPr>
              <a:r>
                <a:rPr lang="en-ZA" sz="400" dirty="0">
                  <a:latin typeface="Vodafone Medium" panose="020B0603020202020204" pitchFamily="34" charset="0"/>
                  <a:cs typeface="Vodafone Medium" panose="020B0603020202020204" pitchFamily="34" charset="0"/>
                </a:rPr>
                <a:t>2026</a:t>
              </a:r>
            </a:p>
            <a:p>
              <a:pPr marL="576000" lvl="4" indent="-108000">
                <a:buBlip>
                  <a:blip r:embed="rId21"/>
                </a:buBlip>
              </a:pPr>
              <a:r>
                <a:rPr lang="en-ZA" sz="400" dirty="0">
                  <a:latin typeface="Vodafone Medium" panose="020B0603020202020204" pitchFamily="34" charset="0"/>
                  <a:cs typeface="Vodafone Medium" panose="020B0603020202020204" pitchFamily="34" charset="0"/>
                </a:rPr>
                <a:t>May</a:t>
              </a:r>
            </a:p>
            <a:p>
              <a:pPr marL="720000" lvl="3" indent="-108000">
                <a:buBlip>
                  <a:blip r:embed="rId21"/>
                </a:buBlip>
              </a:pPr>
              <a:r>
                <a:rPr lang="en-ZA" sz="400" dirty="0">
                  <a:latin typeface="Vodafone Medium" panose="020B0603020202020204" pitchFamily="34" charset="0"/>
                  <a:cs typeface="Vodafone Medium" panose="020B0603020202020204" pitchFamily="34" charset="0"/>
                </a:rPr>
                <a:t>05</a:t>
              </a:r>
            </a:p>
            <a:p>
              <a:pPr marL="720000" lvl="3" indent="-108000">
                <a:buBlip>
                  <a:blip r:embed="rId21"/>
                </a:buBlip>
              </a:pPr>
              <a:r>
                <a:rPr lang="en-ZA" sz="400" dirty="0">
                  <a:latin typeface="Vodafone Medium" panose="020B0603020202020204" pitchFamily="34" charset="0"/>
                  <a:cs typeface="Vodafone Medium" panose="020B0603020202020204" pitchFamily="34" charset="0"/>
                </a:rPr>
                <a:t>06</a:t>
              </a:r>
            </a:p>
            <a:p>
              <a:pPr marL="720000" lvl="3" indent="-108000">
                <a:buBlip>
                  <a:blip r:embed="rId21"/>
                </a:buBlip>
              </a:pPr>
              <a:r>
                <a:rPr lang="en-ZA" sz="400" dirty="0">
                  <a:latin typeface="Vodafone Medium" panose="020B0603020202020204" pitchFamily="34" charset="0"/>
                  <a:cs typeface="Vodafone Medium" panose="020B0603020202020204" pitchFamily="34" charset="0"/>
                </a:rPr>
                <a:t>07</a:t>
              </a:r>
            </a:p>
            <a:p>
              <a:pPr marL="855450" lvl="3" indent="-171450">
                <a:buBlip>
                  <a:blip r:embed="rId22"/>
                </a:buBlip>
              </a:pPr>
              <a:r>
                <a:rPr lang="en-ZA" sz="400" dirty="0">
                  <a:latin typeface="Vodafone Medium" panose="020B0603020202020204" pitchFamily="34" charset="0"/>
                  <a:cs typeface="Vodafone Medium" panose="020B0603020202020204" pitchFamily="34" charset="0"/>
                </a:rPr>
                <a:t>event1.json</a:t>
              </a:r>
            </a:p>
            <a:p>
              <a:pPr marL="855450" lvl="3" indent="-171450">
                <a:buBlip>
                  <a:blip r:embed="rId22"/>
                </a:buBlip>
              </a:pPr>
              <a:r>
                <a:rPr lang="en-ZA" sz="400" dirty="0">
                  <a:latin typeface="Vodafone Medium" panose="020B0603020202020204" pitchFamily="34" charset="0"/>
                  <a:cs typeface="Vodafone Medium" panose="020B0603020202020204" pitchFamily="34" charset="0"/>
                </a:rPr>
                <a:t>event2.json</a:t>
              </a:r>
            </a:p>
            <a:p>
              <a:pPr marL="855450" lvl="3" indent="-171450">
                <a:buBlip>
                  <a:blip r:embed="rId22"/>
                </a:buBlip>
              </a:pPr>
              <a:r>
                <a:rPr lang="en-ZA" sz="400" dirty="0">
                  <a:latin typeface="Vodafone Medium" panose="020B0603020202020204" pitchFamily="34" charset="0"/>
                  <a:cs typeface="Vodafone Medium" panose="020B0603020202020204" pitchFamily="34" charset="0"/>
                </a:rPr>
                <a:t>event3.json</a:t>
              </a:r>
            </a:p>
            <a:p>
              <a:pPr marL="612000" lvl="2" indent="-108000">
                <a:buBlip>
                  <a:blip r:embed="rId21"/>
                </a:buBlip>
              </a:pPr>
              <a:r>
                <a:rPr lang="en-ZA" sz="400" dirty="0">
                  <a:latin typeface="Vodafone Medium" panose="020B0603020202020204" pitchFamily="34" charset="0"/>
                  <a:cs typeface="Vodafone Medium" panose="020B0603020202020204" pitchFamily="34" charset="0"/>
                </a:rPr>
                <a:t>June</a:t>
              </a:r>
            </a:p>
            <a:p>
              <a:pPr marL="612000" lvl="2" indent="-108000">
                <a:buBlip>
                  <a:blip r:embed="rId21"/>
                </a:buBlip>
              </a:pPr>
              <a:r>
                <a:rPr lang="en-ZA" sz="400" dirty="0">
                  <a:latin typeface="Vodafone Medium" panose="020B0603020202020204" pitchFamily="34" charset="0"/>
                  <a:cs typeface="Vodafone Medium" panose="020B0603020202020204" pitchFamily="34" charset="0"/>
                </a:rPr>
                <a:t>July</a:t>
              </a:r>
            </a:p>
            <a:p>
              <a:pPr marL="360000" indent="-285750">
                <a:buBlip>
                  <a:blip r:embed="rId21"/>
                </a:buBlip>
              </a:pPr>
              <a:r>
                <a:rPr lang="en-ZA" sz="400" dirty="0">
                  <a:latin typeface="Vodafone Medium" panose="020B0603020202020204" pitchFamily="34" charset="0"/>
                  <a:cs typeface="Vodafone Medium" panose="020B0603020202020204" pitchFamily="34" charset="0"/>
                </a:rPr>
                <a:t>Production</a:t>
              </a:r>
            </a:p>
          </p:txBody>
        </p:sp>
      </p:grpSp>
      <p:cxnSp>
        <p:nvCxnSpPr>
          <p:cNvPr id="1061" name="Straight Arrow Connector 1060">
            <a:extLst>
              <a:ext uri="{FF2B5EF4-FFF2-40B4-BE49-F238E27FC236}">
                <a16:creationId xmlns:a16="http://schemas.microsoft.com/office/drawing/2014/main" id="{AAF96218-4ED0-900B-4CA8-5C463FE733B5}"/>
              </a:ext>
            </a:extLst>
          </p:cNvPr>
          <p:cNvCxnSpPr>
            <a:cxnSpLocks/>
          </p:cNvCxnSpPr>
          <p:nvPr/>
        </p:nvCxnSpPr>
        <p:spPr>
          <a:xfrm>
            <a:off x="5925677" y="3117656"/>
            <a:ext cx="323689"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720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E80FC77-F3DD-4005-825B-7466A3FA6E2E}"/>
              </a:ext>
            </a:extLst>
          </p:cNvPr>
          <p:cNvSpPr>
            <a:spLocks noGrp="1"/>
          </p:cNvSpPr>
          <p:nvPr/>
        </p:nvSpPr>
        <p:spPr>
          <a:xfrm>
            <a:off x="0" y="0"/>
            <a:ext cx="7239000" cy="6858000"/>
          </a:xfrm>
          <a:prstGeom prst="rect">
            <a:avLst/>
          </a:prstGeom>
          <a:solidFill>
            <a:srgbClr val="F4F1EE"/>
          </a:solidFill>
          <a:ln w="0">
            <a:noFill/>
            <a:prstDash val="solid"/>
          </a:ln>
        </p:spPr>
        <p:txBody>
          <a:bodyPr/>
          <a:lstStyle/>
          <a:p>
            <a:endParaRPr lang="en-ZA"/>
          </a:p>
        </p:txBody>
      </p:sp>
      <p:sp>
        <p:nvSpPr>
          <p:cNvPr id="2" name="Rectangle 1">
            <a:extLst>
              <a:ext uri="{FF2B5EF4-FFF2-40B4-BE49-F238E27FC236}">
                <a16:creationId xmlns:a16="http://schemas.microsoft.com/office/drawing/2014/main" id="{B012D799-38B8-4D2A-A4C0-594009D50E08}"/>
              </a:ext>
            </a:extLst>
          </p:cNvPr>
          <p:cNvSpPr>
            <a:spLocks noGrp="1"/>
          </p:cNvSpPr>
          <p:nvPr/>
        </p:nvSpPr>
        <p:spPr>
          <a:xfrm>
            <a:off x="7239000" y="0"/>
            <a:ext cx="4953000" cy="6858000"/>
          </a:xfrm>
          <a:prstGeom prst="rect">
            <a:avLst/>
          </a:prstGeom>
          <a:solidFill>
            <a:srgbClr val="E60000"/>
          </a:solidFill>
          <a:ln w="0">
            <a:noFill/>
            <a:prstDash val="solid"/>
          </a:ln>
        </p:spPr>
        <p:txBody>
          <a:bodyPr/>
          <a:lstStyle/>
          <a:p>
            <a:endParaRPr lang="en-ZA"/>
          </a:p>
        </p:txBody>
      </p:sp>
      <p:sp>
        <p:nvSpPr>
          <p:cNvPr id="3" name="Rectangle: Rounded Corners 2">
            <a:extLst>
              <a:ext uri="{FF2B5EF4-FFF2-40B4-BE49-F238E27FC236}">
                <a16:creationId xmlns:a16="http://schemas.microsoft.com/office/drawing/2014/main" id="{DD263B3E-5E27-44F7-A4A4-9F60C8895309}"/>
              </a:ext>
            </a:extLst>
          </p:cNvPr>
          <p:cNvSpPr>
            <a:spLocks noGrp="1"/>
          </p:cNvSpPr>
          <p:nvPr/>
        </p:nvSpPr>
        <p:spPr>
          <a:xfrm>
            <a:off x="628650" y="476250"/>
            <a:ext cx="1524000" cy="285750"/>
          </a:xfrm>
          <a:prstGeom prst="roundRect">
            <a:avLst>
              <a:gd name="adj" fmla="val 40000"/>
            </a:avLst>
          </a:prstGeom>
          <a:solidFill>
            <a:srgbClr val="0B0B0C"/>
          </a:solidFill>
          <a:ln w="0">
            <a:noFill/>
            <a:prstDash val="solid"/>
          </a:ln>
        </p:spPr>
        <p:txBody>
          <a:bodyPr/>
          <a:lstStyle/>
          <a:p>
            <a:endParaRPr lang="en-ZA"/>
          </a:p>
        </p:txBody>
      </p:sp>
      <p:sp>
        <p:nvSpPr>
          <p:cNvPr id="4" name="Rectangle 3">
            <a:extLst>
              <a:ext uri="{FF2B5EF4-FFF2-40B4-BE49-F238E27FC236}">
                <a16:creationId xmlns:a16="http://schemas.microsoft.com/office/drawing/2014/main" id="{44121356-66A6-46BF-8014-6EC18DD5BA21}"/>
              </a:ext>
            </a:extLst>
          </p:cNvPr>
          <p:cNvSpPr>
            <a:spLocks noGrp="1"/>
          </p:cNvSpPr>
          <p:nvPr/>
        </p:nvSpPr>
        <p:spPr>
          <a:xfrm>
            <a:off x="628650" y="476250"/>
            <a:ext cx="152400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THE TRADE-OFF</a:t>
            </a:r>
          </a:p>
        </p:txBody>
      </p:sp>
      <p:sp>
        <p:nvSpPr>
          <p:cNvPr id="5" name="Rectangle 4">
            <a:extLst>
              <a:ext uri="{FF2B5EF4-FFF2-40B4-BE49-F238E27FC236}">
                <a16:creationId xmlns:a16="http://schemas.microsoft.com/office/drawing/2014/main" id="{69D6C43D-E2C5-47E1-84A4-7F46F1AC5E2E}"/>
              </a:ext>
            </a:extLst>
          </p:cNvPr>
          <p:cNvSpPr>
            <a:spLocks noGrp="1"/>
          </p:cNvSpPr>
          <p:nvPr/>
        </p:nvSpPr>
        <p:spPr>
          <a:xfrm>
            <a:off x="628650" y="914400"/>
            <a:ext cx="6191250" cy="1000125"/>
          </a:xfrm>
          <a:prstGeom prst="rect">
            <a:avLst/>
          </a:prstGeom>
          <a:noFill/>
          <a:ln w="0">
            <a:noFill/>
            <a:prstDash val="solid"/>
          </a:ln>
        </p:spPr>
        <p:txBody>
          <a:bodyPr anchor="ctr"/>
          <a:lstStyle/>
          <a:p>
            <a:pPr algn="l">
              <a:defRPr sz="3000" b="1">
                <a:solidFill>
                  <a:srgbClr val="171719"/>
                </a:solidFill>
              </a:defRPr>
            </a:pPr>
            <a:r>
              <a:rPr sz="3000" b="1">
                <a:solidFill>
                  <a:srgbClr val="171719"/>
                </a:solidFill>
              </a:rPr>
              <a:t>Control creates value.</a:t>
            </a:r>
          </a:p>
          <a:p>
            <a:pPr algn="l">
              <a:defRPr sz="3000" b="1">
                <a:solidFill>
                  <a:srgbClr val="171719"/>
                </a:solidFill>
              </a:defRPr>
            </a:pPr>
            <a:r>
              <a:rPr sz="3000" b="1">
                <a:solidFill>
                  <a:srgbClr val="171719"/>
                </a:solidFill>
              </a:rPr>
              <a:t>Ownership creates work.</a:t>
            </a:r>
          </a:p>
        </p:txBody>
      </p:sp>
      <p:sp>
        <p:nvSpPr>
          <p:cNvPr id="6" name="Rectangle 5">
            <a:extLst>
              <a:ext uri="{FF2B5EF4-FFF2-40B4-BE49-F238E27FC236}">
                <a16:creationId xmlns:a16="http://schemas.microsoft.com/office/drawing/2014/main" id="{31FEB029-195D-43AB-8E24-BABC8C3E26BD}"/>
              </a:ext>
            </a:extLst>
          </p:cNvPr>
          <p:cNvSpPr>
            <a:spLocks noGrp="1"/>
          </p:cNvSpPr>
          <p:nvPr/>
        </p:nvSpPr>
        <p:spPr>
          <a:xfrm>
            <a:off x="628650" y="2343150"/>
            <a:ext cx="2476500" cy="266700"/>
          </a:xfrm>
          <a:prstGeom prst="rect">
            <a:avLst/>
          </a:prstGeom>
          <a:noFill/>
          <a:ln w="0">
            <a:noFill/>
            <a:prstDash val="solid"/>
          </a:ln>
        </p:spPr>
        <p:txBody>
          <a:bodyPr anchor="ctr"/>
          <a:lstStyle/>
          <a:p>
            <a:pPr algn="l">
              <a:defRPr sz="1350" b="1">
                <a:solidFill>
                  <a:srgbClr val="E60000"/>
                </a:solidFill>
              </a:defRPr>
            </a:pPr>
            <a:r>
              <a:rPr sz="1350" b="1">
                <a:solidFill>
                  <a:srgbClr val="E60000"/>
                </a:solidFill>
              </a:rPr>
              <a:t>WHAT WE GAIN</a:t>
            </a:r>
          </a:p>
        </p:txBody>
      </p:sp>
      <p:sp>
        <p:nvSpPr>
          <p:cNvPr id="7" name="Rectangle 6">
            <a:extLst>
              <a:ext uri="{FF2B5EF4-FFF2-40B4-BE49-F238E27FC236}">
                <a16:creationId xmlns:a16="http://schemas.microsoft.com/office/drawing/2014/main" id="{AD55C323-544F-4373-9444-BEBC99FF1DAF}"/>
              </a:ext>
            </a:extLst>
          </p:cNvPr>
          <p:cNvSpPr>
            <a:spLocks noGrp="1"/>
          </p:cNvSpPr>
          <p:nvPr/>
        </p:nvSpPr>
        <p:spPr>
          <a:xfrm>
            <a:off x="628650" y="2781300"/>
            <a:ext cx="285750" cy="323850"/>
          </a:xfrm>
          <a:prstGeom prst="rect">
            <a:avLst/>
          </a:prstGeom>
          <a:noFill/>
          <a:ln w="0">
            <a:noFill/>
            <a:prstDash val="solid"/>
          </a:ln>
        </p:spPr>
        <p:txBody>
          <a:bodyPr anchor="ctr"/>
          <a:lstStyle/>
          <a:p>
            <a:pPr algn="l">
              <a:defRPr sz="2025" b="1">
                <a:solidFill>
                  <a:srgbClr val="E60000"/>
                </a:solidFill>
              </a:defRPr>
            </a:pPr>
            <a:r>
              <a:rPr sz="2025" b="1">
                <a:solidFill>
                  <a:srgbClr val="E60000"/>
                </a:solidFill>
              </a:rPr>
              <a:t>+</a:t>
            </a:r>
          </a:p>
        </p:txBody>
      </p:sp>
      <p:sp>
        <p:nvSpPr>
          <p:cNvPr id="8" name="Rectangle 7">
            <a:extLst>
              <a:ext uri="{FF2B5EF4-FFF2-40B4-BE49-F238E27FC236}">
                <a16:creationId xmlns:a16="http://schemas.microsoft.com/office/drawing/2014/main" id="{790F43B5-D18C-4FE4-9C4E-7A0CD258B026}"/>
              </a:ext>
            </a:extLst>
          </p:cNvPr>
          <p:cNvSpPr>
            <a:spLocks noGrp="1"/>
          </p:cNvSpPr>
          <p:nvPr/>
        </p:nvSpPr>
        <p:spPr>
          <a:xfrm>
            <a:off x="1066800" y="2781300"/>
            <a:ext cx="5381625" cy="323850"/>
          </a:xfrm>
          <a:prstGeom prst="rect">
            <a:avLst/>
          </a:prstGeom>
          <a:noFill/>
          <a:ln w="0">
            <a:noFill/>
            <a:prstDash val="solid"/>
          </a:ln>
        </p:spPr>
        <p:txBody>
          <a:bodyPr anchor="ctr"/>
          <a:lstStyle/>
          <a:p>
            <a:pPr algn="l">
              <a:defRPr sz="1500" b="1">
                <a:solidFill>
                  <a:srgbClr val="171719"/>
                </a:solidFill>
              </a:defRPr>
            </a:pPr>
            <a:r>
              <a:rPr sz="1500" b="1">
                <a:solidFill>
                  <a:srgbClr val="171719"/>
                </a:solidFill>
              </a:rPr>
              <a:t>Consumption-based cost</a:t>
            </a:r>
          </a:p>
        </p:txBody>
      </p:sp>
      <p:sp>
        <p:nvSpPr>
          <p:cNvPr id="9" name="Rectangle 8">
            <a:extLst>
              <a:ext uri="{FF2B5EF4-FFF2-40B4-BE49-F238E27FC236}">
                <a16:creationId xmlns:a16="http://schemas.microsoft.com/office/drawing/2014/main" id="{7F5D5348-735F-4B38-A7C1-5FCAF7D38F18}"/>
              </a:ext>
            </a:extLst>
          </p:cNvPr>
          <p:cNvSpPr>
            <a:spLocks noGrp="1"/>
          </p:cNvSpPr>
          <p:nvPr/>
        </p:nvSpPr>
        <p:spPr>
          <a:xfrm>
            <a:off x="628650" y="3352800"/>
            <a:ext cx="285750" cy="323850"/>
          </a:xfrm>
          <a:prstGeom prst="rect">
            <a:avLst/>
          </a:prstGeom>
          <a:noFill/>
          <a:ln w="0">
            <a:noFill/>
            <a:prstDash val="solid"/>
          </a:ln>
        </p:spPr>
        <p:txBody>
          <a:bodyPr anchor="ctr"/>
          <a:lstStyle/>
          <a:p>
            <a:pPr algn="l">
              <a:defRPr sz="2025" b="1">
                <a:solidFill>
                  <a:srgbClr val="E60000"/>
                </a:solidFill>
              </a:defRPr>
            </a:pPr>
            <a:r>
              <a:rPr sz="2025" b="1">
                <a:solidFill>
                  <a:srgbClr val="E60000"/>
                </a:solidFill>
              </a:rPr>
              <a:t>+</a:t>
            </a:r>
          </a:p>
        </p:txBody>
      </p:sp>
      <p:sp>
        <p:nvSpPr>
          <p:cNvPr id="10" name="Rectangle 9">
            <a:extLst>
              <a:ext uri="{FF2B5EF4-FFF2-40B4-BE49-F238E27FC236}">
                <a16:creationId xmlns:a16="http://schemas.microsoft.com/office/drawing/2014/main" id="{EDC64D68-F558-4464-A66E-0EEB1588F0F7}"/>
              </a:ext>
            </a:extLst>
          </p:cNvPr>
          <p:cNvSpPr>
            <a:spLocks noGrp="1"/>
          </p:cNvSpPr>
          <p:nvPr/>
        </p:nvSpPr>
        <p:spPr>
          <a:xfrm>
            <a:off x="1066800" y="3352800"/>
            <a:ext cx="5381625" cy="323850"/>
          </a:xfrm>
          <a:prstGeom prst="rect">
            <a:avLst/>
          </a:prstGeom>
          <a:noFill/>
          <a:ln w="0">
            <a:noFill/>
            <a:prstDash val="solid"/>
          </a:ln>
        </p:spPr>
        <p:txBody>
          <a:bodyPr anchor="ctr"/>
          <a:lstStyle/>
          <a:p>
            <a:pPr algn="l">
              <a:defRPr sz="1500" b="1">
                <a:solidFill>
                  <a:srgbClr val="171719"/>
                </a:solidFill>
              </a:defRPr>
            </a:pPr>
            <a:r>
              <a:rPr sz="1500" b="1">
                <a:solidFill>
                  <a:srgbClr val="171719"/>
                </a:solidFill>
              </a:rPr>
              <a:t>Control of raw behavioural data</a:t>
            </a:r>
          </a:p>
        </p:txBody>
      </p:sp>
      <p:sp>
        <p:nvSpPr>
          <p:cNvPr id="11" name="Rectangle 10">
            <a:extLst>
              <a:ext uri="{FF2B5EF4-FFF2-40B4-BE49-F238E27FC236}">
                <a16:creationId xmlns:a16="http://schemas.microsoft.com/office/drawing/2014/main" id="{01A9F816-DBAD-4B29-9EAA-900E2FD6A9B6}"/>
              </a:ext>
            </a:extLst>
          </p:cNvPr>
          <p:cNvSpPr>
            <a:spLocks noGrp="1"/>
          </p:cNvSpPr>
          <p:nvPr/>
        </p:nvSpPr>
        <p:spPr>
          <a:xfrm>
            <a:off x="628650" y="3924300"/>
            <a:ext cx="285750" cy="323850"/>
          </a:xfrm>
          <a:prstGeom prst="rect">
            <a:avLst/>
          </a:prstGeom>
          <a:noFill/>
          <a:ln w="0">
            <a:noFill/>
            <a:prstDash val="solid"/>
          </a:ln>
        </p:spPr>
        <p:txBody>
          <a:bodyPr anchor="ctr"/>
          <a:lstStyle/>
          <a:p>
            <a:pPr algn="l">
              <a:defRPr sz="2025" b="1">
                <a:solidFill>
                  <a:srgbClr val="E60000"/>
                </a:solidFill>
              </a:defRPr>
            </a:pPr>
            <a:r>
              <a:rPr sz="2025" b="1">
                <a:solidFill>
                  <a:srgbClr val="E60000"/>
                </a:solidFill>
              </a:rPr>
              <a:t>+</a:t>
            </a:r>
          </a:p>
        </p:txBody>
      </p:sp>
      <p:sp>
        <p:nvSpPr>
          <p:cNvPr id="12" name="Rectangle 11">
            <a:extLst>
              <a:ext uri="{FF2B5EF4-FFF2-40B4-BE49-F238E27FC236}">
                <a16:creationId xmlns:a16="http://schemas.microsoft.com/office/drawing/2014/main" id="{6D3C3CE4-FFAE-49E2-8A6A-C7C6BEF33860}"/>
              </a:ext>
            </a:extLst>
          </p:cNvPr>
          <p:cNvSpPr>
            <a:spLocks noGrp="1"/>
          </p:cNvSpPr>
          <p:nvPr/>
        </p:nvSpPr>
        <p:spPr>
          <a:xfrm>
            <a:off x="1066800" y="3924300"/>
            <a:ext cx="5381625" cy="323850"/>
          </a:xfrm>
          <a:prstGeom prst="rect">
            <a:avLst/>
          </a:prstGeom>
          <a:noFill/>
          <a:ln w="0">
            <a:noFill/>
            <a:prstDash val="solid"/>
          </a:ln>
        </p:spPr>
        <p:txBody>
          <a:bodyPr anchor="ctr"/>
          <a:lstStyle/>
          <a:p>
            <a:pPr algn="l">
              <a:defRPr sz="1500" b="1">
                <a:solidFill>
                  <a:srgbClr val="171719"/>
                </a:solidFill>
              </a:defRPr>
            </a:pPr>
            <a:r>
              <a:rPr sz="1500" b="1">
                <a:solidFill>
                  <a:srgbClr val="171719"/>
                </a:solidFill>
              </a:rPr>
              <a:t>SQL, Python and flexible BI</a:t>
            </a:r>
          </a:p>
        </p:txBody>
      </p:sp>
      <p:sp>
        <p:nvSpPr>
          <p:cNvPr id="13" name="Rectangle 12">
            <a:extLst>
              <a:ext uri="{FF2B5EF4-FFF2-40B4-BE49-F238E27FC236}">
                <a16:creationId xmlns:a16="http://schemas.microsoft.com/office/drawing/2014/main" id="{35FC94BF-A2BC-4248-9232-543CF4C2E46C}"/>
              </a:ext>
            </a:extLst>
          </p:cNvPr>
          <p:cNvSpPr>
            <a:spLocks noGrp="1"/>
          </p:cNvSpPr>
          <p:nvPr/>
        </p:nvSpPr>
        <p:spPr>
          <a:xfrm>
            <a:off x="628650" y="4495800"/>
            <a:ext cx="285750" cy="323850"/>
          </a:xfrm>
          <a:prstGeom prst="rect">
            <a:avLst/>
          </a:prstGeom>
          <a:noFill/>
          <a:ln w="0">
            <a:noFill/>
            <a:prstDash val="solid"/>
          </a:ln>
        </p:spPr>
        <p:txBody>
          <a:bodyPr anchor="ctr"/>
          <a:lstStyle/>
          <a:p>
            <a:pPr algn="l">
              <a:defRPr sz="2025" b="1">
                <a:solidFill>
                  <a:srgbClr val="E60000"/>
                </a:solidFill>
              </a:defRPr>
            </a:pPr>
            <a:r>
              <a:rPr sz="2025" b="1">
                <a:solidFill>
                  <a:srgbClr val="E60000"/>
                </a:solidFill>
              </a:rPr>
              <a:t>+</a:t>
            </a:r>
          </a:p>
        </p:txBody>
      </p:sp>
      <p:sp>
        <p:nvSpPr>
          <p:cNvPr id="14" name="Rectangle 13">
            <a:extLst>
              <a:ext uri="{FF2B5EF4-FFF2-40B4-BE49-F238E27FC236}">
                <a16:creationId xmlns:a16="http://schemas.microsoft.com/office/drawing/2014/main" id="{1752F777-6228-4289-A89F-720CF120B14B}"/>
              </a:ext>
            </a:extLst>
          </p:cNvPr>
          <p:cNvSpPr>
            <a:spLocks noGrp="1"/>
          </p:cNvSpPr>
          <p:nvPr/>
        </p:nvSpPr>
        <p:spPr>
          <a:xfrm>
            <a:off x="1066800" y="4495800"/>
            <a:ext cx="5381625" cy="323850"/>
          </a:xfrm>
          <a:prstGeom prst="rect">
            <a:avLst/>
          </a:prstGeom>
          <a:noFill/>
          <a:ln w="0">
            <a:noFill/>
            <a:prstDash val="solid"/>
          </a:ln>
        </p:spPr>
        <p:txBody>
          <a:bodyPr anchor="ctr"/>
          <a:lstStyle/>
          <a:p>
            <a:pPr algn="l">
              <a:defRPr sz="1500" b="1">
                <a:solidFill>
                  <a:srgbClr val="171719"/>
                </a:solidFill>
              </a:defRPr>
            </a:pPr>
            <a:r>
              <a:rPr sz="1500" b="1">
                <a:solidFill>
                  <a:srgbClr val="171719"/>
                </a:solidFill>
              </a:rPr>
              <a:t>Reusable data for ML + personalisation</a:t>
            </a:r>
          </a:p>
        </p:txBody>
      </p:sp>
      <p:sp>
        <p:nvSpPr>
          <p:cNvPr id="15" name="Rectangle 14">
            <a:extLst>
              <a:ext uri="{FF2B5EF4-FFF2-40B4-BE49-F238E27FC236}">
                <a16:creationId xmlns:a16="http://schemas.microsoft.com/office/drawing/2014/main" id="{F1E31396-D151-4D30-85AB-3A15DEA98A58}"/>
              </a:ext>
            </a:extLst>
          </p:cNvPr>
          <p:cNvSpPr>
            <a:spLocks noGrp="1"/>
          </p:cNvSpPr>
          <p:nvPr/>
        </p:nvSpPr>
        <p:spPr>
          <a:xfrm>
            <a:off x="7677150" y="742950"/>
            <a:ext cx="3524250" cy="28575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WHAT WE TAKE ON</a:t>
            </a:r>
          </a:p>
        </p:txBody>
      </p:sp>
      <p:sp>
        <p:nvSpPr>
          <p:cNvPr id="16" name="Rectangle 15">
            <a:extLst>
              <a:ext uri="{FF2B5EF4-FFF2-40B4-BE49-F238E27FC236}">
                <a16:creationId xmlns:a16="http://schemas.microsoft.com/office/drawing/2014/main" id="{23987D61-74E8-46C0-AB74-E04DBAB3FEEF}"/>
              </a:ext>
            </a:extLst>
          </p:cNvPr>
          <p:cNvSpPr>
            <a:spLocks noGrp="1"/>
          </p:cNvSpPr>
          <p:nvPr/>
        </p:nvSpPr>
        <p:spPr>
          <a:xfrm>
            <a:off x="7677150" y="1162050"/>
            <a:ext cx="3714750" cy="876300"/>
          </a:xfrm>
          <a:prstGeom prst="rect">
            <a:avLst/>
          </a:prstGeom>
          <a:noFill/>
          <a:ln w="0">
            <a:noFill/>
            <a:prstDash val="solid"/>
          </a:ln>
        </p:spPr>
        <p:txBody>
          <a:bodyPr anchor="ctr"/>
          <a:lstStyle/>
          <a:p>
            <a:pPr algn="l">
              <a:defRPr sz="2550" b="1">
                <a:solidFill>
                  <a:srgbClr val="FFFFFF"/>
                </a:solidFill>
              </a:defRPr>
            </a:pPr>
            <a:r>
              <a:rPr sz="2550" b="1">
                <a:solidFill>
                  <a:srgbClr val="FFFFFF"/>
                </a:solidFill>
              </a:rPr>
              <a:t>A capability,</a:t>
            </a:r>
          </a:p>
          <a:p>
            <a:pPr algn="l">
              <a:defRPr sz="2550" b="1">
                <a:solidFill>
                  <a:srgbClr val="FFFFFF"/>
                </a:solidFill>
              </a:defRPr>
            </a:pPr>
            <a:r>
              <a:rPr sz="2550" b="1">
                <a:solidFill>
                  <a:srgbClr val="FFFFFF"/>
                </a:solidFill>
              </a:rPr>
              <a:t>not just a platform.</a:t>
            </a:r>
          </a:p>
        </p:txBody>
      </p:sp>
      <p:sp>
        <p:nvSpPr>
          <p:cNvPr id="17" name="Rectangle 16">
            <a:extLst>
              <a:ext uri="{FF2B5EF4-FFF2-40B4-BE49-F238E27FC236}">
                <a16:creationId xmlns:a16="http://schemas.microsoft.com/office/drawing/2014/main" id="{F913FC8C-3349-4943-88AC-F8270102A57B}"/>
              </a:ext>
            </a:extLst>
          </p:cNvPr>
          <p:cNvSpPr>
            <a:spLocks noGrp="1"/>
          </p:cNvSpPr>
          <p:nvPr/>
        </p:nvSpPr>
        <p:spPr>
          <a:xfrm>
            <a:off x="7696200" y="2600325"/>
            <a:ext cx="323850" cy="285750"/>
          </a:xfrm>
          <a:prstGeom prst="rect">
            <a:avLst/>
          </a:prstGeom>
          <a:noFill/>
          <a:ln w="0">
            <a:noFill/>
            <a:prstDash val="solid"/>
          </a:ln>
        </p:spPr>
        <p:txBody>
          <a:bodyPr anchor="ctr"/>
          <a:lstStyle/>
          <a:p>
            <a:pPr algn="l">
              <a:defRPr sz="1125" b="1">
                <a:solidFill>
                  <a:srgbClr val="FFB5B5"/>
                </a:solidFill>
              </a:defRPr>
            </a:pPr>
            <a:r>
              <a:rPr sz="1125" b="1">
                <a:solidFill>
                  <a:srgbClr val="FFB5B5"/>
                </a:solidFill>
              </a:rPr>
              <a:t>01</a:t>
            </a:r>
          </a:p>
        </p:txBody>
      </p:sp>
      <p:sp>
        <p:nvSpPr>
          <p:cNvPr id="18" name="Rectangle 17">
            <a:extLst>
              <a:ext uri="{FF2B5EF4-FFF2-40B4-BE49-F238E27FC236}">
                <a16:creationId xmlns:a16="http://schemas.microsoft.com/office/drawing/2014/main" id="{39976C63-A742-413B-856E-E52956317946}"/>
              </a:ext>
            </a:extLst>
          </p:cNvPr>
          <p:cNvSpPr>
            <a:spLocks noGrp="1"/>
          </p:cNvSpPr>
          <p:nvPr/>
        </p:nvSpPr>
        <p:spPr>
          <a:xfrm>
            <a:off x="8172450" y="2600325"/>
            <a:ext cx="3143250" cy="2857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Engineering + DevOps</a:t>
            </a:r>
          </a:p>
        </p:txBody>
      </p:sp>
      <p:sp>
        <p:nvSpPr>
          <p:cNvPr id="19" name="Rectangle 18">
            <a:extLst>
              <a:ext uri="{FF2B5EF4-FFF2-40B4-BE49-F238E27FC236}">
                <a16:creationId xmlns:a16="http://schemas.microsoft.com/office/drawing/2014/main" id="{E98767E7-52E8-4442-B9A6-0CE1D7AABD32}"/>
              </a:ext>
            </a:extLst>
          </p:cNvPr>
          <p:cNvSpPr>
            <a:spLocks noGrp="1"/>
          </p:cNvSpPr>
          <p:nvPr/>
        </p:nvSpPr>
        <p:spPr>
          <a:xfrm>
            <a:off x="7696200" y="3009900"/>
            <a:ext cx="3619500" cy="9525"/>
          </a:xfrm>
          <a:prstGeom prst="rect">
            <a:avLst/>
          </a:prstGeom>
          <a:solidFill>
            <a:srgbClr val="F25555"/>
          </a:solidFill>
          <a:ln w="0">
            <a:noFill/>
            <a:prstDash val="solid"/>
          </a:ln>
        </p:spPr>
        <p:txBody>
          <a:bodyPr/>
          <a:lstStyle/>
          <a:p>
            <a:endParaRPr lang="en-ZA"/>
          </a:p>
        </p:txBody>
      </p:sp>
      <p:sp>
        <p:nvSpPr>
          <p:cNvPr id="20" name="Rectangle 19">
            <a:extLst>
              <a:ext uri="{FF2B5EF4-FFF2-40B4-BE49-F238E27FC236}">
                <a16:creationId xmlns:a16="http://schemas.microsoft.com/office/drawing/2014/main" id="{F5B52DDF-CBF9-49FE-A004-19BD2E80A793}"/>
              </a:ext>
            </a:extLst>
          </p:cNvPr>
          <p:cNvSpPr>
            <a:spLocks noGrp="1"/>
          </p:cNvSpPr>
          <p:nvPr/>
        </p:nvSpPr>
        <p:spPr>
          <a:xfrm>
            <a:off x="7696200" y="3248025"/>
            <a:ext cx="323850" cy="285750"/>
          </a:xfrm>
          <a:prstGeom prst="rect">
            <a:avLst/>
          </a:prstGeom>
          <a:noFill/>
          <a:ln w="0">
            <a:noFill/>
            <a:prstDash val="solid"/>
          </a:ln>
        </p:spPr>
        <p:txBody>
          <a:bodyPr anchor="ctr"/>
          <a:lstStyle/>
          <a:p>
            <a:pPr algn="l">
              <a:defRPr sz="1125" b="1">
                <a:solidFill>
                  <a:srgbClr val="FFB5B5"/>
                </a:solidFill>
              </a:defRPr>
            </a:pPr>
            <a:r>
              <a:rPr sz="1125" b="1">
                <a:solidFill>
                  <a:srgbClr val="FFB5B5"/>
                </a:solidFill>
              </a:rPr>
              <a:t>02</a:t>
            </a:r>
          </a:p>
        </p:txBody>
      </p:sp>
      <p:sp>
        <p:nvSpPr>
          <p:cNvPr id="21" name="Rectangle 20">
            <a:extLst>
              <a:ext uri="{FF2B5EF4-FFF2-40B4-BE49-F238E27FC236}">
                <a16:creationId xmlns:a16="http://schemas.microsoft.com/office/drawing/2014/main" id="{3928EDF7-D9F4-467C-99FD-A87C256FC7A1}"/>
              </a:ext>
            </a:extLst>
          </p:cNvPr>
          <p:cNvSpPr>
            <a:spLocks noGrp="1"/>
          </p:cNvSpPr>
          <p:nvPr/>
        </p:nvSpPr>
        <p:spPr>
          <a:xfrm>
            <a:off x="8172450" y="3248025"/>
            <a:ext cx="3143250" cy="2857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Schema + data quality</a:t>
            </a:r>
          </a:p>
        </p:txBody>
      </p:sp>
      <p:sp>
        <p:nvSpPr>
          <p:cNvPr id="22" name="Rectangle 21">
            <a:extLst>
              <a:ext uri="{FF2B5EF4-FFF2-40B4-BE49-F238E27FC236}">
                <a16:creationId xmlns:a16="http://schemas.microsoft.com/office/drawing/2014/main" id="{6857BACE-2BCB-40FC-B586-30CACD6F576F}"/>
              </a:ext>
            </a:extLst>
          </p:cNvPr>
          <p:cNvSpPr>
            <a:spLocks noGrp="1"/>
          </p:cNvSpPr>
          <p:nvPr/>
        </p:nvSpPr>
        <p:spPr>
          <a:xfrm>
            <a:off x="7696200" y="3657600"/>
            <a:ext cx="3619500" cy="9525"/>
          </a:xfrm>
          <a:prstGeom prst="rect">
            <a:avLst/>
          </a:prstGeom>
          <a:solidFill>
            <a:srgbClr val="F25555"/>
          </a:solidFill>
          <a:ln w="0">
            <a:noFill/>
            <a:prstDash val="solid"/>
          </a:ln>
        </p:spPr>
        <p:txBody>
          <a:bodyPr/>
          <a:lstStyle/>
          <a:p>
            <a:endParaRPr lang="en-ZA"/>
          </a:p>
        </p:txBody>
      </p:sp>
      <p:sp>
        <p:nvSpPr>
          <p:cNvPr id="23" name="Rectangle 22">
            <a:extLst>
              <a:ext uri="{FF2B5EF4-FFF2-40B4-BE49-F238E27FC236}">
                <a16:creationId xmlns:a16="http://schemas.microsoft.com/office/drawing/2014/main" id="{C85C1193-96D0-4B20-9924-B3F66D0FF88D}"/>
              </a:ext>
            </a:extLst>
          </p:cNvPr>
          <p:cNvSpPr>
            <a:spLocks noGrp="1"/>
          </p:cNvSpPr>
          <p:nvPr/>
        </p:nvSpPr>
        <p:spPr>
          <a:xfrm>
            <a:off x="7696200" y="3895725"/>
            <a:ext cx="323850" cy="285750"/>
          </a:xfrm>
          <a:prstGeom prst="rect">
            <a:avLst/>
          </a:prstGeom>
          <a:noFill/>
          <a:ln w="0">
            <a:noFill/>
            <a:prstDash val="solid"/>
          </a:ln>
        </p:spPr>
        <p:txBody>
          <a:bodyPr anchor="ctr"/>
          <a:lstStyle/>
          <a:p>
            <a:pPr algn="l">
              <a:defRPr sz="1125" b="1">
                <a:solidFill>
                  <a:srgbClr val="FFB5B5"/>
                </a:solidFill>
              </a:defRPr>
            </a:pPr>
            <a:r>
              <a:rPr sz="1125" b="1">
                <a:solidFill>
                  <a:srgbClr val="FFB5B5"/>
                </a:solidFill>
              </a:rPr>
              <a:t>03</a:t>
            </a:r>
          </a:p>
        </p:txBody>
      </p:sp>
      <p:sp>
        <p:nvSpPr>
          <p:cNvPr id="24" name="Rectangle 23">
            <a:extLst>
              <a:ext uri="{FF2B5EF4-FFF2-40B4-BE49-F238E27FC236}">
                <a16:creationId xmlns:a16="http://schemas.microsoft.com/office/drawing/2014/main" id="{FC3943AD-DEA6-453F-A8FB-068950D7B911}"/>
              </a:ext>
            </a:extLst>
          </p:cNvPr>
          <p:cNvSpPr>
            <a:spLocks noGrp="1"/>
          </p:cNvSpPr>
          <p:nvPr/>
        </p:nvSpPr>
        <p:spPr>
          <a:xfrm>
            <a:off x="8172450" y="3895725"/>
            <a:ext cx="3143250" cy="2857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Identity + access control</a:t>
            </a:r>
          </a:p>
        </p:txBody>
      </p:sp>
      <p:sp>
        <p:nvSpPr>
          <p:cNvPr id="25" name="Rectangle 24">
            <a:extLst>
              <a:ext uri="{FF2B5EF4-FFF2-40B4-BE49-F238E27FC236}">
                <a16:creationId xmlns:a16="http://schemas.microsoft.com/office/drawing/2014/main" id="{FC228C95-EA19-423F-8156-6C80092FC024}"/>
              </a:ext>
            </a:extLst>
          </p:cNvPr>
          <p:cNvSpPr>
            <a:spLocks noGrp="1"/>
          </p:cNvSpPr>
          <p:nvPr/>
        </p:nvSpPr>
        <p:spPr>
          <a:xfrm>
            <a:off x="7696200" y="4305300"/>
            <a:ext cx="3619500" cy="9525"/>
          </a:xfrm>
          <a:prstGeom prst="rect">
            <a:avLst/>
          </a:prstGeom>
          <a:solidFill>
            <a:srgbClr val="F25555"/>
          </a:solidFill>
          <a:ln w="0">
            <a:noFill/>
            <a:prstDash val="solid"/>
          </a:ln>
        </p:spPr>
        <p:txBody>
          <a:bodyPr/>
          <a:lstStyle/>
          <a:p>
            <a:endParaRPr lang="en-ZA"/>
          </a:p>
        </p:txBody>
      </p:sp>
      <p:sp>
        <p:nvSpPr>
          <p:cNvPr id="26" name="Rectangle 25">
            <a:extLst>
              <a:ext uri="{FF2B5EF4-FFF2-40B4-BE49-F238E27FC236}">
                <a16:creationId xmlns:a16="http://schemas.microsoft.com/office/drawing/2014/main" id="{7A123351-EFF5-4E9F-B08B-55ABBB949D07}"/>
              </a:ext>
            </a:extLst>
          </p:cNvPr>
          <p:cNvSpPr>
            <a:spLocks noGrp="1"/>
          </p:cNvSpPr>
          <p:nvPr/>
        </p:nvSpPr>
        <p:spPr>
          <a:xfrm>
            <a:off x="7696200" y="4543425"/>
            <a:ext cx="323850" cy="285750"/>
          </a:xfrm>
          <a:prstGeom prst="rect">
            <a:avLst/>
          </a:prstGeom>
          <a:noFill/>
          <a:ln w="0">
            <a:noFill/>
            <a:prstDash val="solid"/>
          </a:ln>
        </p:spPr>
        <p:txBody>
          <a:bodyPr anchor="ctr"/>
          <a:lstStyle/>
          <a:p>
            <a:pPr algn="l">
              <a:defRPr sz="1125" b="1">
                <a:solidFill>
                  <a:srgbClr val="FFB5B5"/>
                </a:solidFill>
              </a:defRPr>
            </a:pPr>
            <a:r>
              <a:rPr sz="1125" b="1">
                <a:solidFill>
                  <a:srgbClr val="FFB5B5"/>
                </a:solidFill>
              </a:rPr>
              <a:t>04</a:t>
            </a:r>
          </a:p>
        </p:txBody>
      </p:sp>
      <p:sp>
        <p:nvSpPr>
          <p:cNvPr id="27" name="Rectangle 26">
            <a:extLst>
              <a:ext uri="{FF2B5EF4-FFF2-40B4-BE49-F238E27FC236}">
                <a16:creationId xmlns:a16="http://schemas.microsoft.com/office/drawing/2014/main" id="{7EED5D2D-19B6-464E-A9DA-766FDF9EBEBA}"/>
              </a:ext>
            </a:extLst>
          </p:cNvPr>
          <p:cNvSpPr>
            <a:spLocks noGrp="1"/>
          </p:cNvSpPr>
          <p:nvPr/>
        </p:nvSpPr>
        <p:spPr>
          <a:xfrm>
            <a:off x="8172450" y="4543425"/>
            <a:ext cx="3143250" cy="2857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Parity validation + training</a:t>
            </a:r>
          </a:p>
        </p:txBody>
      </p:sp>
      <p:sp>
        <p:nvSpPr>
          <p:cNvPr id="28" name="Rectangle 27">
            <a:extLst>
              <a:ext uri="{FF2B5EF4-FFF2-40B4-BE49-F238E27FC236}">
                <a16:creationId xmlns:a16="http://schemas.microsoft.com/office/drawing/2014/main" id="{B08B7908-1B50-489D-9AD9-6493A150124C}"/>
              </a:ext>
            </a:extLst>
          </p:cNvPr>
          <p:cNvSpPr>
            <a:spLocks noGrp="1"/>
          </p:cNvSpPr>
          <p:nvPr/>
        </p:nvSpPr>
        <p:spPr>
          <a:xfrm>
            <a:off x="7696200" y="4953000"/>
            <a:ext cx="3619500" cy="9525"/>
          </a:xfrm>
          <a:prstGeom prst="rect">
            <a:avLst/>
          </a:prstGeom>
          <a:solidFill>
            <a:srgbClr val="F25555"/>
          </a:solidFill>
          <a:ln w="0">
            <a:noFill/>
            <a:prstDash val="solid"/>
          </a:ln>
        </p:spPr>
        <p:txBody>
          <a:bodyPr/>
          <a:lstStyle/>
          <a:p>
            <a:endParaRPr lang="en-ZA"/>
          </a:p>
        </p:txBody>
      </p:sp>
      <p:sp>
        <p:nvSpPr>
          <p:cNvPr id="29" name="Rectangle 28">
            <a:extLst>
              <a:ext uri="{FF2B5EF4-FFF2-40B4-BE49-F238E27FC236}">
                <a16:creationId xmlns:a16="http://schemas.microsoft.com/office/drawing/2014/main" id="{BACB1438-8CC0-4376-BD4F-1C8B0180E8BF}"/>
              </a:ext>
            </a:extLst>
          </p:cNvPr>
          <p:cNvSpPr>
            <a:spLocks noGrp="1"/>
          </p:cNvSpPr>
          <p:nvPr/>
        </p:nvSpPr>
        <p:spPr>
          <a:xfrm>
            <a:off x="628650" y="5838825"/>
            <a:ext cx="6191250" cy="38100"/>
          </a:xfrm>
          <a:prstGeom prst="rect">
            <a:avLst/>
          </a:prstGeom>
          <a:solidFill>
            <a:srgbClr val="E60000"/>
          </a:solidFill>
          <a:ln w="0">
            <a:noFill/>
            <a:prstDash val="solid"/>
          </a:ln>
        </p:spPr>
        <p:txBody>
          <a:bodyPr/>
          <a:lstStyle/>
          <a:p>
            <a:endParaRPr lang="en-ZA"/>
          </a:p>
        </p:txBody>
      </p:sp>
      <p:sp>
        <p:nvSpPr>
          <p:cNvPr id="30" name="Rectangle 29">
            <a:extLst>
              <a:ext uri="{FF2B5EF4-FFF2-40B4-BE49-F238E27FC236}">
                <a16:creationId xmlns:a16="http://schemas.microsoft.com/office/drawing/2014/main" id="{D275D9F5-8FFB-4418-8A97-F3A9BB94A217}"/>
              </a:ext>
            </a:extLst>
          </p:cNvPr>
          <p:cNvSpPr>
            <a:spLocks noGrp="1"/>
          </p:cNvSpPr>
          <p:nvPr/>
        </p:nvSpPr>
        <p:spPr>
          <a:xfrm>
            <a:off x="628650" y="5981700"/>
            <a:ext cx="6191250" cy="323850"/>
          </a:xfrm>
          <a:prstGeom prst="rect">
            <a:avLst/>
          </a:prstGeom>
          <a:noFill/>
          <a:ln w="0">
            <a:noFill/>
            <a:prstDash val="solid"/>
          </a:ln>
        </p:spPr>
        <p:txBody>
          <a:bodyPr anchor="ctr"/>
          <a:lstStyle/>
          <a:p>
            <a:pPr algn="l">
              <a:defRPr sz="1650" b="1">
                <a:solidFill>
                  <a:srgbClr val="171719"/>
                </a:solidFill>
              </a:defRPr>
            </a:pPr>
            <a:r>
              <a:rPr sz="1650" b="1">
                <a:solidFill>
                  <a:srgbClr val="171719"/>
                </a:solidFill>
              </a:rPr>
              <a:t>Recommendation: controlled pilot + parallel validation.</a:t>
            </a:r>
          </a:p>
        </p:txBody>
      </p:sp>
      <p:sp>
        <p:nvSpPr>
          <p:cNvPr id="31" name="Rectangle 30">
            <a:extLst>
              <a:ext uri="{FF2B5EF4-FFF2-40B4-BE49-F238E27FC236}">
                <a16:creationId xmlns:a16="http://schemas.microsoft.com/office/drawing/2014/main" id="{CA930B63-5750-4798-8421-D36B8AEEF8DD}"/>
              </a:ext>
            </a:extLst>
          </p:cNvPr>
          <p:cNvSpPr>
            <a:spLocks noGrp="1"/>
          </p:cNvSpPr>
          <p:nvPr/>
        </p:nvSpPr>
        <p:spPr>
          <a:xfrm>
            <a:off x="628650" y="6419850"/>
            <a:ext cx="5334000" cy="171450"/>
          </a:xfrm>
          <a:prstGeom prst="rect">
            <a:avLst/>
          </a:prstGeom>
          <a:noFill/>
          <a:ln w="0">
            <a:noFill/>
            <a:prstDash val="solid"/>
          </a:ln>
        </p:spPr>
        <p:txBody>
          <a:bodyPr anchor="ctr"/>
          <a:lstStyle/>
          <a:p>
            <a:pPr algn="l">
              <a:defRPr sz="825" b="1">
                <a:solidFill>
                  <a:srgbClr val="777777"/>
                </a:solidFill>
              </a:defRPr>
            </a:pPr>
            <a:r>
              <a:rPr sz="825" b="1">
                <a:solidFill>
                  <a:srgbClr val="777777"/>
                </a:solidFill>
              </a:rPr>
              <a:t>VODACOM FINANCIAL SERVICES  •  DIGITAL ANALYTICS</a:t>
            </a:r>
          </a:p>
        </p:txBody>
      </p:sp>
      <p:sp>
        <p:nvSpPr>
          <p:cNvPr id="32" name="Rectangle 31">
            <a:extLst>
              <a:ext uri="{FF2B5EF4-FFF2-40B4-BE49-F238E27FC236}">
                <a16:creationId xmlns:a16="http://schemas.microsoft.com/office/drawing/2014/main" id="{96C34318-BE80-4022-AA9E-CD6CCA58C352}"/>
              </a:ext>
            </a:extLst>
          </p:cNvPr>
          <p:cNvSpPr>
            <a:spLocks noGrp="1"/>
          </p:cNvSpPr>
          <p:nvPr/>
        </p:nvSpPr>
        <p:spPr>
          <a:xfrm>
            <a:off x="11096625" y="6419850"/>
            <a:ext cx="457200" cy="171450"/>
          </a:xfrm>
          <a:prstGeom prst="rect">
            <a:avLst/>
          </a:prstGeom>
          <a:noFill/>
          <a:ln w="0">
            <a:noFill/>
            <a:prstDash val="solid"/>
          </a:ln>
        </p:spPr>
        <p:txBody>
          <a:bodyPr anchor="ctr"/>
          <a:lstStyle/>
          <a:p>
            <a:pPr algn="r">
              <a:defRPr sz="825" b="1">
                <a:solidFill>
                  <a:srgbClr val="777777"/>
                </a:solidFill>
              </a:defRPr>
            </a:pPr>
            <a:r>
              <a:rPr sz="825" b="1">
                <a:solidFill>
                  <a:srgbClr val="777777"/>
                </a:solidFill>
              </a:rPr>
              <a:t>03</a:t>
            </a:r>
          </a:p>
        </p:txBody>
      </p:sp>
    </p:spTree>
    <p:extLst>
      <p:ext uri="{BB962C8B-B14F-4D97-AF65-F5344CB8AC3E}">
        <p14:creationId xmlns:p14="http://schemas.microsoft.com/office/powerpoint/2010/main" val="763954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B0C"/>
        </a:solidFill>
        <a:effectLst/>
      </p:bgPr>
    </p:bg>
    <p:spTree>
      <p:nvGrpSpPr>
        <p:cNvPr id="1" name=""/>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40A5745A-E781-4B2F-B027-038CFA6D7CC8}"/>
              </a:ext>
            </a:extLst>
          </p:cNvPr>
          <p:cNvSpPr>
            <a:spLocks noGrp="1"/>
          </p:cNvSpPr>
          <p:nvPr/>
        </p:nvSpPr>
        <p:spPr>
          <a:xfrm>
            <a:off x="628650" y="457200"/>
            <a:ext cx="1238250" cy="285750"/>
          </a:xfrm>
          <a:prstGeom prst="roundRect">
            <a:avLst>
              <a:gd name="adj" fmla="val 40000"/>
            </a:avLst>
          </a:prstGeom>
          <a:solidFill>
            <a:srgbClr val="E60000"/>
          </a:solidFill>
          <a:ln w="0">
            <a:noFill/>
            <a:prstDash val="solid"/>
          </a:ln>
        </p:spPr>
        <p:txBody>
          <a:bodyPr/>
          <a:lstStyle/>
          <a:p>
            <a:endParaRPr lang="en-ZA"/>
          </a:p>
        </p:txBody>
      </p:sp>
      <p:sp>
        <p:nvSpPr>
          <p:cNvPr id="2" name="Rectangle 1">
            <a:extLst>
              <a:ext uri="{FF2B5EF4-FFF2-40B4-BE49-F238E27FC236}">
                <a16:creationId xmlns:a16="http://schemas.microsoft.com/office/drawing/2014/main" id="{2512DFAC-8C61-4F5F-9889-76AE7AFA5167}"/>
              </a:ext>
            </a:extLst>
          </p:cNvPr>
          <p:cNvSpPr>
            <a:spLocks noGrp="1"/>
          </p:cNvSpPr>
          <p:nvPr/>
        </p:nvSpPr>
        <p:spPr>
          <a:xfrm>
            <a:off x="628650" y="457200"/>
            <a:ext cx="12382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COST MODEL</a:t>
            </a:r>
          </a:p>
        </p:txBody>
      </p:sp>
      <p:sp>
        <p:nvSpPr>
          <p:cNvPr id="3" name="Rectangle 2">
            <a:extLst>
              <a:ext uri="{FF2B5EF4-FFF2-40B4-BE49-F238E27FC236}">
                <a16:creationId xmlns:a16="http://schemas.microsoft.com/office/drawing/2014/main" id="{026EBFD1-AE9E-46D0-8591-9F8E245F8C7C}"/>
              </a:ext>
            </a:extLst>
          </p:cNvPr>
          <p:cNvSpPr>
            <a:spLocks noGrp="1"/>
          </p:cNvSpPr>
          <p:nvPr/>
        </p:nvSpPr>
        <p:spPr>
          <a:xfrm>
            <a:off x="628650" y="876300"/>
            <a:ext cx="5524500" cy="971550"/>
          </a:xfrm>
          <a:prstGeom prst="rect">
            <a:avLst/>
          </a:prstGeom>
          <a:noFill/>
          <a:ln w="0">
            <a:noFill/>
            <a:prstDash val="solid"/>
          </a:ln>
        </p:spPr>
        <p:txBody>
          <a:bodyPr anchor="ctr"/>
          <a:lstStyle/>
          <a:p>
            <a:pPr algn="l">
              <a:defRPr sz="3075" b="1">
                <a:solidFill>
                  <a:srgbClr val="FFFFFF"/>
                </a:solidFill>
              </a:defRPr>
            </a:pPr>
            <a:r>
              <a:rPr sz="3075" b="1">
                <a:solidFill>
                  <a:srgbClr val="FFFFFF"/>
                </a:solidFill>
              </a:rPr>
              <a:t>A materially different</a:t>
            </a:r>
          </a:p>
          <a:p>
            <a:pPr algn="l">
              <a:defRPr sz="3075" b="1">
                <a:solidFill>
                  <a:srgbClr val="FFFFFF"/>
                </a:solidFill>
              </a:defRPr>
            </a:pPr>
            <a:r>
              <a:rPr sz="3075" b="1">
                <a:solidFill>
                  <a:srgbClr val="FFFFFF"/>
                </a:solidFill>
              </a:rPr>
              <a:t>economic model.</a:t>
            </a:r>
          </a:p>
        </p:txBody>
      </p:sp>
      <p:sp>
        <p:nvSpPr>
          <p:cNvPr id="4" name="Rectangle 3">
            <a:extLst>
              <a:ext uri="{FF2B5EF4-FFF2-40B4-BE49-F238E27FC236}">
                <a16:creationId xmlns:a16="http://schemas.microsoft.com/office/drawing/2014/main" id="{0A4F0644-029B-4E7F-8307-8073D6A121D6}"/>
              </a:ext>
            </a:extLst>
          </p:cNvPr>
          <p:cNvSpPr>
            <a:spLocks noGrp="1"/>
          </p:cNvSpPr>
          <p:nvPr/>
        </p:nvSpPr>
        <p:spPr>
          <a:xfrm>
            <a:off x="6934200" y="1228725"/>
            <a:ext cx="4476750" cy="238125"/>
          </a:xfrm>
          <a:prstGeom prst="rect">
            <a:avLst/>
          </a:prstGeom>
          <a:noFill/>
          <a:ln w="0">
            <a:noFill/>
            <a:prstDash val="solid"/>
          </a:ln>
        </p:spPr>
        <p:txBody>
          <a:bodyPr anchor="ctr"/>
          <a:lstStyle/>
          <a:p>
            <a:pPr algn="r">
              <a:defRPr sz="1125" b="1">
                <a:solidFill>
                  <a:srgbClr val="8E8B89"/>
                </a:solidFill>
              </a:defRPr>
            </a:pPr>
            <a:r>
              <a:rPr sz="1125" b="1">
                <a:solidFill>
                  <a:srgbClr val="8E8B89"/>
                </a:solidFill>
              </a:rPr>
              <a:t>MONTHLY RUN-RATE / BUSINESS-CASE HURDLES</a:t>
            </a:r>
          </a:p>
        </p:txBody>
      </p:sp>
      <p:sp>
        <p:nvSpPr>
          <p:cNvPr id="5" name="Rectangle: Rounded Corners 4">
            <a:extLst>
              <a:ext uri="{FF2B5EF4-FFF2-40B4-BE49-F238E27FC236}">
                <a16:creationId xmlns:a16="http://schemas.microsoft.com/office/drawing/2014/main" id="{862D358D-FD28-4F87-AB7D-92FE9E6C30FD}"/>
              </a:ext>
            </a:extLst>
          </p:cNvPr>
          <p:cNvSpPr>
            <a:spLocks noGrp="1"/>
          </p:cNvSpPr>
          <p:nvPr/>
        </p:nvSpPr>
        <p:spPr>
          <a:xfrm>
            <a:off x="628650" y="2266950"/>
            <a:ext cx="3219450" cy="1952625"/>
          </a:xfrm>
          <a:prstGeom prst="roundRect">
            <a:avLst>
              <a:gd name="adj" fmla="val 5854"/>
            </a:avLst>
          </a:prstGeom>
          <a:solidFill>
            <a:srgbClr val="E60000"/>
          </a:solidFill>
          <a:ln w="0">
            <a:noFill/>
            <a:prstDash val="solid"/>
          </a:ln>
        </p:spPr>
        <p:txBody>
          <a:bodyPr/>
          <a:lstStyle/>
          <a:p>
            <a:endParaRPr lang="en-ZA"/>
          </a:p>
        </p:txBody>
      </p:sp>
      <p:sp>
        <p:nvSpPr>
          <p:cNvPr id="6" name="Rectangle 5">
            <a:extLst>
              <a:ext uri="{FF2B5EF4-FFF2-40B4-BE49-F238E27FC236}">
                <a16:creationId xmlns:a16="http://schemas.microsoft.com/office/drawing/2014/main" id="{C74011F2-AF13-4235-9CA9-EF8D0E1D879E}"/>
              </a:ext>
            </a:extLst>
          </p:cNvPr>
          <p:cNvSpPr>
            <a:spLocks noGrp="1"/>
          </p:cNvSpPr>
          <p:nvPr/>
        </p:nvSpPr>
        <p:spPr>
          <a:xfrm>
            <a:off x="857250" y="2476500"/>
            <a:ext cx="2762250" cy="228600"/>
          </a:xfrm>
          <a:prstGeom prst="rect">
            <a:avLst/>
          </a:prstGeom>
          <a:noFill/>
          <a:ln w="0">
            <a:noFill/>
            <a:prstDash val="solid"/>
          </a:ln>
        </p:spPr>
        <p:txBody>
          <a:bodyPr anchor="ctr"/>
          <a:lstStyle/>
          <a:p>
            <a:pPr algn="l">
              <a:defRPr sz="1125" b="1">
                <a:solidFill>
                  <a:srgbClr val="FFFFFF"/>
                </a:solidFill>
              </a:defRPr>
            </a:pPr>
            <a:r>
              <a:rPr sz="1125" b="1">
                <a:solidFill>
                  <a:srgbClr val="FFFFFF"/>
                </a:solidFill>
              </a:rPr>
              <a:t>ADOBE • CURRENT</a:t>
            </a:r>
          </a:p>
        </p:txBody>
      </p:sp>
      <p:sp>
        <p:nvSpPr>
          <p:cNvPr id="7" name="Rectangle 6">
            <a:extLst>
              <a:ext uri="{FF2B5EF4-FFF2-40B4-BE49-F238E27FC236}">
                <a16:creationId xmlns:a16="http://schemas.microsoft.com/office/drawing/2014/main" id="{59654674-9E7E-48A7-A7E0-B44A54F88FDE}"/>
              </a:ext>
            </a:extLst>
          </p:cNvPr>
          <p:cNvSpPr>
            <a:spLocks noGrp="1"/>
          </p:cNvSpPr>
          <p:nvPr/>
        </p:nvSpPr>
        <p:spPr>
          <a:xfrm>
            <a:off x="857250" y="2886075"/>
            <a:ext cx="2762250" cy="666750"/>
          </a:xfrm>
          <a:prstGeom prst="rect">
            <a:avLst/>
          </a:prstGeom>
          <a:noFill/>
          <a:ln w="0">
            <a:noFill/>
            <a:prstDash val="solid"/>
          </a:ln>
        </p:spPr>
        <p:txBody>
          <a:bodyPr anchor="ctr"/>
          <a:lstStyle/>
          <a:p>
            <a:pPr algn="l">
              <a:defRPr sz="3225" b="1">
                <a:solidFill>
                  <a:srgbClr val="FFFFFF"/>
                </a:solidFill>
              </a:defRPr>
            </a:pPr>
            <a:r>
              <a:rPr sz="3225" b="1">
                <a:solidFill>
                  <a:srgbClr val="FFFFFF"/>
                </a:solidFill>
              </a:rPr>
              <a:t>~R250k</a:t>
            </a:r>
          </a:p>
        </p:txBody>
      </p:sp>
      <p:sp>
        <p:nvSpPr>
          <p:cNvPr id="8" name="Rectangle 7">
            <a:extLst>
              <a:ext uri="{FF2B5EF4-FFF2-40B4-BE49-F238E27FC236}">
                <a16:creationId xmlns:a16="http://schemas.microsoft.com/office/drawing/2014/main" id="{CAB57F30-C2EB-4AAE-8CD1-FC2B7507868B}"/>
              </a:ext>
            </a:extLst>
          </p:cNvPr>
          <p:cNvSpPr>
            <a:spLocks noGrp="1"/>
          </p:cNvSpPr>
          <p:nvPr/>
        </p:nvSpPr>
        <p:spPr>
          <a:xfrm>
            <a:off x="857250" y="3600450"/>
            <a:ext cx="2762250" cy="266700"/>
          </a:xfrm>
          <a:prstGeom prst="rect">
            <a:avLst/>
          </a:prstGeom>
          <a:noFill/>
          <a:ln w="0">
            <a:noFill/>
            <a:prstDash val="solid"/>
          </a:ln>
        </p:spPr>
        <p:txBody>
          <a:bodyPr anchor="ctr"/>
          <a:lstStyle/>
          <a:p>
            <a:pPr algn="l">
              <a:defRPr sz="1275" b="0">
                <a:solidFill>
                  <a:srgbClr val="FFD2D2"/>
                </a:solidFill>
              </a:defRPr>
            </a:pPr>
            <a:r>
              <a:rPr sz="1275" b="0">
                <a:solidFill>
                  <a:srgbClr val="FFD2D2"/>
                </a:solidFill>
              </a:rPr>
              <a:t>licence-led model</a:t>
            </a:r>
          </a:p>
        </p:txBody>
      </p:sp>
      <p:sp>
        <p:nvSpPr>
          <p:cNvPr id="9" name="Rectangle: Rounded Corners 8">
            <a:extLst>
              <a:ext uri="{FF2B5EF4-FFF2-40B4-BE49-F238E27FC236}">
                <a16:creationId xmlns:a16="http://schemas.microsoft.com/office/drawing/2014/main" id="{54FF11D3-A2D5-4D55-B280-030C0CC18D49}"/>
              </a:ext>
            </a:extLst>
          </p:cNvPr>
          <p:cNvSpPr>
            <a:spLocks noGrp="1"/>
          </p:cNvSpPr>
          <p:nvPr/>
        </p:nvSpPr>
        <p:spPr>
          <a:xfrm>
            <a:off x="4095750" y="2266950"/>
            <a:ext cx="3219450" cy="1952625"/>
          </a:xfrm>
          <a:prstGeom prst="roundRect">
            <a:avLst>
              <a:gd name="adj" fmla="val 5854"/>
            </a:avLst>
          </a:prstGeom>
          <a:solidFill>
            <a:srgbClr val="151516"/>
          </a:solidFill>
          <a:ln w="9525">
            <a:solidFill>
              <a:srgbClr val="333333"/>
            </a:solidFill>
            <a:prstDash val="solid"/>
          </a:ln>
        </p:spPr>
        <p:txBody>
          <a:bodyPr/>
          <a:lstStyle/>
          <a:p>
            <a:endParaRPr lang="en-ZA"/>
          </a:p>
        </p:txBody>
      </p:sp>
      <p:sp>
        <p:nvSpPr>
          <p:cNvPr id="10" name="Rectangle 9">
            <a:extLst>
              <a:ext uri="{FF2B5EF4-FFF2-40B4-BE49-F238E27FC236}">
                <a16:creationId xmlns:a16="http://schemas.microsoft.com/office/drawing/2014/main" id="{62A5DBA8-4C28-4E3D-8C22-9B27C33F9F93}"/>
              </a:ext>
            </a:extLst>
          </p:cNvPr>
          <p:cNvSpPr>
            <a:spLocks noGrp="1"/>
          </p:cNvSpPr>
          <p:nvPr/>
        </p:nvSpPr>
        <p:spPr>
          <a:xfrm>
            <a:off x="4324350" y="2476500"/>
            <a:ext cx="2762250" cy="228600"/>
          </a:xfrm>
          <a:prstGeom prst="rect">
            <a:avLst/>
          </a:prstGeom>
          <a:noFill/>
          <a:ln w="0">
            <a:noFill/>
            <a:prstDash val="solid"/>
          </a:ln>
        </p:spPr>
        <p:txBody>
          <a:bodyPr anchor="ctr"/>
          <a:lstStyle/>
          <a:p>
            <a:pPr algn="l">
              <a:defRPr sz="1125" b="1">
                <a:solidFill>
                  <a:srgbClr val="A7A4A2"/>
                </a:solidFill>
              </a:defRPr>
            </a:pPr>
            <a:r>
              <a:rPr sz="1125" b="1">
                <a:solidFill>
                  <a:srgbClr val="A7A4A2"/>
                </a:solidFill>
              </a:rPr>
              <a:t>AWS • BASE</a:t>
            </a:r>
          </a:p>
        </p:txBody>
      </p:sp>
      <p:sp>
        <p:nvSpPr>
          <p:cNvPr id="11" name="Rectangle 10">
            <a:extLst>
              <a:ext uri="{FF2B5EF4-FFF2-40B4-BE49-F238E27FC236}">
                <a16:creationId xmlns:a16="http://schemas.microsoft.com/office/drawing/2014/main" id="{7D2FCBA3-138E-47E7-A438-F445B43032E2}"/>
              </a:ext>
            </a:extLst>
          </p:cNvPr>
          <p:cNvSpPr>
            <a:spLocks noGrp="1"/>
          </p:cNvSpPr>
          <p:nvPr/>
        </p:nvSpPr>
        <p:spPr>
          <a:xfrm>
            <a:off x="4324350" y="2886075"/>
            <a:ext cx="2762250" cy="666750"/>
          </a:xfrm>
          <a:prstGeom prst="rect">
            <a:avLst/>
          </a:prstGeom>
          <a:noFill/>
          <a:ln w="0">
            <a:noFill/>
            <a:prstDash val="solid"/>
          </a:ln>
        </p:spPr>
        <p:txBody>
          <a:bodyPr anchor="ctr"/>
          <a:lstStyle/>
          <a:p>
            <a:pPr algn="l">
              <a:defRPr sz="3225" b="1">
                <a:solidFill>
                  <a:srgbClr val="FFFFFF"/>
                </a:solidFill>
              </a:defRPr>
            </a:pPr>
            <a:r>
              <a:rPr sz="3225" b="1">
                <a:solidFill>
                  <a:srgbClr val="FFFFFF"/>
                </a:solidFill>
              </a:rPr>
              <a:t>≤ R25k</a:t>
            </a:r>
          </a:p>
        </p:txBody>
      </p:sp>
      <p:sp>
        <p:nvSpPr>
          <p:cNvPr id="12" name="Rectangle 11">
            <a:extLst>
              <a:ext uri="{FF2B5EF4-FFF2-40B4-BE49-F238E27FC236}">
                <a16:creationId xmlns:a16="http://schemas.microsoft.com/office/drawing/2014/main" id="{4557337B-8917-4361-922B-B837E53ABB77}"/>
              </a:ext>
            </a:extLst>
          </p:cNvPr>
          <p:cNvSpPr>
            <a:spLocks noGrp="1"/>
          </p:cNvSpPr>
          <p:nvPr/>
        </p:nvSpPr>
        <p:spPr>
          <a:xfrm>
            <a:off x="4324350" y="3600450"/>
            <a:ext cx="2762250" cy="266700"/>
          </a:xfrm>
          <a:prstGeom prst="rect">
            <a:avLst/>
          </a:prstGeom>
          <a:noFill/>
          <a:ln w="0">
            <a:noFill/>
            <a:prstDash val="solid"/>
          </a:ln>
        </p:spPr>
        <p:txBody>
          <a:bodyPr anchor="ctr"/>
          <a:lstStyle/>
          <a:p>
            <a:pPr algn="l">
              <a:defRPr sz="1275" b="0">
                <a:solidFill>
                  <a:srgbClr val="BDBAB8"/>
                </a:solidFill>
              </a:defRPr>
            </a:pPr>
            <a:r>
              <a:rPr sz="1275" b="0">
                <a:solidFill>
                  <a:srgbClr val="BDBAB8"/>
                </a:solidFill>
              </a:rPr>
              <a:t>~20 users</a:t>
            </a:r>
          </a:p>
        </p:txBody>
      </p:sp>
      <p:sp>
        <p:nvSpPr>
          <p:cNvPr id="13" name="Rectangle: Rounded Corners 12">
            <a:extLst>
              <a:ext uri="{FF2B5EF4-FFF2-40B4-BE49-F238E27FC236}">
                <a16:creationId xmlns:a16="http://schemas.microsoft.com/office/drawing/2014/main" id="{C9378B9B-400B-4F3E-BEF8-E417000E711A}"/>
              </a:ext>
            </a:extLst>
          </p:cNvPr>
          <p:cNvSpPr>
            <a:spLocks noGrp="1"/>
          </p:cNvSpPr>
          <p:nvPr/>
        </p:nvSpPr>
        <p:spPr>
          <a:xfrm>
            <a:off x="7562850" y="2266950"/>
            <a:ext cx="3924300" cy="1952625"/>
          </a:xfrm>
          <a:prstGeom prst="roundRect">
            <a:avLst>
              <a:gd name="adj" fmla="val 5854"/>
            </a:avLst>
          </a:prstGeom>
          <a:solidFill>
            <a:srgbClr val="151516"/>
          </a:solidFill>
          <a:ln w="9525">
            <a:solidFill>
              <a:srgbClr val="333333"/>
            </a:solidFill>
            <a:prstDash val="solid"/>
          </a:ln>
        </p:spPr>
        <p:txBody>
          <a:bodyPr/>
          <a:lstStyle/>
          <a:p>
            <a:endParaRPr lang="en-ZA"/>
          </a:p>
        </p:txBody>
      </p:sp>
      <p:sp>
        <p:nvSpPr>
          <p:cNvPr id="14" name="Rectangle 13">
            <a:extLst>
              <a:ext uri="{FF2B5EF4-FFF2-40B4-BE49-F238E27FC236}">
                <a16:creationId xmlns:a16="http://schemas.microsoft.com/office/drawing/2014/main" id="{78681B3D-36A9-405C-9EEB-E5478D251444}"/>
              </a:ext>
            </a:extLst>
          </p:cNvPr>
          <p:cNvSpPr>
            <a:spLocks noGrp="1"/>
          </p:cNvSpPr>
          <p:nvPr/>
        </p:nvSpPr>
        <p:spPr>
          <a:xfrm>
            <a:off x="7791450" y="2476500"/>
            <a:ext cx="3467100" cy="228600"/>
          </a:xfrm>
          <a:prstGeom prst="rect">
            <a:avLst/>
          </a:prstGeom>
          <a:noFill/>
          <a:ln w="0">
            <a:noFill/>
            <a:prstDash val="solid"/>
          </a:ln>
        </p:spPr>
        <p:txBody>
          <a:bodyPr anchor="ctr"/>
          <a:lstStyle/>
          <a:p>
            <a:pPr algn="l">
              <a:defRPr sz="1125" b="1">
                <a:solidFill>
                  <a:srgbClr val="A7A4A2"/>
                </a:solidFill>
              </a:defRPr>
            </a:pPr>
            <a:r>
              <a:rPr sz="1125" b="1">
                <a:solidFill>
                  <a:srgbClr val="A7A4A2"/>
                </a:solidFill>
              </a:rPr>
              <a:t>AWS • STRESS</a:t>
            </a:r>
          </a:p>
        </p:txBody>
      </p:sp>
      <p:sp>
        <p:nvSpPr>
          <p:cNvPr id="15" name="Rectangle 14">
            <a:extLst>
              <a:ext uri="{FF2B5EF4-FFF2-40B4-BE49-F238E27FC236}">
                <a16:creationId xmlns:a16="http://schemas.microsoft.com/office/drawing/2014/main" id="{7BC1F969-3B9B-4105-904A-5F492E92588D}"/>
              </a:ext>
            </a:extLst>
          </p:cNvPr>
          <p:cNvSpPr>
            <a:spLocks noGrp="1"/>
          </p:cNvSpPr>
          <p:nvPr/>
        </p:nvSpPr>
        <p:spPr>
          <a:xfrm>
            <a:off x="7791450" y="2886075"/>
            <a:ext cx="3467100" cy="666750"/>
          </a:xfrm>
          <a:prstGeom prst="rect">
            <a:avLst/>
          </a:prstGeom>
          <a:noFill/>
          <a:ln w="0">
            <a:noFill/>
            <a:prstDash val="solid"/>
          </a:ln>
        </p:spPr>
        <p:txBody>
          <a:bodyPr anchor="ctr"/>
          <a:lstStyle/>
          <a:p>
            <a:pPr algn="l">
              <a:defRPr sz="3225" b="1">
                <a:solidFill>
                  <a:srgbClr val="FFFFFF"/>
                </a:solidFill>
              </a:defRPr>
            </a:pPr>
            <a:r>
              <a:rPr sz="3225" b="1">
                <a:solidFill>
                  <a:srgbClr val="FFFFFF"/>
                </a:solidFill>
              </a:rPr>
              <a:t>≤ R125k</a:t>
            </a:r>
          </a:p>
        </p:txBody>
      </p:sp>
      <p:sp>
        <p:nvSpPr>
          <p:cNvPr id="16" name="Rectangle 15">
            <a:extLst>
              <a:ext uri="{FF2B5EF4-FFF2-40B4-BE49-F238E27FC236}">
                <a16:creationId xmlns:a16="http://schemas.microsoft.com/office/drawing/2014/main" id="{1887A15B-36FC-4D78-BC38-572EB5239141}"/>
              </a:ext>
            </a:extLst>
          </p:cNvPr>
          <p:cNvSpPr>
            <a:spLocks noGrp="1"/>
          </p:cNvSpPr>
          <p:nvPr/>
        </p:nvSpPr>
        <p:spPr>
          <a:xfrm>
            <a:off x="7791450" y="3600450"/>
            <a:ext cx="3467100" cy="266700"/>
          </a:xfrm>
          <a:prstGeom prst="rect">
            <a:avLst/>
          </a:prstGeom>
          <a:noFill/>
          <a:ln w="0">
            <a:noFill/>
            <a:prstDash val="solid"/>
          </a:ln>
        </p:spPr>
        <p:txBody>
          <a:bodyPr anchor="ctr"/>
          <a:lstStyle/>
          <a:p>
            <a:pPr algn="l">
              <a:defRPr sz="1275" b="0">
                <a:solidFill>
                  <a:srgbClr val="BDBAB8"/>
                </a:solidFill>
              </a:defRPr>
            </a:pPr>
            <a:r>
              <a:rPr sz="1275" b="0">
                <a:solidFill>
                  <a:srgbClr val="BDBAB8"/>
                </a:solidFill>
              </a:rPr>
              <a:t>1,000 users × 50 queries</a:t>
            </a:r>
          </a:p>
        </p:txBody>
      </p:sp>
      <p:sp>
        <p:nvSpPr>
          <p:cNvPr id="17" name="Rectangle 16">
            <a:extLst>
              <a:ext uri="{FF2B5EF4-FFF2-40B4-BE49-F238E27FC236}">
                <a16:creationId xmlns:a16="http://schemas.microsoft.com/office/drawing/2014/main" id="{0DCFCF70-8247-4571-972B-5A9A623B0CFA}"/>
              </a:ext>
            </a:extLst>
          </p:cNvPr>
          <p:cNvSpPr>
            <a:spLocks noGrp="1"/>
          </p:cNvSpPr>
          <p:nvPr/>
        </p:nvSpPr>
        <p:spPr>
          <a:xfrm>
            <a:off x="628650" y="4686300"/>
            <a:ext cx="2476500" cy="228600"/>
          </a:xfrm>
          <a:prstGeom prst="rect">
            <a:avLst/>
          </a:prstGeom>
          <a:noFill/>
          <a:ln w="0">
            <a:noFill/>
            <a:prstDash val="solid"/>
          </a:ln>
        </p:spPr>
        <p:txBody>
          <a:bodyPr anchor="ctr"/>
          <a:lstStyle/>
          <a:p>
            <a:pPr algn="l">
              <a:defRPr sz="1125" b="1">
                <a:solidFill>
                  <a:srgbClr val="E60000"/>
                </a:solidFill>
              </a:defRPr>
            </a:pPr>
            <a:r>
              <a:rPr sz="1125" b="1">
                <a:solidFill>
                  <a:srgbClr val="E60000"/>
                </a:solidFill>
              </a:rPr>
              <a:t>WHAT DRIVES AWS COST</a:t>
            </a:r>
          </a:p>
        </p:txBody>
      </p:sp>
      <p:sp>
        <p:nvSpPr>
          <p:cNvPr id="18" name="Rectangle 17">
            <a:extLst>
              <a:ext uri="{FF2B5EF4-FFF2-40B4-BE49-F238E27FC236}">
                <a16:creationId xmlns:a16="http://schemas.microsoft.com/office/drawing/2014/main" id="{FD1F4A20-2E98-4BAF-B0B4-361F363DAC5C}"/>
              </a:ext>
            </a:extLst>
          </p:cNvPr>
          <p:cNvSpPr>
            <a:spLocks noGrp="1"/>
          </p:cNvSpPr>
          <p:nvPr/>
        </p:nvSpPr>
        <p:spPr>
          <a:xfrm>
            <a:off x="628650" y="5057775"/>
            <a:ext cx="266700" cy="228600"/>
          </a:xfrm>
          <a:prstGeom prst="rect">
            <a:avLst/>
          </a:prstGeom>
          <a:noFill/>
          <a:ln w="0">
            <a:noFill/>
            <a:prstDash val="solid"/>
          </a:ln>
        </p:spPr>
        <p:txBody>
          <a:bodyPr anchor="ctr"/>
          <a:lstStyle/>
          <a:p>
            <a:pPr algn="l">
              <a:defRPr sz="975" b="1">
                <a:solidFill>
                  <a:srgbClr val="E60000"/>
                </a:solidFill>
              </a:defRPr>
            </a:pPr>
            <a:r>
              <a:rPr sz="975" b="1">
                <a:solidFill>
                  <a:srgbClr val="E60000"/>
                </a:solidFill>
              </a:rPr>
              <a:t>01</a:t>
            </a:r>
          </a:p>
        </p:txBody>
      </p:sp>
      <p:sp>
        <p:nvSpPr>
          <p:cNvPr id="19" name="Rectangle 18">
            <a:extLst>
              <a:ext uri="{FF2B5EF4-FFF2-40B4-BE49-F238E27FC236}">
                <a16:creationId xmlns:a16="http://schemas.microsoft.com/office/drawing/2014/main" id="{A677D7B4-F0B0-4623-8BEB-8B50F894B5DD}"/>
              </a:ext>
            </a:extLst>
          </p:cNvPr>
          <p:cNvSpPr>
            <a:spLocks noGrp="1"/>
          </p:cNvSpPr>
          <p:nvPr/>
        </p:nvSpPr>
        <p:spPr>
          <a:xfrm>
            <a:off x="990600" y="5057775"/>
            <a:ext cx="1666875" cy="2286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Ingestion + API</a:t>
            </a:r>
          </a:p>
        </p:txBody>
      </p:sp>
      <p:sp>
        <p:nvSpPr>
          <p:cNvPr id="20" name="Rectangle 19">
            <a:extLst>
              <a:ext uri="{FF2B5EF4-FFF2-40B4-BE49-F238E27FC236}">
                <a16:creationId xmlns:a16="http://schemas.microsoft.com/office/drawing/2014/main" id="{E1D738C1-A3BD-4858-8CE5-7622337E56B2}"/>
              </a:ext>
            </a:extLst>
          </p:cNvPr>
          <p:cNvSpPr>
            <a:spLocks noGrp="1"/>
          </p:cNvSpPr>
          <p:nvPr/>
        </p:nvSpPr>
        <p:spPr>
          <a:xfrm>
            <a:off x="2800350" y="5057775"/>
            <a:ext cx="266700" cy="228600"/>
          </a:xfrm>
          <a:prstGeom prst="rect">
            <a:avLst/>
          </a:prstGeom>
          <a:noFill/>
          <a:ln w="0">
            <a:noFill/>
            <a:prstDash val="solid"/>
          </a:ln>
        </p:spPr>
        <p:txBody>
          <a:bodyPr anchor="ctr"/>
          <a:lstStyle/>
          <a:p>
            <a:pPr algn="l">
              <a:defRPr sz="975" b="1">
                <a:solidFill>
                  <a:srgbClr val="E60000"/>
                </a:solidFill>
              </a:defRPr>
            </a:pPr>
            <a:r>
              <a:rPr sz="975" b="1">
                <a:solidFill>
                  <a:srgbClr val="E60000"/>
                </a:solidFill>
              </a:rPr>
              <a:t>02</a:t>
            </a:r>
          </a:p>
        </p:txBody>
      </p:sp>
      <p:sp>
        <p:nvSpPr>
          <p:cNvPr id="21" name="Rectangle 20">
            <a:extLst>
              <a:ext uri="{FF2B5EF4-FFF2-40B4-BE49-F238E27FC236}">
                <a16:creationId xmlns:a16="http://schemas.microsoft.com/office/drawing/2014/main" id="{E33AD9DD-34A9-4F5F-82FF-CE4813C1AFD7}"/>
              </a:ext>
            </a:extLst>
          </p:cNvPr>
          <p:cNvSpPr>
            <a:spLocks noGrp="1"/>
          </p:cNvSpPr>
          <p:nvPr/>
        </p:nvSpPr>
        <p:spPr>
          <a:xfrm>
            <a:off x="3162300" y="5057775"/>
            <a:ext cx="1666875" cy="2286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S3 storage</a:t>
            </a:r>
          </a:p>
        </p:txBody>
      </p:sp>
      <p:sp>
        <p:nvSpPr>
          <p:cNvPr id="22" name="Rectangle 21">
            <a:extLst>
              <a:ext uri="{FF2B5EF4-FFF2-40B4-BE49-F238E27FC236}">
                <a16:creationId xmlns:a16="http://schemas.microsoft.com/office/drawing/2014/main" id="{19E32C1C-7D3B-4AA9-A7F4-3DC3D005AAE7}"/>
              </a:ext>
            </a:extLst>
          </p:cNvPr>
          <p:cNvSpPr>
            <a:spLocks noGrp="1"/>
          </p:cNvSpPr>
          <p:nvPr/>
        </p:nvSpPr>
        <p:spPr>
          <a:xfrm>
            <a:off x="4972050" y="5057775"/>
            <a:ext cx="266700" cy="228600"/>
          </a:xfrm>
          <a:prstGeom prst="rect">
            <a:avLst/>
          </a:prstGeom>
          <a:noFill/>
          <a:ln w="0">
            <a:noFill/>
            <a:prstDash val="solid"/>
          </a:ln>
        </p:spPr>
        <p:txBody>
          <a:bodyPr anchor="ctr"/>
          <a:lstStyle/>
          <a:p>
            <a:pPr algn="l">
              <a:defRPr sz="975" b="1">
                <a:solidFill>
                  <a:srgbClr val="E60000"/>
                </a:solidFill>
              </a:defRPr>
            </a:pPr>
            <a:r>
              <a:rPr sz="975" b="1">
                <a:solidFill>
                  <a:srgbClr val="E60000"/>
                </a:solidFill>
              </a:rPr>
              <a:t>03</a:t>
            </a:r>
          </a:p>
        </p:txBody>
      </p:sp>
      <p:sp>
        <p:nvSpPr>
          <p:cNvPr id="23" name="Rectangle 22">
            <a:extLst>
              <a:ext uri="{FF2B5EF4-FFF2-40B4-BE49-F238E27FC236}">
                <a16:creationId xmlns:a16="http://schemas.microsoft.com/office/drawing/2014/main" id="{D1AFBC82-CA0F-4940-B586-A9AE832D364A}"/>
              </a:ext>
            </a:extLst>
          </p:cNvPr>
          <p:cNvSpPr>
            <a:spLocks noGrp="1"/>
          </p:cNvSpPr>
          <p:nvPr/>
        </p:nvSpPr>
        <p:spPr>
          <a:xfrm>
            <a:off x="5334000" y="5057775"/>
            <a:ext cx="1666875" cy="2286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Glue processing</a:t>
            </a:r>
          </a:p>
        </p:txBody>
      </p:sp>
      <p:sp>
        <p:nvSpPr>
          <p:cNvPr id="24" name="Rectangle 23">
            <a:extLst>
              <a:ext uri="{FF2B5EF4-FFF2-40B4-BE49-F238E27FC236}">
                <a16:creationId xmlns:a16="http://schemas.microsoft.com/office/drawing/2014/main" id="{69DB0568-8EF5-42B0-9CC7-B0B9BF989AFB}"/>
              </a:ext>
            </a:extLst>
          </p:cNvPr>
          <p:cNvSpPr>
            <a:spLocks noGrp="1"/>
          </p:cNvSpPr>
          <p:nvPr/>
        </p:nvSpPr>
        <p:spPr>
          <a:xfrm>
            <a:off x="7143750" y="5057775"/>
            <a:ext cx="266700" cy="228600"/>
          </a:xfrm>
          <a:prstGeom prst="rect">
            <a:avLst/>
          </a:prstGeom>
          <a:noFill/>
          <a:ln w="0">
            <a:noFill/>
            <a:prstDash val="solid"/>
          </a:ln>
        </p:spPr>
        <p:txBody>
          <a:bodyPr anchor="ctr"/>
          <a:lstStyle/>
          <a:p>
            <a:pPr algn="l">
              <a:defRPr sz="975" b="1">
                <a:solidFill>
                  <a:srgbClr val="E60000"/>
                </a:solidFill>
              </a:defRPr>
            </a:pPr>
            <a:r>
              <a:rPr sz="975" b="1">
                <a:solidFill>
                  <a:srgbClr val="E60000"/>
                </a:solidFill>
              </a:rPr>
              <a:t>04</a:t>
            </a:r>
          </a:p>
        </p:txBody>
      </p:sp>
      <p:sp>
        <p:nvSpPr>
          <p:cNvPr id="25" name="Rectangle 24">
            <a:extLst>
              <a:ext uri="{FF2B5EF4-FFF2-40B4-BE49-F238E27FC236}">
                <a16:creationId xmlns:a16="http://schemas.microsoft.com/office/drawing/2014/main" id="{A82EA097-2FDE-49E5-B7E6-63E9AE4DCEF5}"/>
              </a:ext>
            </a:extLst>
          </p:cNvPr>
          <p:cNvSpPr>
            <a:spLocks noGrp="1"/>
          </p:cNvSpPr>
          <p:nvPr/>
        </p:nvSpPr>
        <p:spPr>
          <a:xfrm>
            <a:off x="7505700" y="5057775"/>
            <a:ext cx="1666875" cy="2286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Athena scans</a:t>
            </a:r>
          </a:p>
        </p:txBody>
      </p:sp>
      <p:sp>
        <p:nvSpPr>
          <p:cNvPr id="26" name="Rectangle 25">
            <a:extLst>
              <a:ext uri="{FF2B5EF4-FFF2-40B4-BE49-F238E27FC236}">
                <a16:creationId xmlns:a16="http://schemas.microsoft.com/office/drawing/2014/main" id="{E8C5F56D-622A-4E5F-BD37-05FD9BAA068B}"/>
              </a:ext>
            </a:extLst>
          </p:cNvPr>
          <p:cNvSpPr>
            <a:spLocks noGrp="1"/>
          </p:cNvSpPr>
          <p:nvPr/>
        </p:nvSpPr>
        <p:spPr>
          <a:xfrm>
            <a:off x="9315450" y="5057775"/>
            <a:ext cx="266700" cy="228600"/>
          </a:xfrm>
          <a:prstGeom prst="rect">
            <a:avLst/>
          </a:prstGeom>
          <a:noFill/>
          <a:ln w="0">
            <a:noFill/>
            <a:prstDash val="solid"/>
          </a:ln>
        </p:spPr>
        <p:txBody>
          <a:bodyPr anchor="ctr"/>
          <a:lstStyle/>
          <a:p>
            <a:pPr algn="l">
              <a:defRPr sz="975" b="1">
                <a:solidFill>
                  <a:srgbClr val="E60000"/>
                </a:solidFill>
              </a:defRPr>
            </a:pPr>
            <a:r>
              <a:rPr sz="975" b="1">
                <a:solidFill>
                  <a:srgbClr val="E60000"/>
                </a:solidFill>
              </a:rPr>
              <a:t>05</a:t>
            </a:r>
          </a:p>
        </p:txBody>
      </p:sp>
      <p:sp>
        <p:nvSpPr>
          <p:cNvPr id="27" name="Rectangle 26">
            <a:extLst>
              <a:ext uri="{FF2B5EF4-FFF2-40B4-BE49-F238E27FC236}">
                <a16:creationId xmlns:a16="http://schemas.microsoft.com/office/drawing/2014/main" id="{A6B7C757-D318-44AF-85FB-1EFBA261E6C7}"/>
              </a:ext>
            </a:extLst>
          </p:cNvPr>
          <p:cNvSpPr>
            <a:spLocks noGrp="1"/>
          </p:cNvSpPr>
          <p:nvPr/>
        </p:nvSpPr>
        <p:spPr>
          <a:xfrm>
            <a:off x="9677400" y="5057775"/>
            <a:ext cx="1666875" cy="228600"/>
          </a:xfrm>
          <a:prstGeom prst="rect">
            <a:avLst/>
          </a:prstGeom>
          <a:noFill/>
          <a:ln w="0">
            <a:noFill/>
            <a:prstDash val="solid"/>
          </a:ln>
        </p:spPr>
        <p:txBody>
          <a:bodyPr anchor="ctr"/>
          <a:lstStyle/>
          <a:p>
            <a:pPr algn="l">
              <a:defRPr sz="1200" b="1">
                <a:solidFill>
                  <a:srgbClr val="FFFFFF"/>
                </a:solidFill>
              </a:defRPr>
            </a:pPr>
            <a:r>
              <a:rPr sz="1200" b="1">
                <a:solidFill>
                  <a:srgbClr val="FFFFFF"/>
                </a:solidFill>
              </a:rPr>
              <a:t>QuickSight + support</a:t>
            </a:r>
          </a:p>
        </p:txBody>
      </p:sp>
      <p:sp>
        <p:nvSpPr>
          <p:cNvPr id="28" name="Rectangle 27">
            <a:extLst>
              <a:ext uri="{FF2B5EF4-FFF2-40B4-BE49-F238E27FC236}">
                <a16:creationId xmlns:a16="http://schemas.microsoft.com/office/drawing/2014/main" id="{016F15B1-FE90-4BD2-B640-6C577C47B270}"/>
              </a:ext>
            </a:extLst>
          </p:cNvPr>
          <p:cNvSpPr>
            <a:spLocks noGrp="1"/>
          </p:cNvSpPr>
          <p:nvPr/>
        </p:nvSpPr>
        <p:spPr>
          <a:xfrm>
            <a:off x="628650" y="5572125"/>
            <a:ext cx="10858500" cy="9525"/>
          </a:xfrm>
          <a:prstGeom prst="rect">
            <a:avLst/>
          </a:prstGeom>
          <a:solidFill>
            <a:srgbClr val="333333"/>
          </a:solidFill>
          <a:ln w="0">
            <a:noFill/>
            <a:prstDash val="solid"/>
          </a:ln>
        </p:spPr>
        <p:txBody>
          <a:bodyPr/>
          <a:lstStyle/>
          <a:p>
            <a:endParaRPr lang="en-ZA"/>
          </a:p>
        </p:txBody>
      </p:sp>
      <p:sp>
        <p:nvSpPr>
          <p:cNvPr id="29" name="Rectangle 28">
            <a:extLst>
              <a:ext uri="{FF2B5EF4-FFF2-40B4-BE49-F238E27FC236}">
                <a16:creationId xmlns:a16="http://schemas.microsoft.com/office/drawing/2014/main" id="{B8227A14-7814-4CFD-B249-949C90CF469F}"/>
              </a:ext>
            </a:extLst>
          </p:cNvPr>
          <p:cNvSpPr>
            <a:spLocks noGrp="1"/>
          </p:cNvSpPr>
          <p:nvPr/>
        </p:nvSpPr>
        <p:spPr>
          <a:xfrm>
            <a:off x="628650" y="5753100"/>
            <a:ext cx="10858500" cy="342900"/>
          </a:xfrm>
          <a:prstGeom prst="rect">
            <a:avLst/>
          </a:prstGeom>
          <a:noFill/>
          <a:ln w="0">
            <a:noFill/>
            <a:prstDash val="solid"/>
          </a:ln>
        </p:spPr>
        <p:txBody>
          <a:bodyPr anchor="ctr"/>
          <a:lstStyle/>
          <a:p>
            <a:pPr algn="l">
              <a:defRPr sz="1350" b="1">
                <a:solidFill>
                  <a:srgbClr val="C9C6C4"/>
                </a:solidFill>
              </a:defRPr>
            </a:pPr>
            <a:r>
              <a:rPr sz="1350" b="1">
                <a:solidFill>
                  <a:srgbClr val="C9C6C4"/>
                </a:solidFill>
              </a:rPr>
              <a:t>These are decision hurdles—not forecasts. Final cost needs signed-off volumes, scan sizes, licences and support.</a:t>
            </a:r>
          </a:p>
        </p:txBody>
      </p:sp>
      <p:sp>
        <p:nvSpPr>
          <p:cNvPr id="30" name="Rectangle 29">
            <a:extLst>
              <a:ext uri="{FF2B5EF4-FFF2-40B4-BE49-F238E27FC236}">
                <a16:creationId xmlns:a16="http://schemas.microsoft.com/office/drawing/2014/main" id="{E26DFB76-BAF4-4B7D-A986-A72DD5D27472}"/>
              </a:ext>
            </a:extLst>
          </p:cNvPr>
          <p:cNvSpPr>
            <a:spLocks noGrp="1"/>
          </p:cNvSpPr>
          <p:nvPr/>
        </p:nvSpPr>
        <p:spPr>
          <a:xfrm>
            <a:off x="628650" y="6419850"/>
            <a:ext cx="5334000" cy="171450"/>
          </a:xfrm>
          <a:prstGeom prst="rect">
            <a:avLst/>
          </a:prstGeom>
          <a:noFill/>
          <a:ln w="0">
            <a:noFill/>
            <a:prstDash val="solid"/>
          </a:ln>
        </p:spPr>
        <p:txBody>
          <a:bodyPr anchor="ctr"/>
          <a:lstStyle/>
          <a:p>
            <a:pPr algn="l">
              <a:defRPr sz="825" b="1">
                <a:solidFill>
                  <a:srgbClr val="777777"/>
                </a:solidFill>
              </a:defRPr>
            </a:pPr>
            <a:r>
              <a:rPr sz="825" b="1">
                <a:solidFill>
                  <a:srgbClr val="777777"/>
                </a:solidFill>
              </a:rPr>
              <a:t>VODACOM FINANCIAL SERVICES  •  DIGITAL ANALYTICS</a:t>
            </a:r>
          </a:p>
        </p:txBody>
      </p:sp>
      <p:sp>
        <p:nvSpPr>
          <p:cNvPr id="31" name="Rectangle 30">
            <a:extLst>
              <a:ext uri="{FF2B5EF4-FFF2-40B4-BE49-F238E27FC236}">
                <a16:creationId xmlns:a16="http://schemas.microsoft.com/office/drawing/2014/main" id="{AB418E3C-4CD5-438A-8CE4-D16B46F38A6D}"/>
              </a:ext>
            </a:extLst>
          </p:cNvPr>
          <p:cNvSpPr>
            <a:spLocks noGrp="1"/>
          </p:cNvSpPr>
          <p:nvPr/>
        </p:nvSpPr>
        <p:spPr>
          <a:xfrm>
            <a:off x="11096625" y="6419850"/>
            <a:ext cx="457200" cy="171450"/>
          </a:xfrm>
          <a:prstGeom prst="rect">
            <a:avLst/>
          </a:prstGeom>
          <a:noFill/>
          <a:ln w="0">
            <a:noFill/>
            <a:prstDash val="solid"/>
          </a:ln>
        </p:spPr>
        <p:txBody>
          <a:bodyPr anchor="ctr"/>
          <a:lstStyle/>
          <a:p>
            <a:pPr algn="r">
              <a:defRPr sz="825" b="1">
                <a:solidFill>
                  <a:srgbClr val="777777"/>
                </a:solidFill>
              </a:defRPr>
            </a:pPr>
            <a:r>
              <a:rPr sz="825" b="1">
                <a:solidFill>
                  <a:srgbClr val="777777"/>
                </a:solidFill>
              </a:rPr>
              <a:t>04</a:t>
            </a:r>
          </a:p>
        </p:txBody>
      </p:sp>
    </p:spTree>
    <p:extLst>
      <p:ext uri="{BB962C8B-B14F-4D97-AF65-F5344CB8AC3E}">
        <p14:creationId xmlns:p14="http://schemas.microsoft.com/office/powerpoint/2010/main" val="654649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E"/>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B123A57-329C-4FF4-B15F-7DA649DC5CDF}"/>
              </a:ext>
            </a:extLst>
          </p:cNvPr>
          <p:cNvSpPr>
            <a:spLocks noGrp="1"/>
          </p:cNvSpPr>
          <p:nvPr/>
        </p:nvSpPr>
        <p:spPr>
          <a:xfrm>
            <a:off x="628650" y="457200"/>
            <a:ext cx="2000250" cy="285750"/>
          </a:xfrm>
          <a:prstGeom prst="roundRect">
            <a:avLst>
              <a:gd name="adj" fmla="val 40000"/>
            </a:avLst>
          </a:prstGeom>
          <a:solidFill>
            <a:srgbClr val="E60000"/>
          </a:solidFill>
          <a:ln w="0">
            <a:noFill/>
            <a:prstDash val="solid"/>
          </a:ln>
        </p:spPr>
        <p:txBody>
          <a:bodyPr/>
          <a:lstStyle/>
          <a:p>
            <a:endParaRPr lang="en-ZA"/>
          </a:p>
        </p:txBody>
      </p:sp>
      <p:sp>
        <p:nvSpPr>
          <p:cNvPr id="2" name="Rectangle 1">
            <a:extLst>
              <a:ext uri="{FF2B5EF4-FFF2-40B4-BE49-F238E27FC236}">
                <a16:creationId xmlns:a16="http://schemas.microsoft.com/office/drawing/2014/main" id="{6F7A6E38-AE0D-4A64-9773-C21E5E8D5281}"/>
              </a:ext>
            </a:extLst>
          </p:cNvPr>
          <p:cNvSpPr>
            <a:spLocks noGrp="1"/>
          </p:cNvSpPr>
          <p:nvPr/>
        </p:nvSpPr>
        <p:spPr>
          <a:xfrm>
            <a:off x="628650" y="457200"/>
            <a:ext cx="20002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MIGRATION + ROLLOUT</a:t>
            </a:r>
          </a:p>
        </p:txBody>
      </p:sp>
      <p:sp>
        <p:nvSpPr>
          <p:cNvPr id="3" name="Rectangle 2">
            <a:extLst>
              <a:ext uri="{FF2B5EF4-FFF2-40B4-BE49-F238E27FC236}">
                <a16:creationId xmlns:a16="http://schemas.microsoft.com/office/drawing/2014/main" id="{9B976FC4-0730-47DD-823F-466FB6959510}"/>
              </a:ext>
            </a:extLst>
          </p:cNvPr>
          <p:cNvSpPr>
            <a:spLocks noGrp="1"/>
          </p:cNvSpPr>
          <p:nvPr/>
        </p:nvSpPr>
        <p:spPr>
          <a:xfrm>
            <a:off x="628650" y="876300"/>
            <a:ext cx="6191250" cy="1000125"/>
          </a:xfrm>
          <a:prstGeom prst="rect">
            <a:avLst/>
          </a:prstGeom>
          <a:noFill/>
          <a:ln w="0">
            <a:noFill/>
            <a:prstDash val="solid"/>
          </a:ln>
        </p:spPr>
        <p:txBody>
          <a:bodyPr anchor="ctr"/>
          <a:lstStyle/>
          <a:p>
            <a:pPr algn="l">
              <a:defRPr sz="3000" b="1">
                <a:solidFill>
                  <a:srgbClr val="171719"/>
                </a:solidFill>
              </a:defRPr>
            </a:pPr>
            <a:r>
              <a:rPr sz="3000" b="1">
                <a:solidFill>
                  <a:srgbClr val="171719"/>
                </a:solidFill>
              </a:rPr>
              <a:t>Prove it in parallel.</a:t>
            </a:r>
          </a:p>
          <a:p>
            <a:pPr algn="l">
              <a:defRPr sz="3000" b="1">
                <a:solidFill>
                  <a:srgbClr val="171719"/>
                </a:solidFill>
              </a:defRPr>
            </a:pPr>
            <a:r>
              <a:rPr sz="3000" b="1">
                <a:solidFill>
                  <a:srgbClr val="171719"/>
                </a:solidFill>
              </a:rPr>
              <a:t>Scale it with confidence.</a:t>
            </a:r>
          </a:p>
        </p:txBody>
      </p:sp>
      <p:pic>
        <p:nvPicPr>
          <p:cNvPr id="13" name="Picture 12"/>
          <p:cNvPicPr>
            <a:picLocks noChangeAspect="1"/>
          </p:cNvPicPr>
          <p:nvPr/>
        </p:nvPicPr>
        <p:blipFill>
          <a:blip r:embed="rId3"/>
          <a:stretch/>
        </p:blipFill>
        <p:spPr>
          <a:xfrm>
            <a:off x="2667000" y="1952625"/>
            <a:ext cx="6858000" cy="3857625"/>
          </a:xfrm>
          <a:prstGeom prst="rect">
            <a:avLst/>
          </a:prstGeom>
        </p:spPr>
      </p:pic>
      <p:sp>
        <p:nvSpPr>
          <p:cNvPr id="5" name="Rectangle 4">
            <a:extLst>
              <a:ext uri="{FF2B5EF4-FFF2-40B4-BE49-F238E27FC236}">
                <a16:creationId xmlns:a16="http://schemas.microsoft.com/office/drawing/2014/main" id="{7A647CED-870C-49D7-97CA-ACA92AA60BC2}"/>
              </a:ext>
            </a:extLst>
          </p:cNvPr>
          <p:cNvSpPr>
            <a:spLocks noGrp="1"/>
          </p:cNvSpPr>
          <p:nvPr/>
        </p:nvSpPr>
        <p:spPr>
          <a:xfrm>
            <a:off x="628650" y="5924550"/>
            <a:ext cx="10858500" cy="19050"/>
          </a:xfrm>
          <a:prstGeom prst="rect">
            <a:avLst/>
          </a:prstGeom>
          <a:solidFill>
            <a:srgbClr val="171719"/>
          </a:solidFill>
          <a:ln w="0">
            <a:noFill/>
            <a:prstDash val="solid"/>
          </a:ln>
        </p:spPr>
        <p:txBody>
          <a:bodyPr/>
          <a:lstStyle/>
          <a:p>
            <a:endParaRPr lang="en-ZA"/>
          </a:p>
        </p:txBody>
      </p:sp>
      <p:sp>
        <p:nvSpPr>
          <p:cNvPr id="6" name="Rectangle 5">
            <a:extLst>
              <a:ext uri="{FF2B5EF4-FFF2-40B4-BE49-F238E27FC236}">
                <a16:creationId xmlns:a16="http://schemas.microsoft.com/office/drawing/2014/main" id="{FB3609AE-46F6-4EBA-9E87-552F4A3D89BC}"/>
              </a:ext>
            </a:extLst>
          </p:cNvPr>
          <p:cNvSpPr>
            <a:spLocks noGrp="1"/>
          </p:cNvSpPr>
          <p:nvPr/>
        </p:nvSpPr>
        <p:spPr>
          <a:xfrm>
            <a:off x="628650" y="6076950"/>
            <a:ext cx="1047750" cy="219075"/>
          </a:xfrm>
          <a:prstGeom prst="rect">
            <a:avLst/>
          </a:prstGeom>
          <a:noFill/>
          <a:ln w="0">
            <a:noFill/>
            <a:prstDash val="solid"/>
          </a:ln>
        </p:spPr>
        <p:txBody>
          <a:bodyPr anchor="ctr"/>
          <a:lstStyle/>
          <a:p>
            <a:pPr algn="l">
              <a:defRPr sz="1050" b="1">
                <a:solidFill>
                  <a:srgbClr val="E60000"/>
                </a:solidFill>
              </a:defRPr>
            </a:pPr>
            <a:r>
              <a:rPr sz="1050" b="1">
                <a:solidFill>
                  <a:srgbClr val="E60000"/>
                </a:solidFill>
              </a:rPr>
              <a:t>EXIT GATE</a:t>
            </a:r>
          </a:p>
        </p:txBody>
      </p:sp>
      <p:sp>
        <p:nvSpPr>
          <p:cNvPr id="7" name="Rectangle 6">
            <a:extLst>
              <a:ext uri="{FF2B5EF4-FFF2-40B4-BE49-F238E27FC236}">
                <a16:creationId xmlns:a16="http://schemas.microsoft.com/office/drawing/2014/main" id="{F99DF271-51E0-4A3D-B735-0FEBC765519A}"/>
              </a:ext>
            </a:extLst>
          </p:cNvPr>
          <p:cNvSpPr>
            <a:spLocks noGrp="1"/>
          </p:cNvSpPr>
          <p:nvPr/>
        </p:nvSpPr>
        <p:spPr>
          <a:xfrm>
            <a:off x="1809750" y="6076950"/>
            <a:ext cx="6572250" cy="219075"/>
          </a:xfrm>
          <a:prstGeom prst="rect">
            <a:avLst/>
          </a:prstGeom>
          <a:noFill/>
          <a:ln w="0">
            <a:noFill/>
            <a:prstDash val="solid"/>
          </a:ln>
        </p:spPr>
        <p:txBody>
          <a:bodyPr anchor="ctr"/>
          <a:lstStyle/>
          <a:p>
            <a:pPr algn="l">
              <a:defRPr sz="1350" b="1">
                <a:solidFill>
                  <a:srgbClr val="171719"/>
                </a:solidFill>
              </a:defRPr>
            </a:pPr>
            <a:r>
              <a:rPr sz="1350" b="1">
                <a:solidFill>
                  <a:srgbClr val="171719"/>
                </a:solidFill>
              </a:rPr>
              <a:t>Accuracy + capability + operational readiness signed off</a:t>
            </a:r>
          </a:p>
        </p:txBody>
      </p:sp>
      <p:sp>
        <p:nvSpPr>
          <p:cNvPr id="8" name="Rectangle 7">
            <a:extLst>
              <a:ext uri="{FF2B5EF4-FFF2-40B4-BE49-F238E27FC236}">
                <a16:creationId xmlns:a16="http://schemas.microsoft.com/office/drawing/2014/main" id="{3C3218DA-B744-48D4-BB5B-809B4A62C279}"/>
              </a:ext>
            </a:extLst>
          </p:cNvPr>
          <p:cNvSpPr>
            <a:spLocks noGrp="1"/>
          </p:cNvSpPr>
          <p:nvPr/>
        </p:nvSpPr>
        <p:spPr>
          <a:xfrm>
            <a:off x="628650" y="6419850"/>
            <a:ext cx="5334000" cy="171450"/>
          </a:xfrm>
          <a:prstGeom prst="rect">
            <a:avLst/>
          </a:prstGeom>
          <a:noFill/>
          <a:ln w="0">
            <a:noFill/>
            <a:prstDash val="solid"/>
          </a:ln>
        </p:spPr>
        <p:txBody>
          <a:bodyPr anchor="ctr"/>
          <a:lstStyle/>
          <a:p>
            <a:pPr algn="l">
              <a:defRPr sz="825" b="1">
                <a:solidFill>
                  <a:srgbClr val="8A8582"/>
                </a:solidFill>
              </a:defRPr>
            </a:pPr>
            <a:r>
              <a:rPr sz="825" b="1">
                <a:solidFill>
                  <a:srgbClr val="8A8582"/>
                </a:solidFill>
              </a:rPr>
              <a:t>VODACOM FINANCIAL SERVICES  •  DIGITAL ANALYTICS</a:t>
            </a:r>
          </a:p>
        </p:txBody>
      </p:sp>
      <p:sp>
        <p:nvSpPr>
          <p:cNvPr id="9" name="Rectangle 8">
            <a:extLst>
              <a:ext uri="{FF2B5EF4-FFF2-40B4-BE49-F238E27FC236}">
                <a16:creationId xmlns:a16="http://schemas.microsoft.com/office/drawing/2014/main" id="{C94BB99F-0E7A-46C8-BAF8-09A3C9CF02D4}"/>
              </a:ext>
            </a:extLst>
          </p:cNvPr>
          <p:cNvSpPr>
            <a:spLocks noGrp="1"/>
          </p:cNvSpPr>
          <p:nvPr/>
        </p:nvSpPr>
        <p:spPr>
          <a:xfrm>
            <a:off x="11096625" y="6419850"/>
            <a:ext cx="457200" cy="171450"/>
          </a:xfrm>
          <a:prstGeom prst="rect">
            <a:avLst/>
          </a:prstGeom>
          <a:noFill/>
          <a:ln w="0">
            <a:noFill/>
            <a:prstDash val="solid"/>
          </a:ln>
        </p:spPr>
        <p:txBody>
          <a:bodyPr anchor="ctr"/>
          <a:lstStyle/>
          <a:p>
            <a:pPr algn="r">
              <a:defRPr sz="825" b="1">
                <a:solidFill>
                  <a:srgbClr val="8A8582"/>
                </a:solidFill>
              </a:defRPr>
            </a:pPr>
            <a:r>
              <a:rPr sz="825" b="1">
                <a:solidFill>
                  <a:srgbClr val="8A8582"/>
                </a:solidFill>
              </a:rPr>
              <a:t>05</a:t>
            </a:r>
          </a:p>
        </p:txBody>
      </p:sp>
    </p:spTree>
    <p:extLst>
      <p:ext uri="{BB962C8B-B14F-4D97-AF65-F5344CB8AC3E}">
        <p14:creationId xmlns:p14="http://schemas.microsoft.com/office/powerpoint/2010/main" val="2028504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B0C"/>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F541CB48-2C8F-4183-AD0E-58DAE983A4E2}"/>
              </a:ext>
            </a:extLst>
          </p:cNvPr>
          <p:cNvSpPr>
            <a:spLocks noGrp="1"/>
          </p:cNvSpPr>
          <p:nvPr/>
        </p:nvSpPr>
        <p:spPr>
          <a:xfrm>
            <a:off x="0" y="0"/>
            <a:ext cx="171450" cy="6858000"/>
          </a:xfrm>
          <a:prstGeom prst="rect">
            <a:avLst/>
          </a:prstGeom>
          <a:solidFill>
            <a:srgbClr val="E60000"/>
          </a:solidFill>
          <a:ln w="0">
            <a:noFill/>
            <a:prstDash val="solid"/>
          </a:ln>
        </p:spPr>
        <p:txBody>
          <a:bodyPr/>
          <a:lstStyle/>
          <a:p>
            <a:endParaRPr lang="en-ZA"/>
          </a:p>
        </p:txBody>
      </p:sp>
      <p:sp>
        <p:nvSpPr>
          <p:cNvPr id="2" name="Rectangle: Rounded Corners 1">
            <a:extLst>
              <a:ext uri="{FF2B5EF4-FFF2-40B4-BE49-F238E27FC236}">
                <a16:creationId xmlns:a16="http://schemas.microsoft.com/office/drawing/2014/main" id="{CA312CC2-CA6C-447D-BBDC-0BDF1DB5EA4E}"/>
              </a:ext>
            </a:extLst>
          </p:cNvPr>
          <p:cNvSpPr>
            <a:spLocks noGrp="1"/>
          </p:cNvSpPr>
          <p:nvPr/>
        </p:nvSpPr>
        <p:spPr>
          <a:xfrm>
            <a:off x="628650" y="457200"/>
            <a:ext cx="2000250" cy="285750"/>
          </a:xfrm>
          <a:prstGeom prst="roundRect">
            <a:avLst>
              <a:gd name="adj" fmla="val 40000"/>
            </a:avLst>
          </a:prstGeom>
          <a:solidFill>
            <a:srgbClr val="E60000"/>
          </a:solidFill>
          <a:ln w="0">
            <a:noFill/>
            <a:prstDash val="solid"/>
          </a:ln>
        </p:spPr>
        <p:txBody>
          <a:bodyPr/>
          <a:lstStyle/>
          <a:p>
            <a:endParaRPr lang="en-ZA"/>
          </a:p>
        </p:txBody>
      </p:sp>
      <p:sp>
        <p:nvSpPr>
          <p:cNvPr id="3" name="Rectangle 2">
            <a:extLst>
              <a:ext uri="{FF2B5EF4-FFF2-40B4-BE49-F238E27FC236}">
                <a16:creationId xmlns:a16="http://schemas.microsoft.com/office/drawing/2014/main" id="{C84C058C-8AE7-42B6-99AE-F796B06CC9E1}"/>
              </a:ext>
            </a:extLst>
          </p:cNvPr>
          <p:cNvSpPr>
            <a:spLocks noGrp="1"/>
          </p:cNvSpPr>
          <p:nvPr/>
        </p:nvSpPr>
        <p:spPr>
          <a:xfrm>
            <a:off x="628650" y="457200"/>
            <a:ext cx="20002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POC DEMO + FUTURE</a:t>
            </a:r>
          </a:p>
        </p:txBody>
      </p:sp>
      <p:sp>
        <p:nvSpPr>
          <p:cNvPr id="4" name="Rectangle 3">
            <a:extLst>
              <a:ext uri="{FF2B5EF4-FFF2-40B4-BE49-F238E27FC236}">
                <a16:creationId xmlns:a16="http://schemas.microsoft.com/office/drawing/2014/main" id="{B9935DC3-F3CE-468C-A0C4-32D58EA8E518}"/>
              </a:ext>
            </a:extLst>
          </p:cNvPr>
          <p:cNvSpPr>
            <a:spLocks noGrp="1"/>
          </p:cNvSpPr>
          <p:nvPr/>
        </p:nvSpPr>
        <p:spPr>
          <a:xfrm>
            <a:off x="628650" y="876300"/>
            <a:ext cx="4953000" cy="1000125"/>
          </a:xfrm>
          <a:prstGeom prst="rect">
            <a:avLst/>
          </a:prstGeom>
          <a:noFill/>
          <a:ln w="0">
            <a:noFill/>
            <a:prstDash val="solid"/>
          </a:ln>
        </p:spPr>
        <p:txBody>
          <a:bodyPr anchor="ctr"/>
          <a:lstStyle/>
          <a:p>
            <a:pPr algn="l">
              <a:defRPr sz="3150" b="1">
                <a:solidFill>
                  <a:srgbClr val="FFFFFF"/>
                </a:solidFill>
              </a:defRPr>
            </a:pPr>
            <a:r>
              <a:rPr sz="3150" b="1">
                <a:solidFill>
                  <a:srgbClr val="FFFFFF"/>
                </a:solidFill>
              </a:rPr>
              <a:t>Build once.</a:t>
            </a:r>
          </a:p>
          <a:p>
            <a:pPr algn="l">
              <a:defRPr sz="3150" b="1">
                <a:solidFill>
                  <a:srgbClr val="FFFFFF"/>
                </a:solidFill>
              </a:defRPr>
            </a:pPr>
            <a:r>
              <a:rPr sz="3150" b="1">
                <a:solidFill>
                  <a:srgbClr val="FFFFFF"/>
                </a:solidFill>
              </a:rPr>
              <a:t>Reuse across VFS.</a:t>
            </a:r>
          </a:p>
        </p:txBody>
      </p:sp>
      <p:sp>
        <p:nvSpPr>
          <p:cNvPr id="5" name="Rectangle: Rounded Corners 4">
            <a:extLst>
              <a:ext uri="{FF2B5EF4-FFF2-40B4-BE49-F238E27FC236}">
                <a16:creationId xmlns:a16="http://schemas.microsoft.com/office/drawing/2014/main" id="{A1910DD6-8BB1-4B83-BBB5-B1A94979B344}"/>
              </a:ext>
            </a:extLst>
          </p:cNvPr>
          <p:cNvSpPr>
            <a:spLocks noGrp="1"/>
          </p:cNvSpPr>
          <p:nvPr/>
        </p:nvSpPr>
        <p:spPr>
          <a:xfrm>
            <a:off x="628650" y="2247900"/>
            <a:ext cx="5715000" cy="3162300"/>
          </a:xfrm>
          <a:prstGeom prst="roundRect">
            <a:avLst>
              <a:gd name="adj" fmla="val 3614"/>
            </a:avLst>
          </a:prstGeom>
          <a:solidFill>
            <a:srgbClr val="161617"/>
          </a:solidFill>
          <a:ln w="9525">
            <a:solidFill>
              <a:srgbClr val="333333"/>
            </a:solidFill>
            <a:prstDash val="solid"/>
          </a:ln>
        </p:spPr>
        <p:txBody>
          <a:bodyPr/>
          <a:lstStyle/>
          <a:p>
            <a:endParaRPr lang="en-ZA"/>
          </a:p>
        </p:txBody>
      </p:sp>
      <p:sp>
        <p:nvSpPr>
          <p:cNvPr id="6" name="Rectangle 5">
            <a:extLst>
              <a:ext uri="{FF2B5EF4-FFF2-40B4-BE49-F238E27FC236}">
                <a16:creationId xmlns:a16="http://schemas.microsoft.com/office/drawing/2014/main" id="{6B7B73AB-C74B-4EBC-BB24-DEA25AFC1C93}"/>
              </a:ext>
            </a:extLst>
          </p:cNvPr>
          <p:cNvSpPr>
            <a:spLocks noGrp="1"/>
          </p:cNvSpPr>
          <p:nvPr/>
        </p:nvSpPr>
        <p:spPr>
          <a:xfrm>
            <a:off x="876300" y="2457450"/>
            <a:ext cx="2286000" cy="209550"/>
          </a:xfrm>
          <a:prstGeom prst="rect">
            <a:avLst/>
          </a:prstGeom>
          <a:noFill/>
          <a:ln w="0">
            <a:noFill/>
            <a:prstDash val="solid"/>
          </a:ln>
        </p:spPr>
        <p:txBody>
          <a:bodyPr anchor="ctr"/>
          <a:lstStyle/>
          <a:p>
            <a:pPr algn="l">
              <a:defRPr sz="1050" b="1">
                <a:solidFill>
                  <a:srgbClr val="E60000"/>
                </a:solidFill>
              </a:defRPr>
            </a:pPr>
            <a:r>
              <a:rPr sz="1050" b="1">
                <a:solidFill>
                  <a:srgbClr val="E60000"/>
                </a:solidFill>
              </a:rPr>
              <a:t>VOUCHERS JOURNEY</a:t>
            </a:r>
          </a:p>
        </p:txBody>
      </p:sp>
      <p:sp>
        <p:nvSpPr>
          <p:cNvPr id="7" name="Rectangle 6">
            <a:extLst>
              <a:ext uri="{FF2B5EF4-FFF2-40B4-BE49-F238E27FC236}">
                <a16:creationId xmlns:a16="http://schemas.microsoft.com/office/drawing/2014/main" id="{21837581-7893-45EA-982D-9F2413003B7A}"/>
              </a:ext>
            </a:extLst>
          </p:cNvPr>
          <p:cNvSpPr>
            <a:spLocks noGrp="1"/>
          </p:cNvSpPr>
          <p:nvPr/>
        </p:nvSpPr>
        <p:spPr>
          <a:xfrm>
            <a:off x="876300" y="2762250"/>
            <a:ext cx="4000500" cy="342900"/>
          </a:xfrm>
          <a:prstGeom prst="rect">
            <a:avLst/>
          </a:prstGeom>
          <a:noFill/>
          <a:ln w="0">
            <a:noFill/>
            <a:prstDash val="solid"/>
          </a:ln>
        </p:spPr>
        <p:txBody>
          <a:bodyPr anchor="ctr"/>
          <a:lstStyle/>
          <a:p>
            <a:pPr algn="l">
              <a:defRPr sz="2025" b="1">
                <a:solidFill>
                  <a:srgbClr val="FFFFFF"/>
                </a:solidFill>
              </a:defRPr>
            </a:pPr>
            <a:r>
              <a:rPr sz="2025" b="1">
                <a:solidFill>
                  <a:srgbClr val="FFFFFF"/>
                </a:solidFill>
              </a:rPr>
              <a:t>Where does value leak?</a:t>
            </a:r>
          </a:p>
        </p:txBody>
      </p:sp>
      <p:sp>
        <p:nvSpPr>
          <p:cNvPr id="8" name="Rectangle 7">
            <a:extLst>
              <a:ext uri="{FF2B5EF4-FFF2-40B4-BE49-F238E27FC236}">
                <a16:creationId xmlns:a16="http://schemas.microsoft.com/office/drawing/2014/main" id="{0BBB66D1-D696-46B4-80EF-A0FD7D0AF009}"/>
              </a:ext>
            </a:extLst>
          </p:cNvPr>
          <p:cNvSpPr>
            <a:spLocks noGrp="1"/>
          </p:cNvSpPr>
          <p:nvPr/>
        </p:nvSpPr>
        <p:spPr>
          <a:xfrm>
            <a:off x="876300" y="3324225"/>
            <a:ext cx="1476375" cy="409575"/>
          </a:xfrm>
          <a:prstGeom prst="rect">
            <a:avLst/>
          </a:prstGeom>
          <a:noFill/>
          <a:ln w="0">
            <a:noFill/>
            <a:prstDash val="solid"/>
          </a:ln>
        </p:spPr>
        <p:txBody>
          <a:bodyPr anchor="ctr"/>
          <a:lstStyle/>
          <a:p>
            <a:pPr algn="l">
              <a:defRPr sz="2250" b="1">
                <a:solidFill>
                  <a:srgbClr val="FFFFFF"/>
                </a:solidFill>
              </a:defRPr>
            </a:pPr>
            <a:r>
              <a:rPr sz="2250" b="1">
                <a:solidFill>
                  <a:srgbClr val="FFFFFF"/>
                </a:solidFill>
              </a:rPr>
              <a:t>80.4k</a:t>
            </a:r>
          </a:p>
        </p:txBody>
      </p:sp>
      <p:sp>
        <p:nvSpPr>
          <p:cNvPr id="9" name="Rectangle 8">
            <a:extLst>
              <a:ext uri="{FF2B5EF4-FFF2-40B4-BE49-F238E27FC236}">
                <a16:creationId xmlns:a16="http://schemas.microsoft.com/office/drawing/2014/main" id="{BD0C85BD-2C9B-41D1-A71D-2DEE033B06D1}"/>
              </a:ext>
            </a:extLst>
          </p:cNvPr>
          <p:cNvSpPr>
            <a:spLocks noGrp="1"/>
          </p:cNvSpPr>
          <p:nvPr/>
        </p:nvSpPr>
        <p:spPr>
          <a:xfrm>
            <a:off x="876300" y="3771900"/>
            <a:ext cx="1476375" cy="200025"/>
          </a:xfrm>
          <a:prstGeom prst="rect">
            <a:avLst/>
          </a:prstGeom>
          <a:noFill/>
          <a:ln w="0">
            <a:noFill/>
            <a:prstDash val="solid"/>
          </a:ln>
        </p:spPr>
        <p:txBody>
          <a:bodyPr anchor="ctr"/>
          <a:lstStyle/>
          <a:p>
            <a:pPr algn="l">
              <a:defRPr sz="975" b="1">
                <a:solidFill>
                  <a:srgbClr val="92908E"/>
                </a:solidFill>
              </a:defRPr>
            </a:pPr>
            <a:r>
              <a:rPr sz="975" b="1">
                <a:solidFill>
                  <a:srgbClr val="92908E"/>
                </a:solidFill>
              </a:rPr>
              <a:t>PRODUCT VIEWS</a:t>
            </a:r>
          </a:p>
        </p:txBody>
      </p:sp>
      <p:sp>
        <p:nvSpPr>
          <p:cNvPr id="10" name="Rectangle 9">
            <a:extLst>
              <a:ext uri="{FF2B5EF4-FFF2-40B4-BE49-F238E27FC236}">
                <a16:creationId xmlns:a16="http://schemas.microsoft.com/office/drawing/2014/main" id="{6ACBB76A-053C-4946-A75D-744009E95F5C}"/>
              </a:ext>
            </a:extLst>
          </p:cNvPr>
          <p:cNvSpPr>
            <a:spLocks noGrp="1"/>
          </p:cNvSpPr>
          <p:nvPr/>
        </p:nvSpPr>
        <p:spPr>
          <a:xfrm>
            <a:off x="876300" y="4105275"/>
            <a:ext cx="1476375" cy="57150"/>
          </a:xfrm>
          <a:prstGeom prst="rect">
            <a:avLst/>
          </a:prstGeom>
          <a:solidFill>
            <a:srgbClr val="FFFFFF"/>
          </a:solidFill>
          <a:ln w="0">
            <a:noFill/>
            <a:prstDash val="solid"/>
          </a:ln>
        </p:spPr>
        <p:txBody>
          <a:bodyPr/>
          <a:lstStyle/>
          <a:p>
            <a:endParaRPr lang="en-ZA"/>
          </a:p>
        </p:txBody>
      </p:sp>
      <p:sp>
        <p:nvSpPr>
          <p:cNvPr id="11" name="Rectangle 10">
            <a:extLst>
              <a:ext uri="{FF2B5EF4-FFF2-40B4-BE49-F238E27FC236}">
                <a16:creationId xmlns:a16="http://schemas.microsoft.com/office/drawing/2014/main" id="{455BB6B9-085C-495C-884D-731C32BBFACE}"/>
              </a:ext>
            </a:extLst>
          </p:cNvPr>
          <p:cNvSpPr>
            <a:spLocks noGrp="1"/>
          </p:cNvSpPr>
          <p:nvPr/>
        </p:nvSpPr>
        <p:spPr>
          <a:xfrm>
            <a:off x="2571750" y="3324225"/>
            <a:ext cx="1476375" cy="409575"/>
          </a:xfrm>
          <a:prstGeom prst="rect">
            <a:avLst/>
          </a:prstGeom>
          <a:noFill/>
          <a:ln w="0">
            <a:noFill/>
            <a:prstDash val="solid"/>
          </a:ln>
        </p:spPr>
        <p:txBody>
          <a:bodyPr anchor="ctr"/>
          <a:lstStyle/>
          <a:p>
            <a:pPr algn="l">
              <a:defRPr sz="2250" b="1">
                <a:solidFill>
                  <a:srgbClr val="FFFFFF"/>
                </a:solidFill>
              </a:defRPr>
            </a:pPr>
            <a:r>
              <a:rPr sz="2250" b="1">
                <a:solidFill>
                  <a:srgbClr val="FFFFFF"/>
                </a:solidFill>
              </a:rPr>
              <a:t>46.3k</a:t>
            </a:r>
          </a:p>
        </p:txBody>
      </p:sp>
      <p:sp>
        <p:nvSpPr>
          <p:cNvPr id="12" name="Rectangle 11">
            <a:extLst>
              <a:ext uri="{FF2B5EF4-FFF2-40B4-BE49-F238E27FC236}">
                <a16:creationId xmlns:a16="http://schemas.microsoft.com/office/drawing/2014/main" id="{9ED0234A-A608-4B65-B42A-96484990F4D1}"/>
              </a:ext>
            </a:extLst>
          </p:cNvPr>
          <p:cNvSpPr>
            <a:spLocks noGrp="1"/>
          </p:cNvSpPr>
          <p:nvPr/>
        </p:nvSpPr>
        <p:spPr>
          <a:xfrm>
            <a:off x="2571750" y="3771900"/>
            <a:ext cx="1476375" cy="200025"/>
          </a:xfrm>
          <a:prstGeom prst="rect">
            <a:avLst/>
          </a:prstGeom>
          <a:noFill/>
          <a:ln w="0">
            <a:noFill/>
            <a:prstDash val="solid"/>
          </a:ln>
        </p:spPr>
        <p:txBody>
          <a:bodyPr anchor="ctr"/>
          <a:lstStyle/>
          <a:p>
            <a:pPr algn="l">
              <a:defRPr sz="975" b="1">
                <a:solidFill>
                  <a:srgbClr val="92908E"/>
                </a:solidFill>
              </a:defRPr>
            </a:pPr>
            <a:r>
              <a:rPr sz="975" b="1">
                <a:solidFill>
                  <a:srgbClr val="92908E"/>
                </a:solidFill>
              </a:rPr>
              <a:t>CART ADDS</a:t>
            </a:r>
          </a:p>
        </p:txBody>
      </p:sp>
      <p:sp>
        <p:nvSpPr>
          <p:cNvPr id="13" name="Rectangle 12">
            <a:extLst>
              <a:ext uri="{FF2B5EF4-FFF2-40B4-BE49-F238E27FC236}">
                <a16:creationId xmlns:a16="http://schemas.microsoft.com/office/drawing/2014/main" id="{81BC93E2-EB48-42FD-B8D2-F7D4E1B0FC23}"/>
              </a:ext>
            </a:extLst>
          </p:cNvPr>
          <p:cNvSpPr>
            <a:spLocks noGrp="1"/>
          </p:cNvSpPr>
          <p:nvPr/>
        </p:nvSpPr>
        <p:spPr>
          <a:xfrm>
            <a:off x="2571750" y="4105275"/>
            <a:ext cx="1476375" cy="57150"/>
          </a:xfrm>
          <a:prstGeom prst="rect">
            <a:avLst/>
          </a:prstGeom>
          <a:solidFill>
            <a:srgbClr val="FF5555"/>
          </a:solidFill>
          <a:ln w="0">
            <a:noFill/>
            <a:prstDash val="solid"/>
          </a:ln>
        </p:spPr>
        <p:txBody>
          <a:bodyPr/>
          <a:lstStyle/>
          <a:p>
            <a:endParaRPr lang="en-ZA"/>
          </a:p>
        </p:txBody>
      </p:sp>
      <p:sp>
        <p:nvSpPr>
          <p:cNvPr id="14" name="Rectangle 13">
            <a:extLst>
              <a:ext uri="{FF2B5EF4-FFF2-40B4-BE49-F238E27FC236}">
                <a16:creationId xmlns:a16="http://schemas.microsoft.com/office/drawing/2014/main" id="{2062D231-4D21-4034-9DAE-A4C86F0C8E31}"/>
              </a:ext>
            </a:extLst>
          </p:cNvPr>
          <p:cNvSpPr>
            <a:spLocks noGrp="1"/>
          </p:cNvSpPr>
          <p:nvPr/>
        </p:nvSpPr>
        <p:spPr>
          <a:xfrm>
            <a:off x="4267200" y="3324225"/>
            <a:ext cx="1476375" cy="409575"/>
          </a:xfrm>
          <a:prstGeom prst="rect">
            <a:avLst/>
          </a:prstGeom>
          <a:noFill/>
          <a:ln w="0">
            <a:noFill/>
            <a:prstDash val="solid"/>
          </a:ln>
        </p:spPr>
        <p:txBody>
          <a:bodyPr anchor="ctr"/>
          <a:lstStyle/>
          <a:p>
            <a:pPr algn="l">
              <a:defRPr sz="2250" b="1">
                <a:solidFill>
                  <a:srgbClr val="FFFFFF"/>
                </a:solidFill>
              </a:defRPr>
            </a:pPr>
            <a:r>
              <a:rPr sz="2250" b="1">
                <a:solidFill>
                  <a:srgbClr val="FFFFFF"/>
                </a:solidFill>
              </a:rPr>
              <a:t>12.3k</a:t>
            </a:r>
          </a:p>
        </p:txBody>
      </p:sp>
      <p:sp>
        <p:nvSpPr>
          <p:cNvPr id="15" name="Rectangle 14">
            <a:extLst>
              <a:ext uri="{FF2B5EF4-FFF2-40B4-BE49-F238E27FC236}">
                <a16:creationId xmlns:a16="http://schemas.microsoft.com/office/drawing/2014/main" id="{D0DE6BFF-C390-447F-BB9E-9738264EBD00}"/>
              </a:ext>
            </a:extLst>
          </p:cNvPr>
          <p:cNvSpPr>
            <a:spLocks noGrp="1"/>
          </p:cNvSpPr>
          <p:nvPr/>
        </p:nvSpPr>
        <p:spPr>
          <a:xfrm>
            <a:off x="4267200" y="3771900"/>
            <a:ext cx="1476375" cy="200025"/>
          </a:xfrm>
          <a:prstGeom prst="rect">
            <a:avLst/>
          </a:prstGeom>
          <a:noFill/>
          <a:ln w="0">
            <a:noFill/>
            <a:prstDash val="solid"/>
          </a:ln>
        </p:spPr>
        <p:txBody>
          <a:bodyPr anchor="ctr"/>
          <a:lstStyle/>
          <a:p>
            <a:pPr algn="l">
              <a:defRPr sz="975" b="1">
                <a:solidFill>
                  <a:srgbClr val="92908E"/>
                </a:solidFill>
              </a:defRPr>
            </a:pPr>
            <a:r>
              <a:rPr sz="975" b="1">
                <a:solidFill>
                  <a:srgbClr val="92908E"/>
                </a:solidFill>
              </a:rPr>
              <a:t>ORDERS</a:t>
            </a:r>
          </a:p>
        </p:txBody>
      </p:sp>
      <p:sp>
        <p:nvSpPr>
          <p:cNvPr id="16" name="Rectangle 15">
            <a:extLst>
              <a:ext uri="{FF2B5EF4-FFF2-40B4-BE49-F238E27FC236}">
                <a16:creationId xmlns:a16="http://schemas.microsoft.com/office/drawing/2014/main" id="{D801DC3D-2101-4810-8D93-CE515753E3F7}"/>
              </a:ext>
            </a:extLst>
          </p:cNvPr>
          <p:cNvSpPr>
            <a:spLocks noGrp="1"/>
          </p:cNvSpPr>
          <p:nvPr/>
        </p:nvSpPr>
        <p:spPr>
          <a:xfrm>
            <a:off x="4267200" y="4105275"/>
            <a:ext cx="1476375" cy="57150"/>
          </a:xfrm>
          <a:prstGeom prst="rect">
            <a:avLst/>
          </a:prstGeom>
          <a:solidFill>
            <a:srgbClr val="E60000"/>
          </a:solidFill>
          <a:ln w="0">
            <a:noFill/>
            <a:prstDash val="solid"/>
          </a:ln>
        </p:spPr>
        <p:txBody>
          <a:bodyPr/>
          <a:lstStyle/>
          <a:p>
            <a:endParaRPr lang="en-ZA"/>
          </a:p>
        </p:txBody>
      </p:sp>
      <p:sp>
        <p:nvSpPr>
          <p:cNvPr id="17" name="Rectangle 16">
            <a:extLst>
              <a:ext uri="{FF2B5EF4-FFF2-40B4-BE49-F238E27FC236}">
                <a16:creationId xmlns:a16="http://schemas.microsoft.com/office/drawing/2014/main" id="{20F178F5-DD03-4717-86D6-E619D2BF5D49}"/>
              </a:ext>
            </a:extLst>
          </p:cNvPr>
          <p:cNvSpPr>
            <a:spLocks noGrp="1"/>
          </p:cNvSpPr>
          <p:nvPr/>
        </p:nvSpPr>
        <p:spPr>
          <a:xfrm>
            <a:off x="876300" y="4552950"/>
            <a:ext cx="2857500" cy="228600"/>
          </a:xfrm>
          <a:prstGeom prst="rect">
            <a:avLst/>
          </a:prstGeom>
          <a:noFill/>
          <a:ln w="0">
            <a:noFill/>
            <a:prstDash val="solid"/>
          </a:ln>
        </p:spPr>
        <p:txBody>
          <a:bodyPr anchor="ctr"/>
          <a:lstStyle/>
          <a:p>
            <a:pPr algn="l">
              <a:defRPr sz="1200" b="1">
                <a:solidFill>
                  <a:srgbClr val="E60000"/>
                </a:solidFill>
              </a:defRPr>
            </a:pPr>
            <a:r>
              <a:rPr sz="1200" b="1">
                <a:solidFill>
                  <a:srgbClr val="E60000"/>
                </a:solidFill>
              </a:rPr>
              <a:t>Questions already answered</a:t>
            </a:r>
          </a:p>
        </p:txBody>
      </p:sp>
      <p:sp>
        <p:nvSpPr>
          <p:cNvPr id="18" name="Rectangle 17">
            <a:extLst>
              <a:ext uri="{FF2B5EF4-FFF2-40B4-BE49-F238E27FC236}">
                <a16:creationId xmlns:a16="http://schemas.microsoft.com/office/drawing/2014/main" id="{4F9F1C84-27EC-4557-BF76-245BC6D29FFD}"/>
              </a:ext>
            </a:extLst>
          </p:cNvPr>
          <p:cNvSpPr>
            <a:spLocks noGrp="1"/>
          </p:cNvSpPr>
          <p:nvPr/>
        </p:nvSpPr>
        <p:spPr>
          <a:xfrm>
            <a:off x="876300" y="4867275"/>
            <a:ext cx="4762500" cy="26670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Drop-off  •  conversion  •  channel  •  errors</a:t>
            </a:r>
          </a:p>
        </p:txBody>
      </p:sp>
      <p:sp>
        <p:nvSpPr>
          <p:cNvPr id="19" name="Rectangle 18">
            <a:extLst>
              <a:ext uri="{FF2B5EF4-FFF2-40B4-BE49-F238E27FC236}">
                <a16:creationId xmlns:a16="http://schemas.microsoft.com/office/drawing/2014/main" id="{CB1EAA3C-F335-4B16-95AB-B56F577F69B0}"/>
              </a:ext>
            </a:extLst>
          </p:cNvPr>
          <p:cNvSpPr>
            <a:spLocks noGrp="1"/>
          </p:cNvSpPr>
          <p:nvPr/>
        </p:nvSpPr>
        <p:spPr>
          <a:xfrm>
            <a:off x="6972300" y="2266950"/>
            <a:ext cx="4000500" cy="228600"/>
          </a:xfrm>
          <a:prstGeom prst="rect">
            <a:avLst/>
          </a:prstGeom>
          <a:noFill/>
          <a:ln w="0">
            <a:noFill/>
            <a:prstDash val="solid"/>
          </a:ln>
        </p:spPr>
        <p:txBody>
          <a:bodyPr anchor="ctr"/>
          <a:lstStyle/>
          <a:p>
            <a:pPr algn="l">
              <a:defRPr sz="1125" b="1">
                <a:solidFill>
                  <a:srgbClr val="E60000"/>
                </a:solidFill>
              </a:defRPr>
            </a:pPr>
            <a:r>
              <a:rPr sz="1125" b="1">
                <a:solidFill>
                  <a:srgbClr val="E60000"/>
                </a:solidFill>
              </a:rPr>
              <a:t>ONE GOVERNED DATASET</a:t>
            </a:r>
          </a:p>
        </p:txBody>
      </p:sp>
      <p:sp>
        <p:nvSpPr>
          <p:cNvPr id="20" name="Rectangle 19">
            <a:extLst>
              <a:ext uri="{FF2B5EF4-FFF2-40B4-BE49-F238E27FC236}">
                <a16:creationId xmlns:a16="http://schemas.microsoft.com/office/drawing/2014/main" id="{F6499207-880C-46BD-AD7D-0CC95F07E86C}"/>
              </a:ext>
            </a:extLst>
          </p:cNvPr>
          <p:cNvSpPr>
            <a:spLocks noGrp="1"/>
          </p:cNvSpPr>
          <p:nvPr/>
        </p:nvSpPr>
        <p:spPr>
          <a:xfrm>
            <a:off x="6972300" y="2724150"/>
            <a:ext cx="1952625" cy="24765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BIG DATA</a:t>
            </a:r>
          </a:p>
        </p:txBody>
      </p:sp>
      <p:sp>
        <p:nvSpPr>
          <p:cNvPr id="21" name="Rectangle 20">
            <a:extLst>
              <a:ext uri="{FF2B5EF4-FFF2-40B4-BE49-F238E27FC236}">
                <a16:creationId xmlns:a16="http://schemas.microsoft.com/office/drawing/2014/main" id="{F704097A-1CB5-41E3-BB7D-7EB56D35C314}"/>
              </a:ext>
            </a:extLst>
          </p:cNvPr>
          <p:cNvSpPr>
            <a:spLocks noGrp="1"/>
          </p:cNvSpPr>
          <p:nvPr/>
        </p:nvSpPr>
        <p:spPr>
          <a:xfrm>
            <a:off x="9105900" y="2724150"/>
            <a:ext cx="2286000" cy="247650"/>
          </a:xfrm>
          <a:prstGeom prst="rect">
            <a:avLst/>
          </a:prstGeom>
          <a:noFill/>
          <a:ln w="0">
            <a:noFill/>
            <a:prstDash val="solid"/>
          </a:ln>
        </p:spPr>
        <p:txBody>
          <a:bodyPr anchor="ctr"/>
          <a:lstStyle/>
          <a:p>
            <a:pPr algn="l">
              <a:defRPr sz="1275" b="0">
                <a:solidFill>
                  <a:srgbClr val="9C9997"/>
                </a:solidFill>
              </a:defRPr>
            </a:pPr>
            <a:r>
              <a:rPr sz="1275" b="0">
                <a:solidFill>
                  <a:srgbClr val="9C9997"/>
                </a:solidFill>
              </a:rPr>
              <a:t>Enterprise integration</a:t>
            </a:r>
          </a:p>
        </p:txBody>
      </p:sp>
      <p:sp>
        <p:nvSpPr>
          <p:cNvPr id="22" name="Rectangle 21">
            <a:extLst>
              <a:ext uri="{FF2B5EF4-FFF2-40B4-BE49-F238E27FC236}">
                <a16:creationId xmlns:a16="http://schemas.microsoft.com/office/drawing/2014/main" id="{C29A93DB-8765-4E6C-BC46-801D2D0D0EDF}"/>
              </a:ext>
            </a:extLst>
          </p:cNvPr>
          <p:cNvSpPr>
            <a:spLocks noGrp="1"/>
          </p:cNvSpPr>
          <p:nvPr/>
        </p:nvSpPr>
        <p:spPr>
          <a:xfrm>
            <a:off x="6972300" y="3095625"/>
            <a:ext cx="4419600" cy="9525"/>
          </a:xfrm>
          <a:prstGeom prst="rect">
            <a:avLst/>
          </a:prstGeom>
          <a:solidFill>
            <a:srgbClr val="333333"/>
          </a:solidFill>
          <a:ln w="0">
            <a:noFill/>
            <a:prstDash val="solid"/>
          </a:ln>
        </p:spPr>
        <p:txBody>
          <a:bodyPr/>
          <a:lstStyle/>
          <a:p>
            <a:endParaRPr lang="en-ZA"/>
          </a:p>
        </p:txBody>
      </p:sp>
      <p:sp>
        <p:nvSpPr>
          <p:cNvPr id="23" name="Rectangle 22">
            <a:extLst>
              <a:ext uri="{FF2B5EF4-FFF2-40B4-BE49-F238E27FC236}">
                <a16:creationId xmlns:a16="http://schemas.microsoft.com/office/drawing/2014/main" id="{D74A7319-BBA2-467E-8844-2A9D6B0419FB}"/>
              </a:ext>
            </a:extLst>
          </p:cNvPr>
          <p:cNvSpPr>
            <a:spLocks noGrp="1"/>
          </p:cNvSpPr>
          <p:nvPr/>
        </p:nvSpPr>
        <p:spPr>
          <a:xfrm>
            <a:off x="6972300" y="3314700"/>
            <a:ext cx="1952625" cy="24765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CVM</a:t>
            </a:r>
          </a:p>
        </p:txBody>
      </p:sp>
      <p:sp>
        <p:nvSpPr>
          <p:cNvPr id="24" name="Rectangle 23">
            <a:extLst>
              <a:ext uri="{FF2B5EF4-FFF2-40B4-BE49-F238E27FC236}">
                <a16:creationId xmlns:a16="http://schemas.microsoft.com/office/drawing/2014/main" id="{E6CC829F-E706-461C-9E0F-60B4AD09CF6B}"/>
              </a:ext>
            </a:extLst>
          </p:cNvPr>
          <p:cNvSpPr>
            <a:spLocks noGrp="1"/>
          </p:cNvSpPr>
          <p:nvPr/>
        </p:nvSpPr>
        <p:spPr>
          <a:xfrm>
            <a:off x="9105900" y="3314700"/>
            <a:ext cx="2286000" cy="247650"/>
          </a:xfrm>
          <a:prstGeom prst="rect">
            <a:avLst/>
          </a:prstGeom>
          <a:noFill/>
          <a:ln w="0">
            <a:noFill/>
            <a:prstDash val="solid"/>
          </a:ln>
        </p:spPr>
        <p:txBody>
          <a:bodyPr anchor="ctr"/>
          <a:lstStyle/>
          <a:p>
            <a:pPr algn="l">
              <a:defRPr sz="1275" b="0">
                <a:solidFill>
                  <a:srgbClr val="9C9997"/>
                </a:solidFill>
              </a:defRPr>
            </a:pPr>
            <a:r>
              <a:rPr sz="1275" b="0">
                <a:solidFill>
                  <a:srgbClr val="9C9997"/>
                </a:solidFill>
              </a:rPr>
              <a:t>Segments + customer insight</a:t>
            </a:r>
          </a:p>
        </p:txBody>
      </p:sp>
      <p:sp>
        <p:nvSpPr>
          <p:cNvPr id="25" name="Rectangle 24">
            <a:extLst>
              <a:ext uri="{FF2B5EF4-FFF2-40B4-BE49-F238E27FC236}">
                <a16:creationId xmlns:a16="http://schemas.microsoft.com/office/drawing/2014/main" id="{D05C0659-EDA6-4FFA-B5DB-E85EFB60E985}"/>
              </a:ext>
            </a:extLst>
          </p:cNvPr>
          <p:cNvSpPr>
            <a:spLocks noGrp="1"/>
          </p:cNvSpPr>
          <p:nvPr/>
        </p:nvSpPr>
        <p:spPr>
          <a:xfrm>
            <a:off x="6972300" y="3686175"/>
            <a:ext cx="4419600" cy="9525"/>
          </a:xfrm>
          <a:prstGeom prst="rect">
            <a:avLst/>
          </a:prstGeom>
          <a:solidFill>
            <a:srgbClr val="333333"/>
          </a:solidFill>
          <a:ln w="0">
            <a:noFill/>
            <a:prstDash val="solid"/>
          </a:ln>
        </p:spPr>
        <p:txBody>
          <a:bodyPr/>
          <a:lstStyle/>
          <a:p>
            <a:endParaRPr lang="en-ZA"/>
          </a:p>
        </p:txBody>
      </p:sp>
      <p:sp>
        <p:nvSpPr>
          <p:cNvPr id="26" name="Rectangle 25">
            <a:extLst>
              <a:ext uri="{FF2B5EF4-FFF2-40B4-BE49-F238E27FC236}">
                <a16:creationId xmlns:a16="http://schemas.microsoft.com/office/drawing/2014/main" id="{D2C3C2AC-6420-45F5-B10A-A4488A67EC6F}"/>
              </a:ext>
            </a:extLst>
          </p:cNvPr>
          <p:cNvSpPr>
            <a:spLocks noGrp="1"/>
          </p:cNvSpPr>
          <p:nvPr/>
        </p:nvSpPr>
        <p:spPr>
          <a:xfrm>
            <a:off x="6972300" y="3905250"/>
            <a:ext cx="1952625" cy="24765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MARKETING</a:t>
            </a:r>
          </a:p>
        </p:txBody>
      </p:sp>
      <p:sp>
        <p:nvSpPr>
          <p:cNvPr id="27" name="Rectangle 26">
            <a:extLst>
              <a:ext uri="{FF2B5EF4-FFF2-40B4-BE49-F238E27FC236}">
                <a16:creationId xmlns:a16="http://schemas.microsoft.com/office/drawing/2014/main" id="{5EDB723A-EA36-4174-B804-CD163489E583}"/>
              </a:ext>
            </a:extLst>
          </p:cNvPr>
          <p:cNvSpPr>
            <a:spLocks noGrp="1"/>
          </p:cNvSpPr>
          <p:nvPr/>
        </p:nvSpPr>
        <p:spPr>
          <a:xfrm>
            <a:off x="9105900" y="3905250"/>
            <a:ext cx="2286000" cy="247650"/>
          </a:xfrm>
          <a:prstGeom prst="rect">
            <a:avLst/>
          </a:prstGeom>
          <a:noFill/>
          <a:ln w="0">
            <a:noFill/>
            <a:prstDash val="solid"/>
          </a:ln>
        </p:spPr>
        <p:txBody>
          <a:bodyPr anchor="ctr"/>
          <a:lstStyle/>
          <a:p>
            <a:pPr algn="l">
              <a:defRPr sz="1275" b="0">
                <a:solidFill>
                  <a:srgbClr val="9C9997"/>
                </a:solidFill>
              </a:defRPr>
            </a:pPr>
            <a:r>
              <a:rPr sz="1275" b="0">
                <a:solidFill>
                  <a:srgbClr val="9C9997"/>
                </a:solidFill>
              </a:rPr>
              <a:t>Campaign performance</a:t>
            </a:r>
          </a:p>
        </p:txBody>
      </p:sp>
      <p:sp>
        <p:nvSpPr>
          <p:cNvPr id="28" name="Rectangle 27">
            <a:extLst>
              <a:ext uri="{FF2B5EF4-FFF2-40B4-BE49-F238E27FC236}">
                <a16:creationId xmlns:a16="http://schemas.microsoft.com/office/drawing/2014/main" id="{7EECE954-758F-40FE-808E-38C940EC8E46}"/>
              </a:ext>
            </a:extLst>
          </p:cNvPr>
          <p:cNvSpPr>
            <a:spLocks noGrp="1"/>
          </p:cNvSpPr>
          <p:nvPr/>
        </p:nvSpPr>
        <p:spPr>
          <a:xfrm>
            <a:off x="6972300" y="4276725"/>
            <a:ext cx="4419600" cy="9525"/>
          </a:xfrm>
          <a:prstGeom prst="rect">
            <a:avLst/>
          </a:prstGeom>
          <a:solidFill>
            <a:srgbClr val="333333"/>
          </a:solidFill>
          <a:ln w="0">
            <a:noFill/>
            <a:prstDash val="solid"/>
          </a:ln>
        </p:spPr>
        <p:txBody>
          <a:bodyPr/>
          <a:lstStyle/>
          <a:p>
            <a:endParaRPr lang="en-ZA"/>
          </a:p>
        </p:txBody>
      </p:sp>
      <p:sp>
        <p:nvSpPr>
          <p:cNvPr id="29" name="Rectangle 28">
            <a:extLst>
              <a:ext uri="{FF2B5EF4-FFF2-40B4-BE49-F238E27FC236}">
                <a16:creationId xmlns:a16="http://schemas.microsoft.com/office/drawing/2014/main" id="{8D62E5CA-3B1A-4F71-8DB2-40F88774BFC8}"/>
              </a:ext>
            </a:extLst>
          </p:cNvPr>
          <p:cNvSpPr>
            <a:spLocks noGrp="1"/>
          </p:cNvSpPr>
          <p:nvPr/>
        </p:nvSpPr>
        <p:spPr>
          <a:xfrm>
            <a:off x="6972300" y="4495800"/>
            <a:ext cx="1952625" cy="24765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MUSHTAAQ’S TEAM</a:t>
            </a:r>
          </a:p>
        </p:txBody>
      </p:sp>
      <p:sp>
        <p:nvSpPr>
          <p:cNvPr id="30" name="Rectangle 29">
            <a:extLst>
              <a:ext uri="{FF2B5EF4-FFF2-40B4-BE49-F238E27FC236}">
                <a16:creationId xmlns:a16="http://schemas.microsoft.com/office/drawing/2014/main" id="{85C813C5-09AC-4C39-B0BB-BA0034733689}"/>
              </a:ext>
            </a:extLst>
          </p:cNvPr>
          <p:cNvSpPr>
            <a:spLocks noGrp="1"/>
          </p:cNvSpPr>
          <p:nvPr/>
        </p:nvSpPr>
        <p:spPr>
          <a:xfrm>
            <a:off x="9105900" y="4495800"/>
            <a:ext cx="2286000" cy="247650"/>
          </a:xfrm>
          <a:prstGeom prst="rect">
            <a:avLst/>
          </a:prstGeom>
          <a:noFill/>
          <a:ln w="0">
            <a:noFill/>
            <a:prstDash val="solid"/>
          </a:ln>
        </p:spPr>
        <p:txBody>
          <a:bodyPr anchor="ctr"/>
          <a:lstStyle/>
          <a:p>
            <a:pPr algn="l">
              <a:defRPr sz="1275" b="0">
                <a:solidFill>
                  <a:srgbClr val="9C9997"/>
                </a:solidFill>
              </a:defRPr>
            </a:pPr>
            <a:r>
              <a:rPr sz="1275" b="0">
                <a:solidFill>
                  <a:srgbClr val="9C9997"/>
                </a:solidFill>
              </a:rPr>
              <a:t>Independent reporting</a:t>
            </a:r>
          </a:p>
        </p:txBody>
      </p:sp>
      <p:sp>
        <p:nvSpPr>
          <p:cNvPr id="31" name="Rectangle 30">
            <a:extLst>
              <a:ext uri="{FF2B5EF4-FFF2-40B4-BE49-F238E27FC236}">
                <a16:creationId xmlns:a16="http://schemas.microsoft.com/office/drawing/2014/main" id="{9A545FC7-A52C-4DB3-A00C-2D7BD29479A7}"/>
              </a:ext>
            </a:extLst>
          </p:cNvPr>
          <p:cNvSpPr>
            <a:spLocks noGrp="1"/>
          </p:cNvSpPr>
          <p:nvPr/>
        </p:nvSpPr>
        <p:spPr>
          <a:xfrm>
            <a:off x="6972300" y="4867275"/>
            <a:ext cx="4419600" cy="9525"/>
          </a:xfrm>
          <a:prstGeom prst="rect">
            <a:avLst/>
          </a:prstGeom>
          <a:solidFill>
            <a:srgbClr val="333333"/>
          </a:solidFill>
          <a:ln w="0">
            <a:noFill/>
            <a:prstDash val="solid"/>
          </a:ln>
        </p:spPr>
        <p:txBody>
          <a:bodyPr/>
          <a:lstStyle/>
          <a:p>
            <a:endParaRPr lang="en-ZA"/>
          </a:p>
        </p:txBody>
      </p:sp>
      <p:sp>
        <p:nvSpPr>
          <p:cNvPr id="32" name="Rectangle: Rounded Corners 31">
            <a:extLst>
              <a:ext uri="{FF2B5EF4-FFF2-40B4-BE49-F238E27FC236}">
                <a16:creationId xmlns:a16="http://schemas.microsoft.com/office/drawing/2014/main" id="{D3E8D7BC-4E7A-472C-92F7-159E3C191077}"/>
              </a:ext>
            </a:extLst>
          </p:cNvPr>
          <p:cNvSpPr>
            <a:spLocks noGrp="1"/>
          </p:cNvSpPr>
          <p:nvPr/>
        </p:nvSpPr>
        <p:spPr>
          <a:xfrm>
            <a:off x="6972300" y="5314950"/>
            <a:ext cx="4419600" cy="676275"/>
          </a:xfrm>
          <a:prstGeom prst="roundRect">
            <a:avLst>
              <a:gd name="adj" fmla="val 16901"/>
            </a:avLst>
          </a:prstGeom>
          <a:solidFill>
            <a:srgbClr val="E60000"/>
          </a:solidFill>
          <a:ln w="0">
            <a:noFill/>
            <a:prstDash val="solid"/>
          </a:ln>
        </p:spPr>
        <p:txBody>
          <a:bodyPr/>
          <a:lstStyle/>
          <a:p>
            <a:endParaRPr lang="en-ZA"/>
          </a:p>
        </p:txBody>
      </p:sp>
      <p:sp>
        <p:nvSpPr>
          <p:cNvPr id="33" name="Rectangle 32">
            <a:extLst>
              <a:ext uri="{FF2B5EF4-FFF2-40B4-BE49-F238E27FC236}">
                <a16:creationId xmlns:a16="http://schemas.microsoft.com/office/drawing/2014/main" id="{7E614AFC-108C-4408-8D65-9576FB1A2731}"/>
              </a:ext>
            </a:extLst>
          </p:cNvPr>
          <p:cNvSpPr>
            <a:spLocks noGrp="1"/>
          </p:cNvSpPr>
          <p:nvPr/>
        </p:nvSpPr>
        <p:spPr>
          <a:xfrm>
            <a:off x="7181850" y="5410200"/>
            <a:ext cx="1066800" cy="200025"/>
          </a:xfrm>
          <a:prstGeom prst="rect">
            <a:avLst/>
          </a:prstGeom>
          <a:noFill/>
          <a:ln w="0">
            <a:noFill/>
            <a:prstDash val="solid"/>
          </a:ln>
        </p:spPr>
        <p:txBody>
          <a:bodyPr anchor="ctr"/>
          <a:lstStyle/>
          <a:p>
            <a:pPr algn="l">
              <a:defRPr sz="975" b="1">
                <a:solidFill>
                  <a:srgbClr val="FFD2D2"/>
                </a:solidFill>
              </a:defRPr>
            </a:pPr>
            <a:r>
              <a:rPr sz="975" b="1">
                <a:solidFill>
                  <a:srgbClr val="FFD2D2"/>
                </a:solidFill>
              </a:rPr>
              <a:t>NEXT STEP</a:t>
            </a:r>
          </a:p>
        </p:txBody>
      </p:sp>
      <p:sp>
        <p:nvSpPr>
          <p:cNvPr id="34" name="Rectangle 33">
            <a:extLst>
              <a:ext uri="{FF2B5EF4-FFF2-40B4-BE49-F238E27FC236}">
                <a16:creationId xmlns:a16="http://schemas.microsoft.com/office/drawing/2014/main" id="{DC22B241-3B6A-4298-9EFE-BE66E976C9A5}"/>
              </a:ext>
            </a:extLst>
          </p:cNvPr>
          <p:cNvSpPr>
            <a:spLocks noGrp="1"/>
          </p:cNvSpPr>
          <p:nvPr/>
        </p:nvSpPr>
        <p:spPr>
          <a:xfrm>
            <a:off x="7181850" y="5619750"/>
            <a:ext cx="4000500" cy="257175"/>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Approve a controlled production pilot</a:t>
            </a:r>
          </a:p>
        </p:txBody>
      </p:sp>
      <p:sp>
        <p:nvSpPr>
          <p:cNvPr id="35" name="Rectangle 34">
            <a:extLst>
              <a:ext uri="{FF2B5EF4-FFF2-40B4-BE49-F238E27FC236}">
                <a16:creationId xmlns:a16="http://schemas.microsoft.com/office/drawing/2014/main" id="{31CA73A8-CF3F-461E-B4F6-2451A6B2DF44}"/>
              </a:ext>
            </a:extLst>
          </p:cNvPr>
          <p:cNvSpPr>
            <a:spLocks noGrp="1"/>
          </p:cNvSpPr>
          <p:nvPr/>
        </p:nvSpPr>
        <p:spPr>
          <a:xfrm>
            <a:off x="628650" y="6419850"/>
            <a:ext cx="5334000" cy="171450"/>
          </a:xfrm>
          <a:prstGeom prst="rect">
            <a:avLst/>
          </a:prstGeom>
          <a:noFill/>
          <a:ln w="0">
            <a:noFill/>
            <a:prstDash val="solid"/>
          </a:ln>
        </p:spPr>
        <p:txBody>
          <a:bodyPr anchor="ctr"/>
          <a:lstStyle/>
          <a:p>
            <a:pPr algn="l">
              <a:defRPr sz="825" b="1">
                <a:solidFill>
                  <a:srgbClr val="777777"/>
                </a:solidFill>
              </a:defRPr>
            </a:pPr>
            <a:r>
              <a:rPr sz="825" b="1">
                <a:solidFill>
                  <a:srgbClr val="777777"/>
                </a:solidFill>
              </a:rPr>
              <a:t>VODACOM FINANCIAL SERVICES  •  DIGITAL ANALYTICS</a:t>
            </a:r>
          </a:p>
        </p:txBody>
      </p:sp>
      <p:sp>
        <p:nvSpPr>
          <p:cNvPr id="36" name="Rectangle 35">
            <a:extLst>
              <a:ext uri="{FF2B5EF4-FFF2-40B4-BE49-F238E27FC236}">
                <a16:creationId xmlns:a16="http://schemas.microsoft.com/office/drawing/2014/main" id="{DB7FEB94-15DB-4426-B30B-D02776A1BE1E}"/>
              </a:ext>
            </a:extLst>
          </p:cNvPr>
          <p:cNvSpPr>
            <a:spLocks noGrp="1"/>
          </p:cNvSpPr>
          <p:nvPr/>
        </p:nvSpPr>
        <p:spPr>
          <a:xfrm>
            <a:off x="11096625" y="6419850"/>
            <a:ext cx="457200" cy="171450"/>
          </a:xfrm>
          <a:prstGeom prst="rect">
            <a:avLst/>
          </a:prstGeom>
          <a:noFill/>
          <a:ln w="0">
            <a:noFill/>
            <a:prstDash val="solid"/>
          </a:ln>
        </p:spPr>
        <p:txBody>
          <a:bodyPr anchor="ctr"/>
          <a:lstStyle/>
          <a:p>
            <a:pPr algn="r">
              <a:defRPr sz="825" b="1">
                <a:solidFill>
                  <a:srgbClr val="777777"/>
                </a:solidFill>
              </a:defRPr>
            </a:pPr>
            <a:r>
              <a:rPr sz="825" b="1">
                <a:solidFill>
                  <a:srgbClr val="777777"/>
                </a:solidFill>
              </a:rPr>
              <a:t>06</a:t>
            </a:r>
          </a:p>
        </p:txBody>
      </p:sp>
    </p:spTree>
    <p:extLst>
      <p:ext uri="{BB962C8B-B14F-4D97-AF65-F5344CB8AC3E}">
        <p14:creationId xmlns:p14="http://schemas.microsoft.com/office/powerpoint/2010/main" val="159822233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0359f705-2ba0-454b-9cfc-6ce5bcaac040}" enabled="1" method="Standard" siteId="{68283f3b-8487-4c86-adb3-a5228f18b893}" contentBits="2" removed="0"/>
</clbl:labelList>
</file>

<file path=docProps/app.xml><?xml version="1.0" encoding="utf-8"?>
<Properties xmlns="http://schemas.openxmlformats.org/officeDocument/2006/extended-properties" xmlns:vt="http://schemas.openxmlformats.org/officeDocument/2006/docPropsVTypes">
  <TotalTime>0</TotalTime>
  <Words>975</Words>
  <Application>Microsoft Office PowerPoint</Application>
  <DocSecurity>0</DocSecurity>
  <PresentationFormat>Widescreen</PresentationFormat>
  <Paragraphs>214</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Vodafone Book</vt:lpstr>
      <vt:lpstr>Vodafone ExB</vt:lpstr>
      <vt:lpstr>Vodafone Medium</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Nikhil Lakha, Vodacom</cp:lastModifiedBy>
  <cp:revision>2</cp:revision>
  <dcterms:created xsi:type="dcterms:W3CDTF">2026-08-21T12:47:55Z</dcterms:created>
  <dcterms:modified xsi:type="dcterms:W3CDTF">2026-08-24T11:32:20Z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ChatGPT:3</vt:lpwstr>
  </property>
  <property fmtid="{D5CDD505-2E9C-101B-9397-08002B2CF9AE}" pid="3" name="ClassificationContentMarkingFooterText">
    <vt:lpwstr>C2 General</vt:lpwstr>
  </property>
</Properties>
</file>